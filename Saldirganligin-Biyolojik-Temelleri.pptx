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4630400" cy="8229600"/>
  <p:notesSz cx="8229600" cy="14630400"/>
  <p:embeddedFontLst>
    <p:embeddedFont>
      <p:font typeface="Crimson Pro Semi Bold"/>
      <p:regular r:id="rId27"/>
    </p:embeddedFont>
    <p:embeddedFont>
      <p:font typeface="Crimson Pro Semi Bold"/>
      <p:regular r:id="rId28"/>
    </p:embeddedFont>
    <p:embeddedFont>
      <p:font typeface="Crimson Pro Semi Bold"/>
      <p:regular r:id="rId29"/>
    </p:embeddedFont>
    <p:embeddedFont>
      <p:font typeface="Crimson Pro Semi Bold"/>
      <p:regular r:id="rId30"/>
    </p:embeddedFont>
    <p:embeddedFont>
      <p:font typeface="Heebo"/>
      <p:regular r:id="rId31"/>
    </p:embeddedFont>
    <p:embeddedFont>
      <p:font typeface="Heebo"/>
      <p:regular r:id="rId3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font" Target="fonts/font5.fntdata"/><Relationship Id="rId3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7.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0.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image" Target="../media/image-13-3.png"/><Relationship Id="rId4" Type="http://schemas.openxmlformats.org/officeDocument/2006/relationships/image" Target="../media/image-13-4.svg"/><Relationship Id="rId5" Type="http://schemas.openxmlformats.org/officeDocument/2006/relationships/image" Target="../media/image-13-5.png"/><Relationship Id="rId6" Type="http://schemas.openxmlformats.org/officeDocument/2006/relationships/image" Target="../media/image-13-6.svg"/><Relationship Id="rId7" Type="http://schemas.openxmlformats.org/officeDocument/2006/relationships/slideLayout" Target="../slideLayouts/slideLayout14.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image" Target="../media/image-16-3.png"/><Relationship Id="rId4" Type="http://schemas.openxmlformats.org/officeDocument/2006/relationships/image" Target="../media/image-16-4.svg"/><Relationship Id="rId5" Type="http://schemas.openxmlformats.org/officeDocument/2006/relationships/image" Target="../media/image-16-5.png"/><Relationship Id="rId6" Type="http://schemas.openxmlformats.org/officeDocument/2006/relationships/image" Target="../media/image-16-6.svg"/><Relationship Id="rId7" Type="http://schemas.openxmlformats.org/officeDocument/2006/relationships/image" Target="../media/image-16-7.png"/><Relationship Id="rId8" Type="http://schemas.openxmlformats.org/officeDocument/2006/relationships/slideLayout" Target="../slideLayouts/slideLayout17.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8.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svg"/><Relationship Id="rId3" Type="http://schemas.openxmlformats.org/officeDocument/2006/relationships/image" Target="../media/image-19-3.png"/><Relationship Id="rId4" Type="http://schemas.openxmlformats.org/officeDocument/2006/relationships/image" Target="../media/image-19-4.svg"/><Relationship Id="rId5" Type="http://schemas.openxmlformats.org/officeDocument/2006/relationships/image" Target="../media/image-19-5.png"/><Relationship Id="rId6" Type="http://schemas.openxmlformats.org/officeDocument/2006/relationships/image" Target="../media/image-19-6.svg"/><Relationship Id="rId7" Type="http://schemas.openxmlformats.org/officeDocument/2006/relationships/slideLayout" Target="../slideLayouts/slideLayout20.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956905" y="496133"/>
            <a:ext cx="2194203" cy="283726"/>
          </a:xfrm>
          <a:prstGeom prst="roundRect">
            <a:avLst>
              <a:gd name="adj" fmla="val 6820"/>
            </a:avLst>
          </a:prstGeom>
          <a:solidFill>
            <a:srgbClr val="CCD7FF"/>
          </a:solidFill>
          <a:ln/>
        </p:spPr>
      </p:sp>
      <p:sp>
        <p:nvSpPr>
          <p:cNvPr id="3" name="Text 1"/>
          <p:cNvSpPr/>
          <p:nvPr/>
        </p:nvSpPr>
        <p:spPr>
          <a:xfrm>
            <a:off x="1053584" y="544473"/>
            <a:ext cx="2000845" cy="187047"/>
          </a:xfrm>
          <a:prstGeom prst="rect">
            <a:avLst/>
          </a:prstGeom>
          <a:noFill/>
          <a:ln/>
        </p:spPr>
        <p:txBody>
          <a:bodyPr wrap="none" lIns="0" tIns="0" rIns="0" bIns="0" rtlCol="0" anchor="t"/>
          <a:lstStyle/>
          <a:p>
            <a:pPr algn="l" indent="0" marL="0">
              <a:lnSpc>
                <a:spcPts val="1450"/>
              </a:lnSpc>
              <a:buNone/>
            </a:pPr>
            <a:r>
              <a:rPr lang="en-US" sz="1000" dirty="0">
                <a:solidFill>
                  <a:srgbClr val="4C4C4D"/>
                </a:solidFill>
                <a:latin typeface="Heebo" pitchFamily="34" charset="0"/>
                <a:ea typeface="Heebo" pitchFamily="34" charset="-122"/>
                <a:cs typeface="Heebo" pitchFamily="34" charset="-120"/>
              </a:rPr>
              <a:t>PSIKOLOJI &amp; DAVRANIŞ BILIMLERI</a:t>
            </a:r>
            <a:endParaRPr lang="en-US" sz="1000" dirty="0"/>
          </a:p>
        </p:txBody>
      </p:sp>
      <p:sp>
        <p:nvSpPr>
          <p:cNvPr id="4" name="Text 2"/>
          <p:cNvSpPr/>
          <p:nvPr/>
        </p:nvSpPr>
        <p:spPr>
          <a:xfrm>
            <a:off x="956905" y="832247"/>
            <a:ext cx="5591294" cy="503873"/>
          </a:xfrm>
          <a:prstGeom prst="rect">
            <a:avLst/>
          </a:prstGeom>
          <a:noFill/>
          <a:ln/>
        </p:spPr>
        <p:txBody>
          <a:bodyPr wrap="none" lIns="0" tIns="0" rIns="0" bIns="0" rtlCol="0" anchor="t"/>
          <a:lstStyle/>
          <a:p>
            <a:pPr algn="l" indent="0" marL="0">
              <a:lnSpc>
                <a:spcPts val="3950"/>
              </a:lnSpc>
              <a:buNone/>
            </a:pPr>
            <a:r>
              <a:rPr lang="en-US" sz="3150" dirty="0">
                <a:solidFill>
                  <a:srgbClr val="152D47"/>
                </a:solidFill>
                <a:latin typeface="Crimson Pro Semi Bold" pitchFamily="34" charset="0"/>
                <a:ea typeface="Crimson Pro Semi Bold" pitchFamily="34" charset="-122"/>
                <a:cs typeface="Crimson Pro Semi Bold" pitchFamily="34" charset="-120"/>
              </a:rPr>
              <a:t>Saldırganlığın Biyolojik Temelleri</a:t>
            </a:r>
            <a:endParaRPr lang="en-US" sz="3150" dirty="0"/>
          </a:p>
        </p:txBody>
      </p:sp>
      <p:sp>
        <p:nvSpPr>
          <p:cNvPr id="5" name="Text 3"/>
          <p:cNvSpPr/>
          <p:nvPr/>
        </p:nvSpPr>
        <p:spPr>
          <a:xfrm>
            <a:off x="956905" y="1532573"/>
            <a:ext cx="12716470" cy="233720"/>
          </a:xfrm>
          <a:prstGeom prst="rect">
            <a:avLst/>
          </a:prstGeom>
          <a:noFill/>
          <a:ln/>
        </p:spPr>
        <p:txBody>
          <a:bodyPr wrap="none" lIns="0" tIns="0" rIns="0" bIns="0" rtlCol="0" anchor="t"/>
          <a:lstStyle/>
          <a:p>
            <a:pPr algn="l" indent="0" marL="0">
              <a:lnSpc>
                <a:spcPts val="1800"/>
              </a:lnSpc>
              <a:buNone/>
            </a:pPr>
            <a:r>
              <a:rPr lang="en-US" sz="1250" dirty="0">
                <a:solidFill>
                  <a:srgbClr val="4C4C4D"/>
                </a:solidFill>
                <a:latin typeface="Heebo" pitchFamily="34" charset="0"/>
                <a:ea typeface="Heebo" pitchFamily="34" charset="-122"/>
                <a:cs typeface="Heebo" pitchFamily="34" charset="-120"/>
              </a:rPr>
              <a:t>Etoloji, sosyobiyoloji, genetik, fizyoloji ve alkol gibi farklı perspektiflerden saldırgan davranışın kökenlerini, işlevlerini ve sınırlarını keşfeden kapsamlı bir inceleme.</a:t>
            </a:r>
            <a:endParaRPr lang="en-US" sz="1250" dirty="0"/>
          </a:p>
        </p:txBody>
      </p:sp>
      <p:pic>
        <p:nvPicPr>
          <p:cNvPr id="6" name="Image 0" descr="preencoded.png">    </p:cNvPr>
          <p:cNvPicPr>
            <a:picLocks noChangeAspect="1"/>
          </p:cNvPicPr>
          <p:nvPr/>
        </p:nvPicPr>
        <p:blipFill>
          <a:blip r:embed="rId1"/>
          <a:stretch>
            <a:fillRect/>
          </a:stretch>
        </p:blipFill>
        <p:spPr>
          <a:xfrm>
            <a:off x="956905" y="1913692"/>
            <a:ext cx="12716470" cy="5819656"/>
          </a:xfrm>
          <a:prstGeom prst="rect">
            <a:avLst/>
          </a:prstGeom>
        </p:spPr>
      </p:pic>
      <p:sp>
        <p:nvSpPr>
          <p:cNvPr id="7" name="Text 4"/>
          <p:cNvSpPr/>
          <p:nvPr/>
        </p:nvSpPr>
        <p:spPr>
          <a:xfrm>
            <a:off x="10271784" y="2677670"/>
            <a:ext cx="2813026" cy="351628"/>
          </a:xfrm>
          <a:prstGeom prst="rect">
            <a:avLst/>
          </a:prstGeom>
          <a:noFill/>
          <a:ln/>
        </p:spPr>
        <p:txBody>
          <a:bodyPr wrap="none" lIns="0" tIns="0" rIns="0" bIns="0" rtlCol="0" anchor="t"/>
          <a:lstStyle/>
          <a:p>
            <a:pPr algn="l" indent="0" marL="0">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Kimyasal Düzey</a:t>
            </a:r>
            <a:endParaRPr lang="en-US" sz="2200" dirty="0"/>
          </a:p>
        </p:txBody>
      </p:sp>
      <p:sp>
        <p:nvSpPr>
          <p:cNvPr id="8" name="Text 5"/>
          <p:cNvSpPr/>
          <p:nvPr/>
        </p:nvSpPr>
        <p:spPr>
          <a:xfrm>
            <a:off x="10271784" y="3129317"/>
            <a:ext cx="3100579" cy="509861"/>
          </a:xfrm>
          <a:prstGeom prst="rect">
            <a:avLst/>
          </a:prstGeom>
          <a:noFill/>
          <a:ln/>
        </p:spPr>
        <p:txBody>
          <a:bodyPr wrap="square" lIns="0" tIns="0" rIns="0" bIns="0" rtlCol="0" anchor="t"/>
          <a:lstStyle/>
          <a:p>
            <a:pPr algn="l" indent="0" marL="0">
              <a:lnSpc>
                <a:spcPts val="2000"/>
              </a:lnSpc>
              <a:buNone/>
            </a:pPr>
            <a:r>
              <a:rPr lang="en-US" sz="1750" dirty="0">
                <a:solidFill>
                  <a:srgbClr val="4C4C4D"/>
                </a:solidFill>
                <a:latin typeface="Heebo" pitchFamily="34" charset="0"/>
                <a:ea typeface="Heebo" pitchFamily="34" charset="-122"/>
                <a:cs typeface="Heebo" pitchFamily="34" charset="-120"/>
              </a:rPr>
              <a:t>Alkol etkileri ve sinirbilimsel değişimler</a:t>
            </a:r>
            <a:endParaRPr lang="en-US" sz="1750" dirty="0"/>
          </a:p>
        </p:txBody>
      </p:sp>
      <p:sp>
        <p:nvSpPr>
          <p:cNvPr id="9" name="Text 6"/>
          <p:cNvSpPr/>
          <p:nvPr/>
        </p:nvSpPr>
        <p:spPr>
          <a:xfrm>
            <a:off x="1295107" y="4590527"/>
            <a:ext cx="2813025" cy="351629"/>
          </a:xfrm>
          <a:prstGeom prst="rect">
            <a:avLst/>
          </a:prstGeom>
          <a:noFill/>
          <a:ln/>
        </p:spPr>
        <p:txBody>
          <a:bodyPr wrap="none" lIns="0" tIns="0" rIns="0" bIns="0" rtlCol="0" anchor="t"/>
          <a:lstStyle/>
          <a:p>
            <a:pPr algn="r" indent="0" marL="0">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Mikro Düzey</a:t>
            </a:r>
            <a:endParaRPr lang="en-US" sz="2200" dirty="0"/>
          </a:p>
        </p:txBody>
      </p:sp>
      <p:sp>
        <p:nvSpPr>
          <p:cNvPr id="10" name="Text 7"/>
          <p:cNvSpPr/>
          <p:nvPr/>
        </p:nvSpPr>
        <p:spPr>
          <a:xfrm>
            <a:off x="1257600" y="5042174"/>
            <a:ext cx="2850532" cy="509861"/>
          </a:xfrm>
          <a:prstGeom prst="rect">
            <a:avLst/>
          </a:prstGeom>
          <a:noFill/>
          <a:ln/>
        </p:spPr>
        <p:txBody>
          <a:bodyPr wrap="square" lIns="0" tIns="0" rIns="0" bIns="0" rtlCol="0" anchor="t"/>
          <a:lstStyle/>
          <a:p>
            <a:pPr algn="r" indent="0" marL="0">
              <a:lnSpc>
                <a:spcPts val="2000"/>
              </a:lnSpc>
              <a:buNone/>
            </a:pPr>
            <a:r>
              <a:rPr lang="en-US" sz="1750" dirty="0">
                <a:solidFill>
                  <a:srgbClr val="4C4C4D"/>
                </a:solidFill>
                <a:latin typeface="Heebo" pitchFamily="34" charset="0"/>
                <a:ea typeface="Heebo" pitchFamily="34" charset="-122"/>
                <a:cs typeface="Heebo" pitchFamily="34" charset="-120"/>
              </a:rPr>
              <a:t>Genetik yatkınlık ve fizyolojik mekanizmalar</a:t>
            </a:r>
            <a:endParaRPr lang="en-US" sz="1750" dirty="0"/>
          </a:p>
        </p:txBody>
      </p:sp>
      <p:sp>
        <p:nvSpPr>
          <p:cNvPr id="11" name="Text 8"/>
          <p:cNvSpPr/>
          <p:nvPr/>
        </p:nvSpPr>
        <p:spPr>
          <a:xfrm>
            <a:off x="10271784" y="5578212"/>
            <a:ext cx="2813026" cy="351628"/>
          </a:xfrm>
          <a:prstGeom prst="rect">
            <a:avLst/>
          </a:prstGeom>
          <a:noFill/>
          <a:ln/>
        </p:spPr>
        <p:txBody>
          <a:bodyPr wrap="none" lIns="0" tIns="0" rIns="0" bIns="0" rtlCol="0" anchor="t"/>
          <a:lstStyle/>
          <a:p>
            <a:pPr algn="l" indent="0" marL="0">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Makro Düzey</a:t>
            </a:r>
            <a:endParaRPr lang="en-US" sz="2200" dirty="0"/>
          </a:p>
        </p:txBody>
      </p:sp>
      <p:sp>
        <p:nvSpPr>
          <p:cNvPr id="12" name="Text 9"/>
          <p:cNvSpPr/>
          <p:nvPr/>
        </p:nvSpPr>
        <p:spPr>
          <a:xfrm>
            <a:off x="10271784" y="6029859"/>
            <a:ext cx="3100579" cy="509861"/>
          </a:xfrm>
          <a:prstGeom prst="rect">
            <a:avLst/>
          </a:prstGeom>
          <a:noFill/>
          <a:ln/>
        </p:spPr>
        <p:txBody>
          <a:bodyPr wrap="square" lIns="0" tIns="0" rIns="0" bIns="0" rtlCol="0" anchor="t"/>
          <a:lstStyle/>
          <a:p>
            <a:pPr algn="l" indent="0" marL="0">
              <a:lnSpc>
                <a:spcPts val="2000"/>
              </a:lnSpc>
              <a:buNone/>
            </a:pPr>
            <a:r>
              <a:rPr lang="en-US" sz="1750" dirty="0">
                <a:solidFill>
                  <a:srgbClr val="4C4C4D"/>
                </a:solidFill>
                <a:latin typeface="Heebo" pitchFamily="34" charset="0"/>
                <a:ea typeface="Heebo" pitchFamily="34" charset="-122"/>
                <a:cs typeface="Heebo" pitchFamily="34" charset="-120"/>
              </a:rPr>
              <a:t>Etoloji ve sosyobiyolojik perspektifler</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93790" y="2209205"/>
            <a:ext cx="1314093" cy="373142"/>
          </a:xfrm>
          <a:prstGeom prst="roundRect">
            <a:avLst>
              <a:gd name="adj" fmla="val 6383"/>
            </a:avLst>
          </a:prstGeom>
          <a:solidFill>
            <a:srgbClr val="CCD7FF"/>
          </a:solidFill>
          <a:ln/>
        </p:spPr>
      </p:sp>
      <p:sp>
        <p:nvSpPr>
          <p:cNvPr id="3" name="Text 1"/>
          <p:cNvSpPr/>
          <p:nvPr/>
        </p:nvSpPr>
        <p:spPr>
          <a:xfrm>
            <a:off x="912852" y="2268736"/>
            <a:ext cx="1075968" cy="254079"/>
          </a:xfrm>
          <a:prstGeom prst="rect">
            <a:avLst/>
          </a:prstGeom>
          <a:noFill/>
          <a:ln/>
        </p:spPr>
        <p:txBody>
          <a:bodyPr wrap="none" lIns="0" tIns="0" rIns="0" bIns="0" rtlCol="0" anchor="t"/>
          <a:lstStyle/>
          <a:p>
            <a:pPr algn="l" indent="0" marL="0">
              <a:lnSpc>
                <a:spcPts val="2000"/>
              </a:lnSpc>
              <a:buNone/>
            </a:pPr>
            <a:r>
              <a:rPr lang="en-US" sz="1250" dirty="0">
                <a:solidFill>
                  <a:srgbClr val="4C4C4D"/>
                </a:solidFill>
                <a:latin typeface="Heebo" pitchFamily="34" charset="0"/>
                <a:ea typeface="Heebo" pitchFamily="34" charset="-122"/>
                <a:cs typeface="Heebo" pitchFamily="34" charset="-120"/>
              </a:rPr>
              <a:t>MAKRO DÜZEY</a:t>
            </a:r>
            <a:endParaRPr lang="en-US" sz="1250" dirty="0"/>
          </a:p>
        </p:txBody>
      </p:sp>
      <p:sp>
        <p:nvSpPr>
          <p:cNvPr id="4" name="Text 2"/>
          <p:cNvSpPr/>
          <p:nvPr/>
        </p:nvSpPr>
        <p:spPr>
          <a:xfrm>
            <a:off x="793790" y="2661642"/>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152D47"/>
                </a:solidFill>
                <a:latin typeface="Crimson Pro Semi Bold" pitchFamily="34" charset="0"/>
                <a:ea typeface="Crimson Pro Semi Bold" pitchFamily="34" charset="-122"/>
                <a:cs typeface="Crimson Pro Semi Bold" pitchFamily="34" charset="-120"/>
              </a:rPr>
              <a:t>Etoloji Nedir?</a:t>
            </a:r>
            <a:endParaRPr lang="en-US" sz="3900" dirty="0"/>
          </a:p>
        </p:txBody>
      </p:sp>
      <p:sp>
        <p:nvSpPr>
          <p:cNvPr id="5" name="Text 3"/>
          <p:cNvSpPr/>
          <p:nvPr/>
        </p:nvSpPr>
        <p:spPr>
          <a:xfrm>
            <a:off x="793790" y="3757970"/>
            <a:ext cx="6955631" cy="95261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Etoloji, hayvan davranışının evrimi ve işlevlerinin incelenmesidir (Drickamer &amp; Vessey, 1986). Etolojik teori, davranışı hayatta kalma bağlamında ele alır; içgüdülerin ve genetik güçlerin rolünü vurgular (Lorenz, 1963).</a:t>
            </a:r>
            <a:endParaRPr lang="en-US" sz="1550" dirty="0"/>
          </a:p>
        </p:txBody>
      </p:sp>
      <p:sp>
        <p:nvSpPr>
          <p:cNvPr id="6" name="Text 4"/>
          <p:cNvSpPr/>
          <p:nvPr/>
        </p:nvSpPr>
        <p:spPr>
          <a:xfrm>
            <a:off x="793790" y="4889182"/>
            <a:ext cx="6955631" cy="95261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Etolojik bakış açısından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saldırganlık</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bir türün çevresine uyum sağlamasına yardımcı olmak için evrimleşmiş, doğuştan gelen içgüdüsel motivasyonlarla yönetilen ve belirli çevresel uyaranlarla tetiklenen bir davranıştır.</a:t>
            </a:r>
            <a:endParaRPr lang="en-US" sz="1550" dirty="0"/>
          </a:p>
        </p:txBody>
      </p:sp>
      <p:sp>
        <p:nvSpPr>
          <p:cNvPr id="7" name="Shape 5"/>
          <p:cNvSpPr/>
          <p:nvPr/>
        </p:nvSpPr>
        <p:spPr>
          <a:xfrm>
            <a:off x="8098274" y="3579376"/>
            <a:ext cx="5888712" cy="2441019"/>
          </a:xfrm>
          <a:prstGeom prst="roundRect">
            <a:avLst>
              <a:gd name="adj" fmla="val 1220"/>
            </a:avLst>
          </a:prstGeom>
          <a:solidFill>
            <a:srgbClr val="2150FE"/>
          </a:solidFill>
          <a:ln/>
        </p:spPr>
      </p:sp>
      <p:sp>
        <p:nvSpPr>
          <p:cNvPr id="8" name="Text 6"/>
          <p:cNvSpPr/>
          <p:nvPr/>
        </p:nvSpPr>
        <p:spPr>
          <a:xfrm>
            <a:off x="8296632" y="377773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FFFFFF"/>
                </a:solidFill>
                <a:latin typeface="Crimson Pro Semi Bold" pitchFamily="34" charset="0"/>
                <a:ea typeface="Crimson Pro Semi Bold" pitchFamily="34" charset="-122"/>
                <a:cs typeface="Crimson Pro Semi Bold" pitchFamily="34" charset="-120"/>
              </a:rPr>
              <a:t>Temel İşlevler</a:t>
            </a:r>
            <a:endParaRPr lang="en-US" sz="1950" dirty="0"/>
          </a:p>
        </p:txBody>
      </p:sp>
      <p:sp>
        <p:nvSpPr>
          <p:cNvPr id="9" name="Text 7"/>
          <p:cNvSpPr/>
          <p:nvPr/>
        </p:nvSpPr>
        <p:spPr>
          <a:xfrm>
            <a:off x="8296632" y="4286250"/>
            <a:ext cx="5491996" cy="147839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FFFFFF"/>
                </a:solidFill>
                <a:latin typeface="Heebo" pitchFamily="34" charset="0"/>
                <a:ea typeface="Heebo" pitchFamily="34" charset="-122"/>
                <a:cs typeface="Heebo" pitchFamily="34" charset="-120"/>
              </a:rPr>
              <a:t>Sosyal örgütlenmenin kurulması</a:t>
            </a:r>
            <a:endParaRPr lang="en-US" sz="1550" dirty="0"/>
          </a:p>
          <a:p>
            <a:pPr algn="l" marL="342900" indent="-342900">
              <a:lnSpc>
                <a:spcPts val="2500"/>
              </a:lnSpc>
              <a:buSzPct val="100000"/>
              <a:buChar char="•"/>
            </a:pPr>
            <a:r>
              <a:rPr lang="en-US" sz="1550" dirty="0">
                <a:solidFill>
                  <a:srgbClr val="FFFFFF"/>
                </a:solidFill>
                <a:latin typeface="Heebo" pitchFamily="34" charset="0"/>
                <a:ea typeface="Heebo" pitchFamily="34" charset="-122"/>
                <a:cs typeface="Heebo" pitchFamily="34" charset="-120"/>
              </a:rPr>
              <a:t>Bölgesel savunma</a:t>
            </a:r>
            <a:endParaRPr lang="en-US" sz="1550" dirty="0"/>
          </a:p>
          <a:p>
            <a:pPr algn="l" marL="342900" indent="-342900">
              <a:lnSpc>
                <a:spcPts val="2500"/>
              </a:lnSpc>
              <a:buSzPct val="100000"/>
              <a:buChar char="•"/>
            </a:pPr>
            <a:r>
              <a:rPr lang="en-US" sz="1550" dirty="0">
                <a:solidFill>
                  <a:srgbClr val="FFFFFF"/>
                </a:solidFill>
                <a:latin typeface="Heebo" pitchFamily="34" charset="0"/>
                <a:ea typeface="Heebo" pitchFamily="34" charset="-122"/>
                <a:cs typeface="Heebo" pitchFamily="34" charset="-120"/>
              </a:rPr>
              <a:t>Hakimiyet hiyerarşilerinin oluşturulması</a:t>
            </a:r>
            <a:endParaRPr lang="en-US" sz="1550" dirty="0"/>
          </a:p>
          <a:p>
            <a:pPr algn="l" marL="342900" indent="-342900">
              <a:lnSpc>
                <a:spcPts val="2500"/>
              </a:lnSpc>
              <a:buSzPct val="100000"/>
              <a:buChar char="•"/>
            </a:pPr>
            <a:r>
              <a:rPr lang="en-US" sz="1550" dirty="0">
                <a:solidFill>
                  <a:srgbClr val="FFFFFF"/>
                </a:solidFill>
                <a:latin typeface="Heebo" pitchFamily="34" charset="0"/>
                <a:ea typeface="Heebo" pitchFamily="34" charset="-122"/>
                <a:cs typeface="Heebo" pitchFamily="34" charset="-120"/>
              </a:rPr>
              <a:t>Türün hayatta kalmasının desteklenmesi</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93790" y="2200037"/>
            <a:ext cx="852368" cy="373142"/>
          </a:xfrm>
          <a:prstGeom prst="roundRect">
            <a:avLst>
              <a:gd name="adj" fmla="val 6383"/>
            </a:avLst>
          </a:prstGeom>
          <a:solidFill>
            <a:srgbClr val="CCD7FF"/>
          </a:solidFill>
          <a:ln/>
        </p:spPr>
      </p:sp>
      <p:sp>
        <p:nvSpPr>
          <p:cNvPr id="3" name="Text 1"/>
          <p:cNvSpPr/>
          <p:nvPr/>
        </p:nvSpPr>
        <p:spPr>
          <a:xfrm>
            <a:off x="912852" y="2259568"/>
            <a:ext cx="614243" cy="254079"/>
          </a:xfrm>
          <a:prstGeom prst="rect">
            <a:avLst/>
          </a:prstGeom>
          <a:noFill/>
          <a:ln/>
        </p:spPr>
        <p:txBody>
          <a:bodyPr wrap="none" lIns="0" tIns="0" rIns="0" bIns="0" rtlCol="0" anchor="t"/>
          <a:lstStyle/>
          <a:p>
            <a:pPr algn="l" indent="0" marL="0">
              <a:lnSpc>
                <a:spcPts val="2000"/>
              </a:lnSpc>
              <a:buNone/>
            </a:pPr>
            <a:r>
              <a:rPr lang="en-US" sz="1250" dirty="0">
                <a:solidFill>
                  <a:srgbClr val="4C4C4D"/>
                </a:solidFill>
                <a:latin typeface="Heebo" pitchFamily="34" charset="0"/>
                <a:ea typeface="Heebo" pitchFamily="34" charset="-122"/>
                <a:cs typeface="Heebo" pitchFamily="34" charset="-120"/>
              </a:rPr>
              <a:t>ETOLOJİ</a:t>
            </a:r>
            <a:endParaRPr lang="en-US" sz="1250" dirty="0"/>
          </a:p>
        </p:txBody>
      </p:sp>
      <p:sp>
        <p:nvSpPr>
          <p:cNvPr id="4" name="Text 2"/>
          <p:cNvSpPr/>
          <p:nvPr/>
        </p:nvSpPr>
        <p:spPr>
          <a:xfrm>
            <a:off x="793790" y="2652474"/>
            <a:ext cx="7332583" cy="620078"/>
          </a:xfrm>
          <a:prstGeom prst="rect">
            <a:avLst/>
          </a:prstGeom>
          <a:noFill/>
          <a:ln/>
        </p:spPr>
        <p:txBody>
          <a:bodyPr wrap="none" lIns="0" tIns="0" rIns="0" bIns="0" rtlCol="0" anchor="t"/>
          <a:lstStyle/>
          <a:p>
            <a:pPr algn="l" indent="0" marL="0">
              <a:lnSpc>
                <a:spcPts val="4850"/>
              </a:lnSpc>
              <a:buNone/>
            </a:pPr>
            <a:r>
              <a:rPr lang="en-US" sz="3900" dirty="0">
                <a:solidFill>
                  <a:srgbClr val="152D47"/>
                </a:solidFill>
                <a:latin typeface="Crimson Pro Semi Bold" pitchFamily="34" charset="0"/>
                <a:ea typeface="Crimson Pro Semi Bold" pitchFamily="34" charset="-122"/>
                <a:cs typeface="Crimson Pro Semi Bold" pitchFamily="34" charset="-120"/>
              </a:rPr>
              <a:t>Bölgesellik ve Hakimiyet Hiyerarşisi</a:t>
            </a:r>
            <a:endParaRPr lang="en-US" sz="3900" dirty="0"/>
          </a:p>
        </p:txBody>
      </p:sp>
      <p:sp>
        <p:nvSpPr>
          <p:cNvPr id="5" name="Shape 3"/>
          <p:cNvSpPr/>
          <p:nvPr/>
        </p:nvSpPr>
        <p:spPr>
          <a:xfrm>
            <a:off x="793790" y="3570208"/>
            <a:ext cx="4215289" cy="2459355"/>
          </a:xfrm>
          <a:prstGeom prst="roundRect">
            <a:avLst>
              <a:gd name="adj" fmla="val 4462"/>
            </a:avLst>
          </a:prstGeom>
          <a:solidFill>
            <a:srgbClr val="FFFFFF"/>
          </a:solidFill>
          <a:ln w="22860">
            <a:solidFill>
              <a:srgbClr val="D8D4D4"/>
            </a:solidFill>
            <a:prstDash val="solid"/>
          </a:ln>
        </p:spPr>
      </p:sp>
      <p:sp>
        <p:nvSpPr>
          <p:cNvPr id="6" name="Shape 4"/>
          <p:cNvSpPr/>
          <p:nvPr/>
        </p:nvSpPr>
        <p:spPr>
          <a:xfrm>
            <a:off x="770930" y="3570208"/>
            <a:ext cx="91440" cy="2459355"/>
          </a:xfrm>
          <a:prstGeom prst="roundRect">
            <a:avLst>
              <a:gd name="adj" fmla="val 32558"/>
            </a:avLst>
          </a:prstGeom>
          <a:solidFill>
            <a:srgbClr val="2150FE"/>
          </a:solidFill>
          <a:ln/>
        </p:spPr>
      </p:sp>
      <p:sp>
        <p:nvSpPr>
          <p:cNvPr id="7" name="Text 5"/>
          <p:cNvSpPr/>
          <p:nvPr/>
        </p:nvSpPr>
        <p:spPr>
          <a:xfrm>
            <a:off x="1083588" y="3791426"/>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Bölgesel Savunma</a:t>
            </a:r>
            <a:endParaRPr lang="en-US" sz="1950" dirty="0"/>
          </a:p>
        </p:txBody>
      </p:sp>
      <p:sp>
        <p:nvSpPr>
          <p:cNvPr id="8" name="Text 6"/>
          <p:cNvSpPr/>
          <p:nvPr/>
        </p:nvSpPr>
        <p:spPr>
          <a:xfrm>
            <a:off x="1083588" y="4220647"/>
            <a:ext cx="3704273" cy="1587698"/>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Birçok tür, avlanmak veya yiyecek aramak için ihtiyaç duydukları alanı işaretler ve savunur. Bölgesel sınırları geçen bireyler saldırgan gösterilerle ya uzaklaştırılır ya da bölgeyi kaptırır.</a:t>
            </a:r>
            <a:endParaRPr lang="en-US" sz="1550" dirty="0"/>
          </a:p>
        </p:txBody>
      </p:sp>
      <p:sp>
        <p:nvSpPr>
          <p:cNvPr id="9" name="Shape 7"/>
          <p:cNvSpPr/>
          <p:nvPr/>
        </p:nvSpPr>
        <p:spPr>
          <a:xfrm>
            <a:off x="5207437" y="3570208"/>
            <a:ext cx="4215408" cy="2459355"/>
          </a:xfrm>
          <a:prstGeom prst="roundRect">
            <a:avLst>
              <a:gd name="adj" fmla="val 4462"/>
            </a:avLst>
          </a:prstGeom>
          <a:solidFill>
            <a:srgbClr val="FFFFFF"/>
          </a:solidFill>
          <a:ln w="22860">
            <a:solidFill>
              <a:srgbClr val="D8D4D4"/>
            </a:solidFill>
            <a:prstDash val="solid"/>
          </a:ln>
        </p:spPr>
      </p:sp>
      <p:sp>
        <p:nvSpPr>
          <p:cNvPr id="10" name="Shape 8"/>
          <p:cNvSpPr/>
          <p:nvPr/>
        </p:nvSpPr>
        <p:spPr>
          <a:xfrm>
            <a:off x="5184577" y="3570208"/>
            <a:ext cx="91440" cy="2459355"/>
          </a:xfrm>
          <a:prstGeom prst="roundRect">
            <a:avLst>
              <a:gd name="adj" fmla="val 32558"/>
            </a:avLst>
          </a:prstGeom>
          <a:solidFill>
            <a:srgbClr val="2150FE"/>
          </a:solidFill>
          <a:ln/>
        </p:spPr>
      </p:sp>
      <p:sp>
        <p:nvSpPr>
          <p:cNvPr id="11" name="Text 9"/>
          <p:cNvSpPr/>
          <p:nvPr/>
        </p:nvSpPr>
        <p:spPr>
          <a:xfrm>
            <a:off x="5497235" y="3791426"/>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Hakimiyet Hiyerarşisi</a:t>
            </a:r>
            <a:endParaRPr lang="en-US" sz="1950" dirty="0"/>
          </a:p>
        </p:txBody>
      </p:sp>
      <p:sp>
        <p:nvSpPr>
          <p:cNvPr id="12" name="Text 10"/>
          <p:cNvSpPr/>
          <p:nvPr/>
        </p:nvSpPr>
        <p:spPr>
          <a:xfrm>
            <a:off x="5497235" y="4220647"/>
            <a:ext cx="3704392" cy="1587698"/>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Babun sürülerinde baskın erkekler fiziksel saldırganlık uygulayarak güç konumlarına yükselir. Benzer şekilde, kentsel çete üyeleri bölge sınırlarını aşan rakiplere saldırır (Johnson, 1972).</a:t>
            </a:r>
            <a:endParaRPr lang="en-US" sz="1550" dirty="0"/>
          </a:p>
        </p:txBody>
      </p:sp>
      <p:sp>
        <p:nvSpPr>
          <p:cNvPr id="13" name="Shape 11"/>
          <p:cNvSpPr/>
          <p:nvPr/>
        </p:nvSpPr>
        <p:spPr>
          <a:xfrm>
            <a:off x="9621203" y="3570208"/>
            <a:ext cx="4215289" cy="2459355"/>
          </a:xfrm>
          <a:prstGeom prst="roundRect">
            <a:avLst>
              <a:gd name="adj" fmla="val 4462"/>
            </a:avLst>
          </a:prstGeom>
          <a:solidFill>
            <a:srgbClr val="FFFFFF"/>
          </a:solidFill>
          <a:ln w="22860">
            <a:solidFill>
              <a:srgbClr val="D8D4D4"/>
            </a:solidFill>
            <a:prstDash val="solid"/>
          </a:ln>
        </p:spPr>
      </p:sp>
      <p:sp>
        <p:nvSpPr>
          <p:cNvPr id="14" name="Shape 12"/>
          <p:cNvSpPr/>
          <p:nvPr/>
        </p:nvSpPr>
        <p:spPr>
          <a:xfrm>
            <a:off x="9598343" y="3570208"/>
            <a:ext cx="91440" cy="2459355"/>
          </a:xfrm>
          <a:prstGeom prst="roundRect">
            <a:avLst>
              <a:gd name="adj" fmla="val 32558"/>
            </a:avLst>
          </a:prstGeom>
          <a:solidFill>
            <a:srgbClr val="2150FE"/>
          </a:solidFill>
          <a:ln/>
        </p:spPr>
      </p:sp>
      <p:sp>
        <p:nvSpPr>
          <p:cNvPr id="15" name="Text 13"/>
          <p:cNvSpPr/>
          <p:nvPr/>
        </p:nvSpPr>
        <p:spPr>
          <a:xfrm>
            <a:off x="9911001" y="3791426"/>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Doğal Kısıtlamalar</a:t>
            </a:r>
            <a:endParaRPr lang="en-US" sz="1950" dirty="0"/>
          </a:p>
        </p:txBody>
      </p:sp>
      <p:sp>
        <p:nvSpPr>
          <p:cNvPr id="16" name="Text 14"/>
          <p:cNvSpPr/>
          <p:nvPr/>
        </p:nvSpPr>
        <p:spPr>
          <a:xfrm>
            <a:off x="9911001" y="4220647"/>
            <a:ext cx="3704273" cy="1587698"/>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Çoğu türde tek darbeyle rakibi öldürmeye karşı biyolojik engeller vardır. Uzlaştırıcı bir hareket (örn. boynu açığa çıkarmak) diğer hayvandaki saldırganlık dürtüsünü otomatik olarak kontrol eder.</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93790" y="1325047"/>
            <a:ext cx="852368" cy="373142"/>
          </a:xfrm>
          <a:prstGeom prst="roundRect">
            <a:avLst>
              <a:gd name="adj" fmla="val 6383"/>
            </a:avLst>
          </a:prstGeom>
          <a:solidFill>
            <a:srgbClr val="CCD7FF"/>
          </a:solidFill>
          <a:ln/>
        </p:spPr>
      </p:sp>
      <p:sp>
        <p:nvSpPr>
          <p:cNvPr id="3" name="Text 1"/>
          <p:cNvSpPr/>
          <p:nvPr/>
        </p:nvSpPr>
        <p:spPr>
          <a:xfrm>
            <a:off x="912852" y="1384578"/>
            <a:ext cx="614243" cy="254079"/>
          </a:xfrm>
          <a:prstGeom prst="rect">
            <a:avLst/>
          </a:prstGeom>
          <a:noFill/>
          <a:ln/>
        </p:spPr>
        <p:txBody>
          <a:bodyPr wrap="none" lIns="0" tIns="0" rIns="0" bIns="0" rtlCol="0" anchor="t"/>
          <a:lstStyle/>
          <a:p>
            <a:pPr algn="l" indent="0" marL="0">
              <a:lnSpc>
                <a:spcPts val="2000"/>
              </a:lnSpc>
              <a:buNone/>
            </a:pPr>
            <a:r>
              <a:rPr lang="en-US" sz="1250" dirty="0">
                <a:solidFill>
                  <a:srgbClr val="4C4C4D"/>
                </a:solidFill>
                <a:latin typeface="Heebo" pitchFamily="34" charset="0"/>
                <a:ea typeface="Heebo" pitchFamily="34" charset="-122"/>
                <a:cs typeface="Heebo" pitchFamily="34" charset="-120"/>
              </a:rPr>
              <a:t>ETOLOJİ</a:t>
            </a:r>
            <a:endParaRPr lang="en-US" sz="1250" dirty="0"/>
          </a:p>
        </p:txBody>
      </p:sp>
      <p:sp>
        <p:nvSpPr>
          <p:cNvPr id="4" name="Text 2"/>
          <p:cNvSpPr/>
          <p:nvPr/>
        </p:nvSpPr>
        <p:spPr>
          <a:xfrm>
            <a:off x="793790" y="1777484"/>
            <a:ext cx="5872758" cy="620078"/>
          </a:xfrm>
          <a:prstGeom prst="rect">
            <a:avLst/>
          </a:prstGeom>
          <a:noFill/>
          <a:ln/>
        </p:spPr>
        <p:txBody>
          <a:bodyPr wrap="none" lIns="0" tIns="0" rIns="0" bIns="0" rtlCol="0" anchor="t"/>
          <a:lstStyle/>
          <a:p>
            <a:pPr algn="l" indent="0" marL="0">
              <a:lnSpc>
                <a:spcPts val="4850"/>
              </a:lnSpc>
              <a:buNone/>
            </a:pPr>
            <a:r>
              <a:rPr lang="en-US" sz="3900" dirty="0">
                <a:solidFill>
                  <a:srgbClr val="152D47"/>
                </a:solidFill>
                <a:latin typeface="Crimson Pro Semi Bold" pitchFamily="34" charset="0"/>
                <a:ea typeface="Crimson Pro Semi Bold" pitchFamily="34" charset="-122"/>
                <a:cs typeface="Crimson Pro Semi Bold" pitchFamily="34" charset="-120"/>
              </a:rPr>
              <a:t>Etoloji ve İnsan Saldırganlığı</a:t>
            </a:r>
            <a:endParaRPr lang="en-US" sz="3900" dirty="0"/>
          </a:p>
        </p:txBody>
      </p:sp>
      <p:sp>
        <p:nvSpPr>
          <p:cNvPr id="5" name="Text 3"/>
          <p:cNvSpPr/>
          <p:nvPr/>
        </p:nvSpPr>
        <p:spPr>
          <a:xfrm>
            <a:off x="1091446" y="2918460"/>
            <a:ext cx="12745164" cy="317540"/>
          </a:xfrm>
          <a:prstGeom prst="rect">
            <a:avLst/>
          </a:prstGeom>
          <a:noFill/>
          <a:ln/>
        </p:spPr>
        <p:txBody>
          <a:bodyPr wrap="non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"Saldırganlığın cinayet niyetiyle pek ilgisi yoktur; bölgeyle çok ilgisi vardır." — Konrad Lorenz (1963)</a:t>
            </a:r>
            <a:endParaRPr lang="en-US" sz="1550" dirty="0"/>
          </a:p>
        </p:txBody>
      </p:sp>
      <p:sp>
        <p:nvSpPr>
          <p:cNvPr id="6" name="Shape 4"/>
          <p:cNvSpPr/>
          <p:nvPr/>
        </p:nvSpPr>
        <p:spPr>
          <a:xfrm>
            <a:off x="793790" y="2695218"/>
            <a:ext cx="22860" cy="764024"/>
          </a:xfrm>
          <a:prstGeom prst="rect">
            <a:avLst/>
          </a:prstGeom>
          <a:solidFill>
            <a:srgbClr val="2150FE"/>
          </a:solidFill>
          <a:ln/>
        </p:spPr>
      </p:sp>
      <p:sp>
        <p:nvSpPr>
          <p:cNvPr id="7" name="Text 5"/>
          <p:cNvSpPr/>
          <p:nvPr/>
        </p:nvSpPr>
        <p:spPr>
          <a:xfrm>
            <a:off x="793790" y="3880842"/>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52D47"/>
                </a:solidFill>
                <a:latin typeface="Crimson Pro Semi Bold" pitchFamily="34" charset="0"/>
                <a:ea typeface="Crimson Pro Semi Bold" pitchFamily="34" charset="-122"/>
                <a:cs typeface="Crimson Pro Semi Bold" pitchFamily="34" charset="-120"/>
              </a:rPr>
              <a:t>Çocuklarda Hakimiyet</a:t>
            </a:r>
            <a:endParaRPr lang="en-US" sz="1950" dirty="0"/>
          </a:p>
        </p:txBody>
      </p:sp>
      <p:sp>
        <p:nvSpPr>
          <p:cNvPr id="8" name="Text 6"/>
          <p:cNvSpPr/>
          <p:nvPr/>
        </p:nvSpPr>
        <p:spPr>
          <a:xfrm>
            <a:off x="793790" y="4389358"/>
            <a:ext cx="6279356" cy="127015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Pettit ve arkadaşları (1986), 1. ve 3. sınıf çocuklarını oyun gruplarına ayırdı. Her iki grupta da saldırganlık hakimiyet kurmada önemli rol oynadı. Ancak büyük çocuklarda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liderlik becerileri</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de belirleyici hale geldi.</a:t>
            </a:r>
            <a:endParaRPr lang="en-US" sz="1550" dirty="0"/>
          </a:p>
        </p:txBody>
      </p:sp>
      <p:sp>
        <p:nvSpPr>
          <p:cNvPr id="9" name="Text 7"/>
          <p:cNvSpPr/>
          <p:nvPr/>
        </p:nvSpPr>
        <p:spPr>
          <a:xfrm>
            <a:off x="7564874" y="3880842"/>
            <a:ext cx="2878098" cy="310158"/>
          </a:xfrm>
          <a:prstGeom prst="rect">
            <a:avLst/>
          </a:prstGeom>
          <a:noFill/>
          <a:ln/>
        </p:spPr>
        <p:txBody>
          <a:bodyPr wrap="none" lIns="0" tIns="0" rIns="0" bIns="0" rtlCol="0" anchor="t"/>
          <a:lstStyle/>
          <a:p>
            <a:pPr algn="l" indent="0" marL="0">
              <a:lnSpc>
                <a:spcPts val="2400"/>
              </a:lnSpc>
              <a:buNone/>
            </a:pPr>
            <a:r>
              <a:rPr lang="en-US" sz="1950" dirty="0">
                <a:solidFill>
                  <a:srgbClr val="152D47"/>
                </a:solidFill>
                <a:latin typeface="Crimson Pro Semi Bold" pitchFamily="34" charset="0"/>
                <a:ea typeface="Crimson Pro Semi Bold" pitchFamily="34" charset="-122"/>
                <a:cs typeface="Crimson Pro Semi Bold" pitchFamily="34" charset="-120"/>
              </a:rPr>
              <a:t>Teknoloji ve Biyolojik Evrim</a:t>
            </a:r>
            <a:endParaRPr lang="en-US" sz="1950" dirty="0"/>
          </a:p>
        </p:txBody>
      </p:sp>
      <p:sp>
        <p:nvSpPr>
          <p:cNvPr id="10" name="Text 8"/>
          <p:cNvSpPr/>
          <p:nvPr/>
        </p:nvSpPr>
        <p:spPr>
          <a:xfrm>
            <a:off x="7564874" y="4389358"/>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Lorenz'e göre insanın teknolojik evrimi biyolojik evrimi geride bıraktı. İnsanlar ilk darbeyi son darbe yapabilir; 30.000 fitten atılan bombalar uzlaşmacı bir jeste yanıt veremez.</a:t>
            </a:r>
            <a:endParaRPr lang="en-US" sz="1550" dirty="0"/>
          </a:p>
        </p:txBody>
      </p:sp>
      <p:sp>
        <p:nvSpPr>
          <p:cNvPr id="11" name="Shape 9"/>
          <p:cNvSpPr/>
          <p:nvPr/>
        </p:nvSpPr>
        <p:spPr>
          <a:xfrm>
            <a:off x="793790" y="6061353"/>
            <a:ext cx="13042821" cy="843201"/>
          </a:xfrm>
          <a:prstGeom prst="roundRect">
            <a:avLst>
              <a:gd name="adj" fmla="val 3531"/>
            </a:avLst>
          </a:prstGeom>
          <a:solidFill>
            <a:srgbClr val="FCF2B5"/>
          </a:solidFill>
          <a:ln/>
        </p:spPr>
      </p:sp>
      <p:pic>
        <p:nvPicPr>
          <p:cNvPr id="12" name="Image 0" descr="preencoded.png">    </p:cNvPr>
          <p:cNvPicPr>
            <a:picLocks noChangeAspect="1"/>
          </p:cNvPicPr>
          <p:nvPr/>
        </p:nvPicPr>
        <p:blipFill>
          <a:blip r:embed="rId1"/>
          <a:stretch>
            <a:fillRect/>
          </a:stretch>
        </p:blipFill>
        <p:spPr>
          <a:xfrm>
            <a:off x="992148" y="6349008"/>
            <a:ext cx="248007" cy="198358"/>
          </a:xfrm>
          <a:prstGeom prst="rect">
            <a:avLst/>
          </a:prstGeom>
        </p:spPr>
      </p:pic>
      <p:sp>
        <p:nvSpPr>
          <p:cNvPr id="13" name="Text 10"/>
          <p:cNvSpPr/>
          <p:nvPr/>
        </p:nvSpPr>
        <p:spPr>
          <a:xfrm>
            <a:off x="1438513" y="6309241"/>
            <a:ext cx="12199739"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Heebo" pitchFamily="34" charset="0"/>
                <a:ea typeface="Heebo" pitchFamily="34" charset="-122"/>
                <a:cs typeface="Heebo" pitchFamily="34" charset="-120"/>
              </a:rPr>
              <a:t>İnsanlar tıpkı hayvanlar gibi bölgesel davranış sergiler; ancak teknoloji bize tek darbede öldürme gücü vermiştir.</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793790" y="1952506"/>
            <a:ext cx="1314093" cy="373142"/>
          </a:xfrm>
          <a:prstGeom prst="roundRect">
            <a:avLst>
              <a:gd name="adj" fmla="val 6383"/>
            </a:avLst>
          </a:prstGeom>
          <a:solidFill>
            <a:srgbClr val="CCD7FF"/>
          </a:solidFill>
          <a:ln/>
        </p:spPr>
      </p:sp>
      <p:sp>
        <p:nvSpPr>
          <p:cNvPr id="3" name="Text 1"/>
          <p:cNvSpPr/>
          <p:nvPr/>
        </p:nvSpPr>
        <p:spPr>
          <a:xfrm>
            <a:off x="912852" y="2012037"/>
            <a:ext cx="1075968" cy="254079"/>
          </a:xfrm>
          <a:prstGeom prst="rect">
            <a:avLst/>
          </a:prstGeom>
          <a:noFill/>
          <a:ln/>
        </p:spPr>
        <p:txBody>
          <a:bodyPr wrap="none" lIns="0" tIns="0" rIns="0" bIns="0" rtlCol="0" anchor="t"/>
          <a:lstStyle/>
          <a:p>
            <a:pPr algn="l" indent="0" marL="0">
              <a:lnSpc>
                <a:spcPts val="2000"/>
              </a:lnSpc>
              <a:buNone/>
            </a:pPr>
            <a:r>
              <a:rPr lang="en-US" sz="1250" dirty="0">
                <a:solidFill>
                  <a:srgbClr val="4C4C4D"/>
                </a:solidFill>
                <a:latin typeface="Heebo" pitchFamily="34" charset="0"/>
                <a:ea typeface="Heebo" pitchFamily="34" charset="-122"/>
                <a:cs typeface="Heebo" pitchFamily="34" charset="-120"/>
              </a:rPr>
              <a:t>MAKRO DÜZEY</a:t>
            </a:r>
            <a:endParaRPr lang="en-US" sz="1250" dirty="0"/>
          </a:p>
        </p:txBody>
      </p:sp>
      <p:sp>
        <p:nvSpPr>
          <p:cNvPr id="4" name="Text 2"/>
          <p:cNvSpPr/>
          <p:nvPr/>
        </p:nvSpPr>
        <p:spPr>
          <a:xfrm>
            <a:off x="793790" y="2404943"/>
            <a:ext cx="8800148" cy="620078"/>
          </a:xfrm>
          <a:prstGeom prst="rect">
            <a:avLst/>
          </a:prstGeom>
          <a:noFill/>
          <a:ln/>
        </p:spPr>
        <p:txBody>
          <a:bodyPr wrap="none" lIns="0" tIns="0" rIns="0" bIns="0" rtlCol="0" anchor="t"/>
          <a:lstStyle/>
          <a:p>
            <a:pPr algn="l" indent="0" marL="0">
              <a:lnSpc>
                <a:spcPts val="4850"/>
              </a:lnSpc>
              <a:buNone/>
            </a:pPr>
            <a:r>
              <a:rPr lang="en-US" sz="3900" dirty="0">
                <a:solidFill>
                  <a:srgbClr val="152D47"/>
                </a:solidFill>
                <a:latin typeface="Crimson Pro Semi Bold" pitchFamily="34" charset="0"/>
                <a:ea typeface="Crimson Pro Semi Bold" pitchFamily="34" charset="-122"/>
                <a:cs typeface="Crimson Pro Semi Bold" pitchFamily="34" charset="-120"/>
              </a:rPr>
              <a:t>Sosyobiyoloji: Saldırganlığın Evrimsel Rolü</a:t>
            </a:r>
            <a:endParaRPr lang="en-US" sz="3900" dirty="0"/>
          </a:p>
        </p:txBody>
      </p:sp>
      <p:sp>
        <p:nvSpPr>
          <p:cNvPr id="5" name="Text 3"/>
          <p:cNvSpPr/>
          <p:nvPr/>
        </p:nvSpPr>
        <p:spPr>
          <a:xfrm>
            <a:off x="793790" y="3322677"/>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Sosyobiyoloji de etoloji gibi davranışın biyolojik temelini inceler; ancak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sosyal davranışın evrimi ve işlevine</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odaklanır (Drickamer &amp; Vessey, 1986). Saldırganlık, türleri canlı ve büyüyen tutan karmaşık dengede doğal bir rol oynar.</a:t>
            </a:r>
            <a:endParaRPr lang="en-US" sz="1550" dirty="0"/>
          </a:p>
        </p:txBody>
      </p:sp>
      <p:sp>
        <p:nvSpPr>
          <p:cNvPr id="6" name="Shape 4"/>
          <p:cNvSpPr/>
          <p:nvPr/>
        </p:nvSpPr>
        <p:spPr>
          <a:xfrm>
            <a:off x="793790" y="4180999"/>
            <a:ext cx="4215289" cy="2096095"/>
          </a:xfrm>
          <a:prstGeom prst="roundRect">
            <a:avLst>
              <a:gd name="adj" fmla="val 1420"/>
            </a:avLst>
          </a:prstGeom>
          <a:solidFill>
            <a:srgbClr val="F2EEEE"/>
          </a:solidFill>
          <a:ln/>
        </p:spPr>
      </p:sp>
      <p:sp>
        <p:nvSpPr>
          <p:cNvPr id="7" name="Text 5"/>
          <p:cNvSpPr/>
          <p:nvPr/>
        </p:nvSpPr>
        <p:spPr>
          <a:xfrm>
            <a:off x="992148" y="437935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Cinsel Rekabet</a:t>
            </a:r>
            <a:endParaRPr lang="en-US" sz="1950" dirty="0"/>
          </a:p>
        </p:txBody>
      </p:sp>
      <p:sp>
        <p:nvSpPr>
          <p:cNvPr id="8" name="Text 6"/>
          <p:cNvSpPr/>
          <p:nvPr/>
        </p:nvSpPr>
        <p:spPr>
          <a:xfrm>
            <a:off x="992148" y="4808577"/>
            <a:ext cx="3818573" cy="127015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Erkekler çiftleşme zamanında dişiler için rekabet eder. Daha güçlü erkek rakibini uzaklaştırır ve dişiyle çiftleşir; böylece tür daha güçlü hale gelir.</a:t>
            </a:r>
            <a:endParaRPr lang="en-US" sz="1550" dirty="0"/>
          </a:p>
        </p:txBody>
      </p:sp>
      <p:sp>
        <p:nvSpPr>
          <p:cNvPr id="9" name="Shape 7"/>
          <p:cNvSpPr/>
          <p:nvPr/>
        </p:nvSpPr>
        <p:spPr>
          <a:xfrm>
            <a:off x="5207437" y="4180999"/>
            <a:ext cx="4215408" cy="2096095"/>
          </a:xfrm>
          <a:prstGeom prst="roundRect">
            <a:avLst>
              <a:gd name="adj" fmla="val 1420"/>
            </a:avLst>
          </a:prstGeom>
          <a:solidFill>
            <a:srgbClr val="F2EEEE"/>
          </a:solidFill>
          <a:ln/>
        </p:spPr>
      </p:sp>
      <p:sp>
        <p:nvSpPr>
          <p:cNvPr id="10" name="Text 8"/>
          <p:cNvSpPr/>
          <p:nvPr/>
        </p:nvSpPr>
        <p:spPr>
          <a:xfrm>
            <a:off x="5405795" y="437935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Kaynak Rekabeti</a:t>
            </a:r>
            <a:endParaRPr lang="en-US" sz="1950" dirty="0"/>
          </a:p>
        </p:txBody>
      </p:sp>
      <p:sp>
        <p:nvSpPr>
          <p:cNvPr id="11" name="Text 9"/>
          <p:cNvSpPr/>
          <p:nvPr/>
        </p:nvSpPr>
        <p:spPr>
          <a:xfrm>
            <a:off x="5405795" y="4808577"/>
            <a:ext cx="3818692" cy="127015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Hayvanlar yiyecek, su ve barınak için rekabet eder. Daha güçlü hayvanlar saldırganlık kullanarak bu rekabetçi durumları kazanır.</a:t>
            </a:r>
            <a:endParaRPr lang="en-US" sz="1550" dirty="0"/>
          </a:p>
        </p:txBody>
      </p:sp>
      <p:sp>
        <p:nvSpPr>
          <p:cNvPr id="12" name="Shape 10"/>
          <p:cNvSpPr/>
          <p:nvPr/>
        </p:nvSpPr>
        <p:spPr>
          <a:xfrm>
            <a:off x="9621203" y="4180999"/>
            <a:ext cx="4215289" cy="2096095"/>
          </a:xfrm>
          <a:prstGeom prst="roundRect">
            <a:avLst>
              <a:gd name="adj" fmla="val 1420"/>
            </a:avLst>
          </a:prstGeom>
          <a:solidFill>
            <a:srgbClr val="F2EEEE"/>
          </a:solidFill>
          <a:ln/>
        </p:spPr>
      </p:sp>
      <p:sp>
        <p:nvSpPr>
          <p:cNvPr id="13" name="Text 11"/>
          <p:cNvSpPr/>
          <p:nvPr/>
        </p:nvSpPr>
        <p:spPr>
          <a:xfrm>
            <a:off x="9819561" y="437935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Doğal Denge</a:t>
            </a:r>
            <a:endParaRPr lang="en-US" sz="1950" dirty="0"/>
          </a:p>
        </p:txBody>
      </p:sp>
      <p:sp>
        <p:nvSpPr>
          <p:cNvPr id="14" name="Text 12"/>
          <p:cNvSpPr/>
          <p:nvPr/>
        </p:nvSpPr>
        <p:spPr>
          <a:xfrm>
            <a:off x="9819561" y="4808577"/>
            <a:ext cx="3818573" cy="127015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Saldırganlık "optimum seviyede" tutulur. Teslimiyet davranışları ve jestler de genetik olarak programlanmıştır; bu da tür içi yıkımı sınırlar (Wilson, 1975).</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1323737" y="429578"/>
            <a:ext cx="1679496" cy="262652"/>
          </a:xfrm>
          <a:prstGeom prst="roundRect">
            <a:avLst>
              <a:gd name="adj" fmla="val 6943"/>
            </a:avLst>
          </a:prstGeom>
          <a:solidFill>
            <a:srgbClr val="CCD7FF"/>
          </a:solidFill>
          <a:ln/>
        </p:spPr>
      </p:sp>
      <p:sp>
        <p:nvSpPr>
          <p:cNvPr id="3" name="Text 1"/>
          <p:cNvSpPr/>
          <p:nvPr/>
        </p:nvSpPr>
        <p:spPr>
          <a:xfrm>
            <a:off x="1414820" y="475059"/>
            <a:ext cx="1497330" cy="171688"/>
          </a:xfrm>
          <a:prstGeom prst="rect">
            <a:avLst/>
          </a:prstGeom>
          <a:noFill/>
          <a:ln/>
        </p:spPr>
        <p:txBody>
          <a:bodyPr wrap="none" lIns="0" tIns="0" rIns="0" bIns="0" rtlCol="0" anchor="t"/>
          <a:lstStyle/>
          <a:p>
            <a:pPr algn="l" indent="0" marL="0">
              <a:lnSpc>
                <a:spcPts val="1350"/>
              </a:lnSpc>
              <a:buNone/>
            </a:pPr>
            <a:r>
              <a:rPr lang="en-US" sz="950" dirty="0">
                <a:solidFill>
                  <a:srgbClr val="4C4C4D"/>
                </a:solidFill>
                <a:latin typeface="Heebo" pitchFamily="34" charset="0"/>
                <a:ea typeface="Heebo" pitchFamily="34" charset="-122"/>
                <a:cs typeface="Heebo" pitchFamily="34" charset="-120"/>
              </a:rPr>
              <a:t>ETOLOJİ &amp; SOSYOBİYOLOJİ</a:t>
            </a:r>
            <a:endParaRPr lang="en-US" sz="950" dirty="0"/>
          </a:p>
        </p:txBody>
      </p:sp>
      <p:sp>
        <p:nvSpPr>
          <p:cNvPr id="4" name="Text 2"/>
          <p:cNvSpPr/>
          <p:nvPr/>
        </p:nvSpPr>
        <p:spPr>
          <a:xfrm>
            <a:off x="1323737" y="738664"/>
            <a:ext cx="4406860" cy="474821"/>
          </a:xfrm>
          <a:prstGeom prst="rect">
            <a:avLst/>
          </a:prstGeom>
          <a:noFill/>
          <a:ln/>
        </p:spPr>
        <p:txBody>
          <a:bodyPr wrap="none" lIns="0" tIns="0" rIns="0" bIns="0" rtlCol="0" anchor="t"/>
          <a:lstStyle/>
          <a:p>
            <a:pPr algn="l" indent="0" marL="0">
              <a:lnSpc>
                <a:spcPts val="3700"/>
              </a:lnSpc>
              <a:buNone/>
            </a:pPr>
            <a:r>
              <a:rPr lang="en-US" sz="2950" dirty="0">
                <a:solidFill>
                  <a:srgbClr val="152D47"/>
                </a:solidFill>
                <a:latin typeface="Crimson Pro Semi Bold" pitchFamily="34" charset="0"/>
                <a:ea typeface="Crimson Pro Semi Bold" pitchFamily="34" charset="-122"/>
                <a:cs typeface="Crimson Pro Semi Bold" pitchFamily="34" charset="-120"/>
              </a:rPr>
              <a:t>İki Teorinin Ortak Noktaları</a:t>
            </a:r>
            <a:endParaRPr lang="en-US" sz="2950" dirty="0"/>
          </a:p>
        </p:txBody>
      </p:sp>
      <p:pic>
        <p:nvPicPr>
          <p:cNvPr id="5" name="Image 0" descr="preencoded.png">    </p:cNvPr>
          <p:cNvPicPr>
            <a:picLocks noChangeAspect="1"/>
          </p:cNvPicPr>
          <p:nvPr/>
        </p:nvPicPr>
        <p:blipFill>
          <a:blip r:embed="rId1"/>
          <a:stretch>
            <a:fillRect/>
          </a:stretch>
        </p:blipFill>
        <p:spPr>
          <a:xfrm>
            <a:off x="1323737" y="1387912"/>
            <a:ext cx="10485120" cy="5852160"/>
          </a:xfrm>
          <a:prstGeom prst="rect">
            <a:avLst/>
          </a:prstGeom>
        </p:spPr>
      </p:pic>
      <p:pic>
        <p:nvPicPr>
          <p:cNvPr id="6" name="Image 1" descr="preencoded.png">    </p:cNvPr>
          <p:cNvPicPr>
            <a:picLocks noChangeAspect="1"/>
          </p:cNvPicPr>
          <p:nvPr/>
        </p:nvPicPr>
        <p:blipFill>
          <a:blip r:embed="rId2"/>
          <a:stretch>
            <a:fillRect/>
          </a:stretch>
        </p:blipFill>
        <p:spPr>
          <a:xfrm>
            <a:off x="1323737" y="1387912"/>
            <a:ext cx="10485120" cy="5852160"/>
          </a:xfrm>
          <a:prstGeom prst="rect">
            <a:avLst/>
          </a:prstGeom>
        </p:spPr>
      </p:pic>
      <p:sp>
        <p:nvSpPr>
          <p:cNvPr id="7" name="Text 3"/>
          <p:cNvSpPr/>
          <p:nvPr/>
        </p:nvSpPr>
        <p:spPr>
          <a:xfrm>
            <a:off x="1323737" y="7370921"/>
            <a:ext cx="11982807" cy="429101"/>
          </a:xfrm>
          <a:prstGeom prst="rect">
            <a:avLst/>
          </a:prstGeom>
          <a:noFill/>
          <a:ln/>
        </p:spPr>
        <p:txBody>
          <a:bodyPr wrap="square" lIns="0" tIns="0" rIns="0" bIns="0" rtlCol="0" anchor="t"/>
          <a:lstStyle/>
          <a:p>
            <a:pPr algn="l" indent="0" marL="0">
              <a:lnSpc>
                <a:spcPts val="1650"/>
              </a:lnSpc>
              <a:buNone/>
            </a:pPr>
            <a:r>
              <a:rPr lang="en-US" sz="1150" dirty="0">
                <a:solidFill>
                  <a:srgbClr val="4C4C4D"/>
                </a:solidFill>
                <a:latin typeface="Heebo" pitchFamily="34" charset="0"/>
                <a:ea typeface="Heebo" pitchFamily="34" charset="-122"/>
                <a:cs typeface="Heebo" pitchFamily="34" charset="-120"/>
              </a:rPr>
              <a:t>Her iki teoride de saldırganlık, evrimsel öneme sahip genetik olarak programlanmış bir davranış olarak görülür. İnsanlar çeşitli koşullar altında saldırganlık gösterirler çünkü bu onların biyolojik miraslarının bir parçasıdır.</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793790" y="1583531"/>
            <a:ext cx="1253728" cy="373142"/>
          </a:xfrm>
          <a:prstGeom prst="roundRect">
            <a:avLst>
              <a:gd name="adj" fmla="val 6383"/>
            </a:avLst>
          </a:prstGeom>
          <a:solidFill>
            <a:srgbClr val="CCD7FF"/>
          </a:solidFill>
          <a:ln/>
        </p:spPr>
      </p:sp>
      <p:sp>
        <p:nvSpPr>
          <p:cNvPr id="3" name="Text 1"/>
          <p:cNvSpPr/>
          <p:nvPr/>
        </p:nvSpPr>
        <p:spPr>
          <a:xfrm>
            <a:off x="912852" y="1643063"/>
            <a:ext cx="1015603" cy="254079"/>
          </a:xfrm>
          <a:prstGeom prst="rect">
            <a:avLst/>
          </a:prstGeom>
          <a:noFill/>
          <a:ln/>
        </p:spPr>
        <p:txBody>
          <a:bodyPr wrap="none" lIns="0" tIns="0" rIns="0" bIns="0" rtlCol="0" anchor="t"/>
          <a:lstStyle/>
          <a:p>
            <a:pPr algn="l" indent="0" marL="0">
              <a:lnSpc>
                <a:spcPts val="2000"/>
              </a:lnSpc>
              <a:buNone/>
            </a:pPr>
            <a:r>
              <a:rPr lang="en-US" sz="1250" dirty="0">
                <a:solidFill>
                  <a:srgbClr val="4C4C4D"/>
                </a:solidFill>
                <a:latin typeface="Heebo" pitchFamily="34" charset="0"/>
                <a:ea typeface="Heebo" pitchFamily="34" charset="-122"/>
                <a:cs typeface="Heebo" pitchFamily="34" charset="-120"/>
              </a:rPr>
              <a:t>MİKRO DÜZEY</a:t>
            </a:r>
            <a:endParaRPr lang="en-US" sz="1250" dirty="0"/>
          </a:p>
        </p:txBody>
      </p:sp>
      <p:sp>
        <p:nvSpPr>
          <p:cNvPr id="4" name="Text 2"/>
          <p:cNvSpPr/>
          <p:nvPr/>
        </p:nvSpPr>
        <p:spPr>
          <a:xfrm>
            <a:off x="793790" y="2035969"/>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152D47"/>
                </a:solidFill>
                <a:latin typeface="Crimson Pro Semi Bold" pitchFamily="34" charset="0"/>
                <a:ea typeface="Crimson Pro Semi Bold" pitchFamily="34" charset="-122"/>
                <a:cs typeface="Crimson Pro Semi Bold" pitchFamily="34" charset="-120"/>
              </a:rPr>
              <a:t>Genetik ve Saldırganlık</a:t>
            </a:r>
            <a:endParaRPr lang="en-US" sz="3900" dirty="0"/>
          </a:p>
        </p:txBody>
      </p:sp>
      <p:sp>
        <p:nvSpPr>
          <p:cNvPr id="5" name="Text 3"/>
          <p:cNvSpPr/>
          <p:nvPr/>
        </p:nvSpPr>
        <p:spPr>
          <a:xfrm>
            <a:off x="793790" y="2953702"/>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Mevcut araştırmalar, saldırganlığın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çevreyle birlikte işleyen genetik bir bileşeni</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olduğunu öne sürmektedir.</a:t>
            </a:r>
            <a:endParaRPr lang="en-US" sz="1550" dirty="0"/>
          </a:p>
        </p:txBody>
      </p:sp>
      <p:sp>
        <p:nvSpPr>
          <p:cNvPr id="6" name="Shape 4"/>
          <p:cNvSpPr/>
          <p:nvPr/>
        </p:nvSpPr>
        <p:spPr>
          <a:xfrm>
            <a:off x="793790" y="3494484"/>
            <a:ext cx="446484" cy="446484"/>
          </a:xfrm>
          <a:prstGeom prst="roundRect">
            <a:avLst>
              <a:gd name="adj" fmla="val 6668"/>
            </a:avLst>
          </a:prstGeom>
          <a:solidFill>
            <a:srgbClr val="F2EEEE"/>
          </a:solidFill>
          <a:ln/>
        </p:spPr>
      </p:sp>
      <p:sp>
        <p:nvSpPr>
          <p:cNvPr id="7" name="Text 5"/>
          <p:cNvSpPr/>
          <p:nvPr/>
        </p:nvSpPr>
        <p:spPr>
          <a:xfrm>
            <a:off x="868204" y="3531691"/>
            <a:ext cx="297656" cy="372070"/>
          </a:xfrm>
          <a:prstGeom prst="rect">
            <a:avLst/>
          </a:prstGeom>
          <a:noFill/>
          <a:ln/>
        </p:spPr>
        <p:txBody>
          <a:bodyPr wrap="none" lIns="0" tIns="0" rIns="0" bIns="0" rtlCol="0" anchor="t"/>
          <a:lstStyle/>
          <a:p>
            <a:pPr algn="ctr" indent="0" marL="0">
              <a:lnSpc>
                <a:spcPts val="2300"/>
              </a:lnSpc>
              <a:buNone/>
            </a:pPr>
            <a:r>
              <a:rPr lang="en-US" sz="2300" dirty="0">
                <a:solidFill>
                  <a:srgbClr val="4C4C4D"/>
                </a:solidFill>
                <a:latin typeface="Crimson Pro Semi Bold" pitchFamily="34" charset="0"/>
                <a:ea typeface="Crimson Pro Semi Bold" pitchFamily="34" charset="-122"/>
                <a:cs typeface="Crimson Pro Semi Bold" pitchFamily="34" charset="-120"/>
              </a:rPr>
              <a:t>1</a:t>
            </a:r>
            <a:endParaRPr lang="en-US" sz="2300" dirty="0"/>
          </a:p>
        </p:txBody>
      </p:sp>
      <p:sp>
        <p:nvSpPr>
          <p:cNvPr id="8" name="Text 6"/>
          <p:cNvSpPr/>
          <p:nvPr/>
        </p:nvSpPr>
        <p:spPr>
          <a:xfrm>
            <a:off x="1438632" y="3562707"/>
            <a:ext cx="3507819"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Miles &amp; Carey (1997) Meta-Analizi</a:t>
            </a:r>
            <a:endParaRPr lang="en-US" sz="1950" dirty="0"/>
          </a:p>
        </p:txBody>
      </p:sp>
      <p:sp>
        <p:nvSpPr>
          <p:cNvPr id="9" name="Text 7"/>
          <p:cNvSpPr/>
          <p:nvPr/>
        </p:nvSpPr>
        <p:spPr>
          <a:xfrm>
            <a:off x="1438632" y="3991928"/>
            <a:ext cx="5752505" cy="127015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Hem genetiğin hem de ortak çevrenin saldırgandaki bireysel farklılıkları açıkladığını buldu. Genetik faktörler erkekler için kadınlardan biraz daha önemli; daha genç deneklerde ise daha az güçlü.</a:t>
            </a:r>
            <a:endParaRPr lang="en-US" sz="1550" dirty="0"/>
          </a:p>
        </p:txBody>
      </p:sp>
      <p:sp>
        <p:nvSpPr>
          <p:cNvPr id="10" name="Shape 8"/>
          <p:cNvSpPr/>
          <p:nvPr/>
        </p:nvSpPr>
        <p:spPr>
          <a:xfrm>
            <a:off x="7439144" y="3494484"/>
            <a:ext cx="446484" cy="446484"/>
          </a:xfrm>
          <a:prstGeom prst="roundRect">
            <a:avLst>
              <a:gd name="adj" fmla="val 6668"/>
            </a:avLst>
          </a:prstGeom>
          <a:solidFill>
            <a:srgbClr val="F2EEEE"/>
          </a:solidFill>
          <a:ln/>
        </p:spPr>
      </p:sp>
      <p:sp>
        <p:nvSpPr>
          <p:cNvPr id="11" name="Text 9"/>
          <p:cNvSpPr/>
          <p:nvPr/>
        </p:nvSpPr>
        <p:spPr>
          <a:xfrm>
            <a:off x="7513558" y="3531691"/>
            <a:ext cx="297656" cy="372070"/>
          </a:xfrm>
          <a:prstGeom prst="rect">
            <a:avLst/>
          </a:prstGeom>
          <a:noFill/>
          <a:ln/>
        </p:spPr>
        <p:txBody>
          <a:bodyPr wrap="none" lIns="0" tIns="0" rIns="0" bIns="0" rtlCol="0" anchor="t"/>
          <a:lstStyle/>
          <a:p>
            <a:pPr algn="ctr" indent="0" marL="0">
              <a:lnSpc>
                <a:spcPts val="2300"/>
              </a:lnSpc>
              <a:buNone/>
            </a:pPr>
            <a:r>
              <a:rPr lang="en-US" sz="2300" dirty="0">
                <a:solidFill>
                  <a:srgbClr val="4C4C4D"/>
                </a:solidFill>
                <a:latin typeface="Crimson Pro Semi Bold" pitchFamily="34" charset="0"/>
                <a:ea typeface="Crimson Pro Semi Bold" pitchFamily="34" charset="-122"/>
                <a:cs typeface="Crimson Pro Semi Bold" pitchFamily="34" charset="-120"/>
              </a:rPr>
              <a:t>2</a:t>
            </a:r>
            <a:endParaRPr lang="en-US" sz="2300" dirty="0"/>
          </a:p>
        </p:txBody>
      </p:sp>
      <p:sp>
        <p:nvSpPr>
          <p:cNvPr id="12" name="Text 10"/>
          <p:cNvSpPr/>
          <p:nvPr/>
        </p:nvSpPr>
        <p:spPr>
          <a:xfrm>
            <a:off x="8083987" y="3562707"/>
            <a:ext cx="3966448"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Hines &amp; Saudino (2004) İkiz Çalışması</a:t>
            </a:r>
            <a:endParaRPr lang="en-US" sz="1950" dirty="0"/>
          </a:p>
        </p:txBody>
      </p:sp>
      <p:sp>
        <p:nvSpPr>
          <p:cNvPr id="13" name="Text 11"/>
          <p:cNvSpPr/>
          <p:nvPr/>
        </p:nvSpPr>
        <p:spPr>
          <a:xfrm>
            <a:off x="8083987" y="3991928"/>
            <a:ext cx="5752624" cy="127015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Monozigotik ve dizigotik ikizleri karşılaştırarak "yakın partner saldırganlığının" genetik bir bileşeni olduğunu buldu. Psikolojik saldırganlıktaki ailevi benzerlik, paylaşılan genlerden kaynaklanmaktadır.</a:t>
            </a:r>
            <a:endParaRPr lang="en-US" sz="1550" dirty="0"/>
          </a:p>
        </p:txBody>
      </p:sp>
      <p:sp>
        <p:nvSpPr>
          <p:cNvPr id="14" name="Shape 12"/>
          <p:cNvSpPr/>
          <p:nvPr/>
        </p:nvSpPr>
        <p:spPr>
          <a:xfrm>
            <a:off x="793790" y="5485328"/>
            <a:ext cx="13042821" cy="1160740"/>
          </a:xfrm>
          <a:prstGeom prst="roundRect">
            <a:avLst>
              <a:gd name="adj" fmla="val 2565"/>
            </a:avLst>
          </a:prstGeom>
          <a:solidFill>
            <a:srgbClr val="B6D6FC"/>
          </a:solidFill>
          <a:ln/>
        </p:spPr>
      </p:sp>
      <p:pic>
        <p:nvPicPr>
          <p:cNvPr id="15" name="Image 0" descr="preencoded.png">    </p:cNvPr>
          <p:cNvPicPr>
            <a:picLocks noChangeAspect="1"/>
          </p:cNvPicPr>
          <p:nvPr/>
        </p:nvPicPr>
        <p:blipFill>
          <a:blip r:embed="rId1"/>
          <a:stretch>
            <a:fillRect/>
          </a:stretch>
        </p:blipFill>
        <p:spPr>
          <a:xfrm>
            <a:off x="992148" y="5772983"/>
            <a:ext cx="248007" cy="198358"/>
          </a:xfrm>
          <a:prstGeom prst="rect">
            <a:avLst/>
          </a:prstGeom>
        </p:spPr>
      </p:pic>
      <p:sp>
        <p:nvSpPr>
          <p:cNvPr id="16" name="Text 13"/>
          <p:cNvSpPr/>
          <p:nvPr/>
        </p:nvSpPr>
        <p:spPr>
          <a:xfrm>
            <a:off x="1438513" y="5733217"/>
            <a:ext cx="12199739"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Heebo" pitchFamily="34" charset="0"/>
                <a:ea typeface="Heebo" pitchFamily="34" charset="-122"/>
                <a:cs typeface="Heebo" pitchFamily="34" charset="-120"/>
              </a:rPr>
              <a:t>Genetiğin saldırganlık üzerinde doğrudan etkisine dair çok az kanıt vardır. Genetik, kişiyi saldırganlığa yatkın hale getiren kişilik özelliklerini etkiliyor gibi görünmektedir.</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793790" y="1945005"/>
            <a:ext cx="987147" cy="373142"/>
          </a:xfrm>
          <a:prstGeom prst="roundRect">
            <a:avLst>
              <a:gd name="adj" fmla="val 6383"/>
            </a:avLst>
          </a:prstGeom>
          <a:solidFill>
            <a:srgbClr val="CCD7FF"/>
          </a:solidFill>
          <a:ln/>
        </p:spPr>
      </p:sp>
      <p:sp>
        <p:nvSpPr>
          <p:cNvPr id="3" name="Text 1"/>
          <p:cNvSpPr/>
          <p:nvPr/>
        </p:nvSpPr>
        <p:spPr>
          <a:xfrm>
            <a:off x="912852" y="2004536"/>
            <a:ext cx="749022" cy="254079"/>
          </a:xfrm>
          <a:prstGeom prst="rect">
            <a:avLst/>
          </a:prstGeom>
          <a:noFill/>
          <a:ln/>
        </p:spPr>
        <p:txBody>
          <a:bodyPr wrap="none" lIns="0" tIns="0" rIns="0" bIns="0" rtlCol="0" anchor="t"/>
          <a:lstStyle/>
          <a:p>
            <a:pPr algn="l" indent="0" marL="0">
              <a:lnSpc>
                <a:spcPts val="2000"/>
              </a:lnSpc>
              <a:buNone/>
            </a:pPr>
            <a:r>
              <a:rPr lang="en-US" sz="1250" dirty="0">
                <a:solidFill>
                  <a:srgbClr val="4C4C4D"/>
                </a:solidFill>
                <a:latin typeface="Heebo" pitchFamily="34" charset="0"/>
                <a:ea typeface="Heebo" pitchFamily="34" charset="-122"/>
                <a:cs typeface="Heebo" pitchFamily="34" charset="-120"/>
              </a:rPr>
              <a:t>FİZYOLOJİ</a:t>
            </a:r>
            <a:endParaRPr lang="en-US" sz="1250" dirty="0"/>
          </a:p>
        </p:txBody>
      </p:sp>
      <p:sp>
        <p:nvSpPr>
          <p:cNvPr id="4" name="Text 2"/>
          <p:cNvSpPr/>
          <p:nvPr/>
        </p:nvSpPr>
        <p:spPr>
          <a:xfrm>
            <a:off x="793790" y="2397442"/>
            <a:ext cx="7531656" cy="620078"/>
          </a:xfrm>
          <a:prstGeom prst="rect">
            <a:avLst/>
          </a:prstGeom>
          <a:noFill/>
          <a:ln/>
        </p:spPr>
        <p:txBody>
          <a:bodyPr wrap="none" lIns="0" tIns="0" rIns="0" bIns="0" rtlCol="0" anchor="t"/>
          <a:lstStyle/>
          <a:p>
            <a:pPr algn="l" indent="0" marL="0">
              <a:lnSpc>
                <a:spcPts val="4850"/>
              </a:lnSpc>
              <a:buNone/>
            </a:pPr>
            <a:r>
              <a:rPr lang="en-US" sz="3900" dirty="0">
                <a:solidFill>
                  <a:srgbClr val="152D47"/>
                </a:solidFill>
                <a:latin typeface="Crimson Pro Semi Bold" pitchFamily="34" charset="0"/>
                <a:ea typeface="Crimson Pro Semi Bold" pitchFamily="34" charset="-122"/>
                <a:cs typeface="Crimson Pro Semi Bold" pitchFamily="34" charset="-120"/>
              </a:rPr>
              <a:t>Beyin Mekanizmaları ve Saldırganlık</a:t>
            </a:r>
            <a:endParaRPr lang="en-US" sz="3900" dirty="0"/>
          </a:p>
        </p:txBody>
      </p:sp>
      <p:sp>
        <p:nvSpPr>
          <p:cNvPr id="5" name="Shape 3"/>
          <p:cNvSpPr/>
          <p:nvPr/>
        </p:nvSpPr>
        <p:spPr>
          <a:xfrm>
            <a:off x="650915" y="3315176"/>
            <a:ext cx="6565106" cy="2969300"/>
          </a:xfrm>
          <a:prstGeom prst="roundRect">
            <a:avLst>
              <a:gd name="adj" fmla="val 1003"/>
            </a:avLst>
          </a:prstGeom>
          <a:solidFill>
            <a:srgbClr val="2150FE"/>
          </a:solidFill>
          <a:ln/>
        </p:spPr>
      </p:sp>
      <p:sp>
        <p:nvSpPr>
          <p:cNvPr id="6" name="Text 4"/>
          <p:cNvSpPr/>
          <p:nvPr/>
        </p:nvSpPr>
        <p:spPr>
          <a:xfrm>
            <a:off x="849273" y="351353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FFFFFF"/>
                </a:solidFill>
                <a:latin typeface="Crimson Pro Semi Bold" pitchFamily="34" charset="0"/>
                <a:ea typeface="Crimson Pro Semi Bold" pitchFamily="34" charset="-122"/>
                <a:cs typeface="Crimson Pro Semi Bold" pitchFamily="34" charset="-120"/>
              </a:rPr>
              <a:t>Hipotalamus'un Rolü</a:t>
            </a:r>
            <a:endParaRPr lang="en-US" sz="1950" dirty="0"/>
          </a:p>
        </p:txBody>
      </p:sp>
      <p:sp>
        <p:nvSpPr>
          <p:cNvPr id="7" name="Text 5"/>
          <p:cNvSpPr/>
          <p:nvPr/>
        </p:nvSpPr>
        <p:spPr>
          <a:xfrm>
            <a:off x="849273" y="4022050"/>
            <a:ext cx="6168390" cy="952619"/>
          </a:xfrm>
          <a:prstGeom prst="rect">
            <a:avLst/>
          </a:prstGeom>
          <a:noFill/>
          <a:ln/>
        </p:spPr>
        <p:txBody>
          <a:bodyPr wrap="square" lIns="0" tIns="0" rIns="0" bIns="0" rtlCol="0" anchor="t"/>
          <a:lstStyle/>
          <a:p>
            <a:pPr algn="l" indent="0" marL="0">
              <a:lnSpc>
                <a:spcPts val="2500"/>
              </a:lnSpc>
              <a:buNone/>
            </a:pPr>
            <a:r>
              <a:rPr lang="en-US" sz="1550" dirty="0">
                <a:solidFill>
                  <a:srgbClr val="FFFFFF"/>
                </a:solidFill>
                <a:latin typeface="Heebo" pitchFamily="34" charset="0"/>
                <a:ea typeface="Heebo" pitchFamily="34" charset="-122"/>
                <a:cs typeface="Heebo" pitchFamily="34" charset="-120"/>
              </a:rPr>
              <a:t>Araştırmacılar, hipotalamusun bazı kısımları uyarıldığında saldırgan davranışın ortaya çıktığını bulmuştur. Farklı çekirdeklerin uyarılması farklı saldırganlık biçimleri üretir:</a:t>
            </a:r>
            <a:endParaRPr lang="en-US" sz="1550" dirty="0"/>
          </a:p>
        </p:txBody>
      </p:sp>
      <p:sp>
        <p:nvSpPr>
          <p:cNvPr id="8" name="Text 6"/>
          <p:cNvSpPr/>
          <p:nvPr/>
        </p:nvSpPr>
        <p:spPr>
          <a:xfrm>
            <a:off x="849273" y="5153263"/>
            <a:ext cx="6168390" cy="704493"/>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FFFFFF"/>
                </a:solidFill>
                <a:latin typeface="Heebo" pitchFamily="34" charset="0"/>
                <a:ea typeface="Heebo" pitchFamily="34" charset="-122"/>
                <a:cs typeface="Heebo" pitchFamily="34" charset="-120"/>
              </a:rPr>
              <a:t>Bir kısım: Öfke ve düşmanca saldırganlık (ayrımcı olmayan)</a:t>
            </a:r>
            <a:endParaRPr lang="en-US" sz="1550" dirty="0"/>
          </a:p>
          <a:p>
            <a:pPr algn="l" marL="342900" indent="-342900">
              <a:lnSpc>
                <a:spcPts val="2500"/>
              </a:lnSpc>
              <a:buSzPct val="100000"/>
              <a:buChar char="•"/>
            </a:pPr>
            <a:r>
              <a:rPr lang="en-US" sz="1550" dirty="0">
                <a:solidFill>
                  <a:srgbClr val="FFFFFF"/>
                </a:solidFill>
                <a:latin typeface="Heebo" pitchFamily="34" charset="0"/>
                <a:ea typeface="Heebo" pitchFamily="34" charset="-122"/>
                <a:cs typeface="Heebo" pitchFamily="34" charset="-120"/>
              </a:rPr>
              <a:t>Diğer kısım: Seçici avcı saldırganlığı</a:t>
            </a:r>
            <a:endParaRPr lang="en-US" sz="1550" dirty="0"/>
          </a:p>
        </p:txBody>
      </p:sp>
      <p:sp>
        <p:nvSpPr>
          <p:cNvPr id="9" name="Text 7"/>
          <p:cNvSpPr/>
          <p:nvPr/>
        </p:nvSpPr>
        <p:spPr>
          <a:xfrm>
            <a:off x="7564874" y="351353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52D47"/>
                </a:solidFill>
                <a:latin typeface="Crimson Pro Semi Bold" pitchFamily="34" charset="0"/>
                <a:ea typeface="Crimson Pro Semi Bold" pitchFamily="34" charset="-122"/>
                <a:cs typeface="Crimson Pro Semi Bold" pitchFamily="34" charset="-120"/>
              </a:rPr>
              <a:t>Sosyal Bağlamın Önemi</a:t>
            </a:r>
            <a:endParaRPr lang="en-US" sz="1950" dirty="0"/>
          </a:p>
        </p:txBody>
      </p:sp>
      <p:sp>
        <p:nvSpPr>
          <p:cNvPr id="10" name="Text 8"/>
          <p:cNvSpPr/>
          <p:nvPr/>
        </p:nvSpPr>
        <p:spPr>
          <a:xfrm>
            <a:off x="7564874" y="4022050"/>
            <a:ext cx="6279356" cy="127015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Delgado (1969) çalışmasında, beyin uyarımı maymunun sosyal statüsüne göre farklı sonuçlar verdi. Daha baskın bir maymun varsa uyarım saldırganlığa yol açmadı; daha az baskın biri varsa saldırganlık ortaya çıktı.</a:t>
            </a:r>
            <a:endParaRPr lang="en-US" sz="1550" dirty="0"/>
          </a:p>
        </p:txBody>
      </p:sp>
      <p:sp>
        <p:nvSpPr>
          <p:cNvPr id="11" name="Text 9"/>
          <p:cNvSpPr/>
          <p:nvPr/>
        </p:nvSpPr>
        <p:spPr>
          <a:xfrm>
            <a:off x="7564874" y="5470803"/>
            <a:ext cx="6279356" cy="63507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Saldırgan davranış yalnızca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"doğru" sosyal koşullar</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altında meydana geldi.</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793790" y="1555552"/>
            <a:ext cx="987147" cy="373142"/>
          </a:xfrm>
          <a:prstGeom prst="roundRect">
            <a:avLst>
              <a:gd name="adj" fmla="val 6383"/>
            </a:avLst>
          </a:prstGeom>
          <a:solidFill>
            <a:srgbClr val="CCD7FF"/>
          </a:solidFill>
          <a:ln/>
        </p:spPr>
      </p:sp>
      <p:sp>
        <p:nvSpPr>
          <p:cNvPr id="3" name="Text 1"/>
          <p:cNvSpPr/>
          <p:nvPr/>
        </p:nvSpPr>
        <p:spPr>
          <a:xfrm>
            <a:off x="912852" y="1615083"/>
            <a:ext cx="749022" cy="254079"/>
          </a:xfrm>
          <a:prstGeom prst="rect">
            <a:avLst/>
          </a:prstGeom>
          <a:noFill/>
          <a:ln/>
        </p:spPr>
        <p:txBody>
          <a:bodyPr wrap="none" lIns="0" tIns="0" rIns="0" bIns="0" rtlCol="0" anchor="t"/>
          <a:lstStyle/>
          <a:p>
            <a:pPr algn="l" indent="0" marL="0">
              <a:lnSpc>
                <a:spcPts val="2000"/>
              </a:lnSpc>
              <a:buNone/>
            </a:pPr>
            <a:r>
              <a:rPr lang="en-US" sz="1250" dirty="0">
                <a:solidFill>
                  <a:srgbClr val="4C4C4D"/>
                </a:solidFill>
                <a:latin typeface="Heebo" pitchFamily="34" charset="0"/>
                <a:ea typeface="Heebo" pitchFamily="34" charset="-122"/>
                <a:cs typeface="Heebo" pitchFamily="34" charset="-120"/>
              </a:rPr>
              <a:t>FİZYOLOJİ</a:t>
            </a:r>
            <a:endParaRPr lang="en-US" sz="1250" dirty="0"/>
          </a:p>
        </p:txBody>
      </p:sp>
      <p:sp>
        <p:nvSpPr>
          <p:cNvPr id="4" name="Text 2"/>
          <p:cNvSpPr/>
          <p:nvPr/>
        </p:nvSpPr>
        <p:spPr>
          <a:xfrm>
            <a:off x="793790" y="2007989"/>
            <a:ext cx="5559743" cy="620078"/>
          </a:xfrm>
          <a:prstGeom prst="rect">
            <a:avLst/>
          </a:prstGeom>
          <a:noFill/>
          <a:ln/>
        </p:spPr>
        <p:txBody>
          <a:bodyPr wrap="none" lIns="0" tIns="0" rIns="0" bIns="0" rtlCol="0" anchor="t"/>
          <a:lstStyle/>
          <a:p>
            <a:pPr algn="l" indent="0" marL="0">
              <a:lnSpc>
                <a:spcPts val="4850"/>
              </a:lnSpc>
              <a:buNone/>
            </a:pPr>
            <a:r>
              <a:rPr lang="en-US" sz="3900" dirty="0">
                <a:solidFill>
                  <a:srgbClr val="152D47"/>
                </a:solidFill>
                <a:latin typeface="Crimson Pro Semi Bold" pitchFamily="34" charset="0"/>
                <a:ea typeface="Crimson Pro Semi Bold" pitchFamily="34" charset="-122"/>
                <a:cs typeface="Crimson Pro Semi Bold" pitchFamily="34" charset="-120"/>
              </a:rPr>
              <a:t>Testosteron ve Saldırganlık</a:t>
            </a:r>
            <a:endParaRPr lang="en-US" sz="3900" dirty="0"/>
          </a:p>
        </p:txBody>
      </p:sp>
      <p:sp>
        <p:nvSpPr>
          <p:cNvPr id="5" name="Text 3"/>
          <p:cNvSpPr/>
          <p:nvPr/>
        </p:nvSpPr>
        <p:spPr>
          <a:xfrm>
            <a:off x="793790" y="2925723"/>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Testosteronun yüksek seviyeleri genellikle artan saldırganlıkla ilişkilendirilir (Christiansen &amp; Knussmann, 1987). Ancak etkisi karmaşıktır ve iki aşamada gerçekleşir:</a:t>
            </a:r>
            <a:endParaRPr lang="en-US" sz="1550" dirty="0"/>
          </a:p>
        </p:txBody>
      </p:sp>
      <p:pic>
        <p:nvPicPr>
          <p:cNvPr id="6" name="Image 0" descr="preencoded.png">    </p:cNvPr>
          <p:cNvPicPr>
            <a:picLocks noChangeAspect="1"/>
          </p:cNvPicPr>
          <p:nvPr/>
        </p:nvPicPr>
        <p:blipFill>
          <a:blip r:embed="rId1"/>
          <a:stretch>
            <a:fillRect/>
          </a:stretch>
        </p:blipFill>
        <p:spPr>
          <a:xfrm>
            <a:off x="793790" y="3784044"/>
            <a:ext cx="4347567" cy="793790"/>
          </a:xfrm>
          <a:prstGeom prst="rect">
            <a:avLst/>
          </a:prstGeom>
        </p:spPr>
      </p:pic>
      <p:sp>
        <p:nvSpPr>
          <p:cNvPr id="7" name="Text 4"/>
          <p:cNvSpPr/>
          <p:nvPr/>
        </p:nvSpPr>
        <p:spPr>
          <a:xfrm>
            <a:off x="992148" y="4776192"/>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Organizasyon İşlevi</a:t>
            </a:r>
            <a:endParaRPr lang="en-US" sz="1950" dirty="0"/>
          </a:p>
        </p:txBody>
      </p:sp>
      <p:sp>
        <p:nvSpPr>
          <p:cNvPr id="8" name="Text 5"/>
          <p:cNvSpPr/>
          <p:nvPr/>
        </p:nvSpPr>
        <p:spPr>
          <a:xfrm>
            <a:off x="992148" y="5205413"/>
            <a:ext cx="3950851" cy="127015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Doğum öncesi ve erken yaşamda testosteron, beyin gelişiminin seyrini etkiler. Erkek beyninin daha fazla saldırganlık için "bağlantılı" olmasını sağlar.</a:t>
            </a:r>
            <a:endParaRPr lang="en-US" sz="1550" dirty="0"/>
          </a:p>
        </p:txBody>
      </p:sp>
      <p:pic>
        <p:nvPicPr>
          <p:cNvPr id="9" name="Image 1" descr="preencoded.png">    </p:cNvPr>
          <p:cNvPicPr>
            <a:picLocks noChangeAspect="1"/>
          </p:cNvPicPr>
          <p:nvPr/>
        </p:nvPicPr>
        <p:blipFill>
          <a:blip r:embed="rId2"/>
          <a:stretch>
            <a:fillRect/>
          </a:stretch>
        </p:blipFill>
        <p:spPr>
          <a:xfrm>
            <a:off x="5141357" y="3784044"/>
            <a:ext cx="4347567" cy="793790"/>
          </a:xfrm>
          <a:prstGeom prst="rect">
            <a:avLst/>
          </a:prstGeom>
        </p:spPr>
      </p:pic>
      <p:sp>
        <p:nvSpPr>
          <p:cNvPr id="10" name="Text 6"/>
          <p:cNvSpPr/>
          <p:nvPr/>
        </p:nvSpPr>
        <p:spPr>
          <a:xfrm>
            <a:off x="5339715" y="4776192"/>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Aktivasyon İşlevi</a:t>
            </a:r>
            <a:endParaRPr lang="en-US" sz="1950" dirty="0"/>
          </a:p>
        </p:txBody>
      </p:sp>
      <p:sp>
        <p:nvSpPr>
          <p:cNvPr id="11" name="Text 7"/>
          <p:cNvSpPr/>
          <p:nvPr/>
        </p:nvSpPr>
        <p:spPr>
          <a:xfrm>
            <a:off x="5339715" y="5205413"/>
            <a:ext cx="3950851" cy="127015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Yaşamın ilerleyen dönemlerinde testosteron, saldırganlık gibi davranış kalıplarını aktive eder. Ancak bu etki yalnızca erken yaşta yeterli maruz kalma varsa işler.</a:t>
            </a:r>
            <a:endParaRPr lang="en-US" sz="1550" dirty="0"/>
          </a:p>
        </p:txBody>
      </p:sp>
      <p:pic>
        <p:nvPicPr>
          <p:cNvPr id="12" name="Image 2" descr="preencoded.png">    </p:cNvPr>
          <p:cNvPicPr>
            <a:picLocks noChangeAspect="1"/>
          </p:cNvPicPr>
          <p:nvPr/>
        </p:nvPicPr>
        <p:blipFill>
          <a:blip r:embed="rId3"/>
          <a:stretch>
            <a:fillRect/>
          </a:stretch>
        </p:blipFill>
        <p:spPr>
          <a:xfrm>
            <a:off x="9488924" y="3784044"/>
            <a:ext cx="4347567" cy="793790"/>
          </a:xfrm>
          <a:prstGeom prst="rect">
            <a:avLst/>
          </a:prstGeom>
        </p:spPr>
      </p:pic>
      <p:sp>
        <p:nvSpPr>
          <p:cNvPr id="13" name="Text 8"/>
          <p:cNvSpPr/>
          <p:nvPr/>
        </p:nvSpPr>
        <p:spPr>
          <a:xfrm>
            <a:off x="9687282" y="4776192"/>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Sosyal Etkileşim</a:t>
            </a:r>
            <a:endParaRPr lang="en-US" sz="1950" dirty="0"/>
          </a:p>
        </p:txBody>
      </p:sp>
      <p:sp>
        <p:nvSpPr>
          <p:cNvPr id="14" name="Text 9"/>
          <p:cNvSpPr/>
          <p:nvPr/>
        </p:nvSpPr>
        <p:spPr>
          <a:xfrm>
            <a:off x="9687282" y="5205413"/>
            <a:ext cx="3950851" cy="127015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Albert ve ark. (1989a): Testosteron yalnızca sıçanlar yiyecek için rekabet ettiğinde saldırganlığı artırdı. Rekabet gerekmediğinde saldırganlık düşük kaldı.</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793790" y="1790700"/>
            <a:ext cx="987147" cy="373142"/>
          </a:xfrm>
          <a:prstGeom prst="roundRect">
            <a:avLst>
              <a:gd name="adj" fmla="val 6383"/>
            </a:avLst>
          </a:prstGeom>
          <a:solidFill>
            <a:srgbClr val="CCD7FF"/>
          </a:solidFill>
          <a:ln/>
        </p:spPr>
      </p:sp>
      <p:sp>
        <p:nvSpPr>
          <p:cNvPr id="3" name="Text 1"/>
          <p:cNvSpPr/>
          <p:nvPr/>
        </p:nvSpPr>
        <p:spPr>
          <a:xfrm>
            <a:off x="912852" y="1850231"/>
            <a:ext cx="749022" cy="254079"/>
          </a:xfrm>
          <a:prstGeom prst="rect">
            <a:avLst/>
          </a:prstGeom>
          <a:noFill/>
          <a:ln/>
        </p:spPr>
        <p:txBody>
          <a:bodyPr wrap="none" lIns="0" tIns="0" rIns="0" bIns="0" rtlCol="0" anchor="t"/>
          <a:lstStyle/>
          <a:p>
            <a:pPr algn="l" indent="0" marL="0">
              <a:lnSpc>
                <a:spcPts val="2000"/>
              </a:lnSpc>
              <a:buNone/>
            </a:pPr>
            <a:r>
              <a:rPr lang="en-US" sz="1250" dirty="0">
                <a:solidFill>
                  <a:srgbClr val="4C4C4D"/>
                </a:solidFill>
                <a:latin typeface="Heebo" pitchFamily="34" charset="0"/>
                <a:ea typeface="Heebo" pitchFamily="34" charset="-122"/>
                <a:cs typeface="Heebo" pitchFamily="34" charset="-120"/>
              </a:rPr>
              <a:t>FİZYOLOJİ</a:t>
            </a:r>
            <a:endParaRPr lang="en-US" sz="1250" dirty="0"/>
          </a:p>
        </p:txBody>
      </p:sp>
      <p:sp>
        <p:nvSpPr>
          <p:cNvPr id="4" name="Text 2"/>
          <p:cNvSpPr/>
          <p:nvPr/>
        </p:nvSpPr>
        <p:spPr>
          <a:xfrm>
            <a:off x="793790" y="2243138"/>
            <a:ext cx="7674173" cy="620078"/>
          </a:xfrm>
          <a:prstGeom prst="rect">
            <a:avLst/>
          </a:prstGeom>
          <a:noFill/>
          <a:ln/>
        </p:spPr>
        <p:txBody>
          <a:bodyPr wrap="none" lIns="0" tIns="0" rIns="0" bIns="0" rtlCol="0" anchor="t"/>
          <a:lstStyle/>
          <a:p>
            <a:pPr algn="l" indent="0" marL="0">
              <a:lnSpc>
                <a:spcPts val="4850"/>
              </a:lnSpc>
              <a:buNone/>
            </a:pPr>
            <a:r>
              <a:rPr lang="en-US" sz="3900" dirty="0">
                <a:solidFill>
                  <a:srgbClr val="152D47"/>
                </a:solidFill>
                <a:latin typeface="Crimson Pro Semi Bold" pitchFamily="34" charset="0"/>
                <a:ea typeface="Crimson Pro Semi Bold" pitchFamily="34" charset="-122"/>
                <a:cs typeface="Crimson Pro Semi Bold" pitchFamily="34" charset="-120"/>
              </a:rPr>
              <a:t>Conner &amp; Levine (1969): Kritik Deney</a:t>
            </a:r>
            <a:endParaRPr lang="en-US" sz="3900" dirty="0"/>
          </a:p>
        </p:txBody>
      </p:sp>
      <p:sp>
        <p:nvSpPr>
          <p:cNvPr id="5" name="Text 3"/>
          <p:cNvSpPr/>
          <p:nvPr/>
        </p:nvSpPr>
        <p:spPr>
          <a:xfrm>
            <a:off x="793790" y="3160871"/>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Sıçanlar ya yenidoğan olarak ya da sütten kesilmişken hadım edildi. Yetişkinlikte testosteron veya plasebo uygulandı.</a:t>
            </a:r>
            <a:endParaRPr lang="en-US" sz="1550" dirty="0"/>
          </a:p>
        </p:txBody>
      </p:sp>
      <p:sp>
        <p:nvSpPr>
          <p:cNvPr id="6" name="Shape 4"/>
          <p:cNvSpPr/>
          <p:nvPr/>
        </p:nvSpPr>
        <p:spPr>
          <a:xfrm>
            <a:off x="793790" y="3701653"/>
            <a:ext cx="4215289" cy="2737128"/>
          </a:xfrm>
          <a:prstGeom prst="roundRect">
            <a:avLst>
              <a:gd name="adj" fmla="val 1088"/>
            </a:avLst>
          </a:prstGeom>
          <a:solidFill>
            <a:srgbClr val="FFFFFF"/>
          </a:solidFill>
          <a:ln w="22860">
            <a:solidFill>
              <a:srgbClr val="D8D4D4"/>
            </a:solidFill>
            <a:prstDash val="solid"/>
          </a:ln>
        </p:spPr>
      </p:sp>
      <p:sp>
        <p:nvSpPr>
          <p:cNvPr id="7" name="Shape 5"/>
          <p:cNvSpPr/>
          <p:nvPr/>
        </p:nvSpPr>
        <p:spPr>
          <a:xfrm>
            <a:off x="816650" y="3724513"/>
            <a:ext cx="4169569" cy="595313"/>
          </a:xfrm>
          <a:prstGeom prst="roundRect">
            <a:avLst>
              <a:gd name="adj" fmla="val 393"/>
            </a:avLst>
          </a:prstGeom>
          <a:solidFill>
            <a:srgbClr val="F2EEEE"/>
          </a:solidFill>
          <a:ln/>
        </p:spPr>
      </p:sp>
      <p:sp>
        <p:nvSpPr>
          <p:cNvPr id="8" name="Text 6"/>
          <p:cNvSpPr/>
          <p:nvPr/>
        </p:nvSpPr>
        <p:spPr>
          <a:xfrm>
            <a:off x="2752606" y="3836075"/>
            <a:ext cx="297656" cy="372070"/>
          </a:xfrm>
          <a:prstGeom prst="rect">
            <a:avLst/>
          </a:prstGeom>
          <a:noFill/>
          <a:ln/>
        </p:spPr>
        <p:txBody>
          <a:bodyPr wrap="none" lIns="0" tIns="0" rIns="0" bIns="0" rtlCol="0" anchor="t"/>
          <a:lstStyle/>
          <a:p>
            <a:pPr algn="l" indent="0" marL="0">
              <a:lnSpc>
                <a:spcPts val="2300"/>
              </a:lnSpc>
              <a:buNone/>
            </a:pPr>
            <a:r>
              <a:rPr lang="en-US" sz="2300" dirty="0">
                <a:solidFill>
                  <a:srgbClr val="4C4C4D"/>
                </a:solidFill>
                <a:latin typeface="Crimson Pro Semi Bold" pitchFamily="34" charset="0"/>
                <a:ea typeface="Crimson Pro Semi Bold" pitchFamily="34" charset="-122"/>
                <a:cs typeface="Crimson Pro Semi Bold" pitchFamily="34" charset="-120"/>
              </a:rPr>
              <a:t>1</a:t>
            </a:r>
            <a:endParaRPr lang="en-US" sz="2300" dirty="0"/>
          </a:p>
        </p:txBody>
      </p:sp>
      <p:sp>
        <p:nvSpPr>
          <p:cNvPr id="9" name="Text 7"/>
          <p:cNvSpPr/>
          <p:nvPr/>
        </p:nvSpPr>
        <p:spPr>
          <a:xfrm>
            <a:off x="1015008" y="451818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Yenidoğan Hadım</a:t>
            </a:r>
            <a:endParaRPr lang="en-US" sz="1950" dirty="0"/>
          </a:p>
        </p:txBody>
      </p:sp>
      <p:sp>
        <p:nvSpPr>
          <p:cNvPr id="10" name="Text 8"/>
          <p:cNvSpPr/>
          <p:nvPr/>
        </p:nvSpPr>
        <p:spPr>
          <a:xfrm>
            <a:off x="1015008" y="4947404"/>
            <a:ext cx="3772853" cy="127015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Erken testosteron maruziyeti engellendi. Yetişkinlikte testosteron enjeksiyonları saldırganlığı artırmadı — organizasyon işlevi gerçekleşmemişti.</a:t>
            </a:r>
            <a:endParaRPr lang="en-US" sz="1550" dirty="0"/>
          </a:p>
        </p:txBody>
      </p:sp>
      <p:sp>
        <p:nvSpPr>
          <p:cNvPr id="11" name="Shape 9"/>
          <p:cNvSpPr/>
          <p:nvPr/>
        </p:nvSpPr>
        <p:spPr>
          <a:xfrm>
            <a:off x="5207437" y="3701653"/>
            <a:ext cx="4215408" cy="2737128"/>
          </a:xfrm>
          <a:prstGeom prst="roundRect">
            <a:avLst>
              <a:gd name="adj" fmla="val 1088"/>
            </a:avLst>
          </a:prstGeom>
          <a:solidFill>
            <a:srgbClr val="FFFFFF"/>
          </a:solidFill>
          <a:ln w="22860">
            <a:solidFill>
              <a:srgbClr val="D8D4D4"/>
            </a:solidFill>
            <a:prstDash val="solid"/>
          </a:ln>
        </p:spPr>
      </p:sp>
      <p:sp>
        <p:nvSpPr>
          <p:cNvPr id="12" name="Shape 10"/>
          <p:cNvSpPr/>
          <p:nvPr/>
        </p:nvSpPr>
        <p:spPr>
          <a:xfrm>
            <a:off x="5230297" y="3724513"/>
            <a:ext cx="4169688" cy="595313"/>
          </a:xfrm>
          <a:prstGeom prst="roundRect">
            <a:avLst>
              <a:gd name="adj" fmla="val 393"/>
            </a:avLst>
          </a:prstGeom>
          <a:solidFill>
            <a:srgbClr val="F2EEEE"/>
          </a:solidFill>
          <a:ln/>
        </p:spPr>
      </p:sp>
      <p:sp>
        <p:nvSpPr>
          <p:cNvPr id="13" name="Text 11"/>
          <p:cNvSpPr/>
          <p:nvPr/>
        </p:nvSpPr>
        <p:spPr>
          <a:xfrm>
            <a:off x="7166253" y="3836075"/>
            <a:ext cx="297656" cy="372070"/>
          </a:xfrm>
          <a:prstGeom prst="rect">
            <a:avLst/>
          </a:prstGeom>
          <a:noFill/>
          <a:ln/>
        </p:spPr>
        <p:txBody>
          <a:bodyPr wrap="none" lIns="0" tIns="0" rIns="0" bIns="0" rtlCol="0" anchor="t"/>
          <a:lstStyle/>
          <a:p>
            <a:pPr algn="l" indent="0" marL="0">
              <a:lnSpc>
                <a:spcPts val="2300"/>
              </a:lnSpc>
              <a:buNone/>
            </a:pPr>
            <a:r>
              <a:rPr lang="en-US" sz="2300" dirty="0">
                <a:solidFill>
                  <a:srgbClr val="4C4C4D"/>
                </a:solidFill>
                <a:latin typeface="Crimson Pro Semi Bold" pitchFamily="34" charset="0"/>
                <a:ea typeface="Crimson Pro Semi Bold" pitchFamily="34" charset="-122"/>
                <a:cs typeface="Crimson Pro Semi Bold" pitchFamily="34" charset="-120"/>
              </a:rPr>
              <a:t>2</a:t>
            </a:r>
            <a:endParaRPr lang="en-US" sz="2300" dirty="0"/>
          </a:p>
        </p:txBody>
      </p:sp>
      <p:sp>
        <p:nvSpPr>
          <p:cNvPr id="14" name="Text 12"/>
          <p:cNvSpPr/>
          <p:nvPr/>
        </p:nvSpPr>
        <p:spPr>
          <a:xfrm>
            <a:off x="5428655" y="451818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Sütten Kesilmiş Hadım</a:t>
            </a:r>
            <a:endParaRPr lang="en-US" sz="1950" dirty="0"/>
          </a:p>
        </p:txBody>
      </p:sp>
      <p:sp>
        <p:nvSpPr>
          <p:cNvPr id="15" name="Text 13"/>
          <p:cNvSpPr/>
          <p:nvPr/>
        </p:nvSpPr>
        <p:spPr>
          <a:xfrm>
            <a:off x="5428655" y="4947404"/>
            <a:ext cx="3772972" cy="127015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Erken testosteron maruziyeti yaşandı, beyin normalde erkeksileşti. Yetişkinlikte testosteron enjeksiyonları saldırganlığı belirgin şekilde artırdı.</a:t>
            </a:r>
            <a:endParaRPr lang="en-US" sz="1550" dirty="0"/>
          </a:p>
        </p:txBody>
      </p:sp>
      <p:sp>
        <p:nvSpPr>
          <p:cNvPr id="16" name="Shape 14"/>
          <p:cNvSpPr/>
          <p:nvPr/>
        </p:nvSpPr>
        <p:spPr>
          <a:xfrm>
            <a:off x="9621203" y="3701653"/>
            <a:ext cx="4215289" cy="2737128"/>
          </a:xfrm>
          <a:prstGeom prst="roundRect">
            <a:avLst>
              <a:gd name="adj" fmla="val 1088"/>
            </a:avLst>
          </a:prstGeom>
          <a:solidFill>
            <a:srgbClr val="FFFFFF"/>
          </a:solidFill>
          <a:ln w="22860">
            <a:solidFill>
              <a:srgbClr val="D8D4D4"/>
            </a:solidFill>
            <a:prstDash val="solid"/>
          </a:ln>
        </p:spPr>
      </p:sp>
      <p:sp>
        <p:nvSpPr>
          <p:cNvPr id="17" name="Shape 15"/>
          <p:cNvSpPr/>
          <p:nvPr/>
        </p:nvSpPr>
        <p:spPr>
          <a:xfrm>
            <a:off x="9644063" y="3724513"/>
            <a:ext cx="4169569" cy="595313"/>
          </a:xfrm>
          <a:prstGeom prst="roundRect">
            <a:avLst>
              <a:gd name="adj" fmla="val 393"/>
            </a:avLst>
          </a:prstGeom>
          <a:solidFill>
            <a:srgbClr val="F2EEEE"/>
          </a:solidFill>
          <a:ln/>
        </p:spPr>
      </p:sp>
      <p:sp>
        <p:nvSpPr>
          <p:cNvPr id="18" name="Text 16"/>
          <p:cNvSpPr/>
          <p:nvPr/>
        </p:nvSpPr>
        <p:spPr>
          <a:xfrm>
            <a:off x="11580019" y="3836075"/>
            <a:ext cx="297656" cy="372070"/>
          </a:xfrm>
          <a:prstGeom prst="rect">
            <a:avLst/>
          </a:prstGeom>
          <a:noFill/>
          <a:ln/>
        </p:spPr>
        <p:txBody>
          <a:bodyPr wrap="none" lIns="0" tIns="0" rIns="0" bIns="0" rtlCol="0" anchor="t"/>
          <a:lstStyle/>
          <a:p>
            <a:pPr algn="l" indent="0" marL="0">
              <a:lnSpc>
                <a:spcPts val="2300"/>
              </a:lnSpc>
              <a:buNone/>
            </a:pPr>
            <a:r>
              <a:rPr lang="en-US" sz="2300" dirty="0">
                <a:solidFill>
                  <a:srgbClr val="4C4C4D"/>
                </a:solidFill>
                <a:latin typeface="Crimson Pro Semi Bold" pitchFamily="34" charset="0"/>
                <a:ea typeface="Crimson Pro Semi Bold" pitchFamily="34" charset="-122"/>
                <a:cs typeface="Crimson Pro Semi Bold" pitchFamily="34" charset="-120"/>
              </a:rPr>
              <a:t>3</a:t>
            </a:r>
            <a:endParaRPr lang="en-US" sz="2300" dirty="0"/>
          </a:p>
        </p:txBody>
      </p:sp>
      <p:sp>
        <p:nvSpPr>
          <p:cNvPr id="19" name="Text 17"/>
          <p:cNvSpPr/>
          <p:nvPr/>
        </p:nvSpPr>
        <p:spPr>
          <a:xfrm>
            <a:off x="9842421" y="451818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Sonuç</a:t>
            </a:r>
            <a:endParaRPr lang="en-US" sz="1950" dirty="0"/>
          </a:p>
        </p:txBody>
      </p:sp>
      <p:sp>
        <p:nvSpPr>
          <p:cNvPr id="20" name="Text 18"/>
          <p:cNvSpPr/>
          <p:nvPr/>
        </p:nvSpPr>
        <p:spPr>
          <a:xfrm>
            <a:off x="9842421" y="4947404"/>
            <a:ext cx="3772853" cy="127015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Yüksek testosteron seviyelerinin saldırganlığı artırması için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erken yaşta normal erkek hormonlarına maruz kalma</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şarttır.</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694611" y="540306"/>
            <a:ext cx="863560" cy="312420"/>
          </a:xfrm>
          <a:prstGeom prst="roundRect">
            <a:avLst>
              <a:gd name="adj" fmla="val 6670"/>
            </a:avLst>
          </a:prstGeom>
          <a:solidFill>
            <a:srgbClr val="CCD7FF"/>
          </a:solidFill>
          <a:ln/>
        </p:spPr>
      </p:sp>
      <p:sp>
        <p:nvSpPr>
          <p:cNvPr id="3" name="Text 1"/>
          <p:cNvSpPr/>
          <p:nvPr/>
        </p:nvSpPr>
        <p:spPr>
          <a:xfrm>
            <a:off x="798790" y="592336"/>
            <a:ext cx="655201" cy="208359"/>
          </a:xfrm>
          <a:prstGeom prst="rect">
            <a:avLst/>
          </a:prstGeom>
          <a:noFill/>
          <a:ln/>
        </p:spPr>
        <p:txBody>
          <a:bodyPr wrap="none" lIns="0" tIns="0" rIns="0" bIns="0" rtlCol="0" anchor="t"/>
          <a:lstStyle/>
          <a:p>
            <a:pPr algn="l" indent="0" marL="0">
              <a:lnSpc>
                <a:spcPts val="1600"/>
              </a:lnSpc>
              <a:buNone/>
            </a:pPr>
            <a:r>
              <a:rPr lang="en-US" sz="1050" dirty="0">
                <a:solidFill>
                  <a:srgbClr val="4C4C4D"/>
                </a:solidFill>
                <a:latin typeface="Heebo" pitchFamily="34" charset="0"/>
                <a:ea typeface="Heebo" pitchFamily="34" charset="-122"/>
                <a:cs typeface="Heebo" pitchFamily="34" charset="-120"/>
              </a:rPr>
              <a:t>FİZYOLOJİ</a:t>
            </a:r>
            <a:endParaRPr lang="en-US" sz="1050" dirty="0"/>
          </a:p>
        </p:txBody>
      </p:sp>
      <p:sp>
        <p:nvSpPr>
          <p:cNvPr id="4" name="Text 2"/>
          <p:cNvSpPr/>
          <p:nvPr/>
        </p:nvSpPr>
        <p:spPr>
          <a:xfrm>
            <a:off x="694611" y="913448"/>
            <a:ext cx="6897410" cy="542687"/>
          </a:xfrm>
          <a:prstGeom prst="rect">
            <a:avLst/>
          </a:prstGeom>
          <a:noFill/>
          <a:ln/>
        </p:spPr>
        <p:txBody>
          <a:bodyPr wrap="none" lIns="0" tIns="0" rIns="0" bIns="0" rtlCol="0" anchor="t"/>
          <a:lstStyle/>
          <a:p>
            <a:pPr algn="l" indent="0" marL="0">
              <a:lnSpc>
                <a:spcPts val="4250"/>
              </a:lnSpc>
              <a:buNone/>
            </a:pPr>
            <a:r>
              <a:rPr lang="en-US" sz="3400" dirty="0">
                <a:solidFill>
                  <a:srgbClr val="152D47"/>
                </a:solidFill>
                <a:latin typeface="Crimson Pro Semi Bold" pitchFamily="34" charset="0"/>
                <a:ea typeface="Crimson Pro Semi Bold" pitchFamily="34" charset="-122"/>
                <a:cs typeface="Crimson Pro Semi Bold" pitchFamily="34" charset="-120"/>
              </a:rPr>
              <a:t>Silah Etkisi: Kleinsmith ve Ark. (2006)</a:t>
            </a:r>
            <a:endParaRPr lang="en-US" sz="3400" dirty="0"/>
          </a:p>
        </p:txBody>
      </p:sp>
      <p:sp>
        <p:nvSpPr>
          <p:cNvPr id="5" name="Shape 3"/>
          <p:cNvSpPr/>
          <p:nvPr/>
        </p:nvSpPr>
        <p:spPr>
          <a:xfrm>
            <a:off x="569595" y="1684020"/>
            <a:ext cx="5975509" cy="6005274"/>
          </a:xfrm>
          <a:prstGeom prst="roundRect">
            <a:avLst>
              <a:gd name="adj" fmla="val 436"/>
            </a:avLst>
          </a:prstGeom>
          <a:solidFill>
            <a:srgbClr val="2150FE"/>
          </a:solidFill>
          <a:ln/>
        </p:spPr>
      </p:sp>
      <p:sp>
        <p:nvSpPr>
          <p:cNvPr id="6" name="Text 4"/>
          <p:cNvSpPr/>
          <p:nvPr/>
        </p:nvSpPr>
        <p:spPr>
          <a:xfrm>
            <a:off x="743188" y="1835944"/>
            <a:ext cx="2170748" cy="271224"/>
          </a:xfrm>
          <a:prstGeom prst="rect">
            <a:avLst/>
          </a:prstGeom>
          <a:noFill/>
          <a:ln/>
        </p:spPr>
        <p:txBody>
          <a:bodyPr wrap="none" lIns="0" tIns="0" rIns="0" bIns="0" rtlCol="0" anchor="t"/>
          <a:lstStyle/>
          <a:p>
            <a:pPr algn="l" indent="0" marL="0">
              <a:lnSpc>
                <a:spcPts val="2100"/>
              </a:lnSpc>
              <a:buNone/>
            </a:pPr>
            <a:r>
              <a:rPr lang="en-US" sz="1700" dirty="0">
                <a:solidFill>
                  <a:srgbClr val="FFFFFF"/>
                </a:solidFill>
                <a:latin typeface="Crimson Pro Semi Bold" pitchFamily="34" charset="0"/>
                <a:ea typeface="Crimson Pro Semi Bold" pitchFamily="34" charset="-122"/>
                <a:cs typeface="Crimson Pro Semi Bold" pitchFamily="34" charset="-120"/>
              </a:rPr>
              <a:t>Deney Tasarımı</a:t>
            </a:r>
            <a:endParaRPr lang="en-US" sz="1700" dirty="0"/>
          </a:p>
        </p:txBody>
      </p:sp>
      <p:sp>
        <p:nvSpPr>
          <p:cNvPr id="7" name="Text 5"/>
          <p:cNvSpPr/>
          <p:nvPr/>
        </p:nvSpPr>
        <p:spPr>
          <a:xfrm>
            <a:off x="743188" y="2259092"/>
            <a:ext cx="5628323" cy="1042035"/>
          </a:xfrm>
          <a:prstGeom prst="rect">
            <a:avLst/>
          </a:prstGeom>
          <a:noFill/>
          <a:ln/>
        </p:spPr>
        <p:txBody>
          <a:bodyPr wrap="square" lIns="0" tIns="0" rIns="0" bIns="0" rtlCol="0" anchor="t"/>
          <a:lstStyle/>
          <a:p>
            <a:pPr algn="l" indent="0" marL="0">
              <a:lnSpc>
                <a:spcPts val="2050"/>
              </a:lnSpc>
              <a:buNone/>
            </a:pPr>
            <a:r>
              <a:rPr lang="en-US" sz="1350" dirty="0">
                <a:solidFill>
                  <a:srgbClr val="FFFFFF"/>
                </a:solidFill>
                <a:latin typeface="Heebo" pitchFamily="34" charset="0"/>
                <a:ea typeface="Heebo" pitchFamily="34" charset="-122"/>
                <a:cs typeface="Heebo" pitchFamily="34" charset="-120"/>
              </a:rPr>
              <a:t>Erkek katılımcılara ya Desert Eagle tabancasının modeli (havalı tüfek) ya da Mousetrap oyunu verildi. Görev öncesi ve sonrası tükürük örnekleriyle testosteron ölçüldü. Ardından katılımcılar bir sonraki kişi için acı sos miktarı belirledi.</a:t>
            </a:r>
            <a:endParaRPr lang="en-US" sz="1350" dirty="0"/>
          </a:p>
        </p:txBody>
      </p:sp>
      <p:sp>
        <p:nvSpPr>
          <p:cNvPr id="8" name="Text 6"/>
          <p:cNvSpPr/>
          <p:nvPr/>
        </p:nvSpPr>
        <p:spPr>
          <a:xfrm>
            <a:off x="6851333" y="1835944"/>
            <a:ext cx="2170748" cy="271224"/>
          </a:xfrm>
          <a:prstGeom prst="rect">
            <a:avLst/>
          </a:prstGeom>
          <a:noFill/>
          <a:ln/>
        </p:spPr>
        <p:txBody>
          <a:bodyPr wrap="none" lIns="0" tIns="0" rIns="0" bIns="0" rtlCol="0" anchor="t"/>
          <a:lstStyle/>
          <a:p>
            <a:pPr algn="l" indent="0" marL="0">
              <a:lnSpc>
                <a:spcPts val="2100"/>
              </a:lnSpc>
              <a:buNone/>
            </a:pPr>
            <a:r>
              <a:rPr lang="en-US" sz="1700" dirty="0">
                <a:solidFill>
                  <a:srgbClr val="152D47"/>
                </a:solidFill>
                <a:latin typeface="Crimson Pro Semi Bold" pitchFamily="34" charset="0"/>
                <a:ea typeface="Crimson Pro Semi Bold" pitchFamily="34" charset="-122"/>
                <a:cs typeface="Crimson Pro Semi Bold" pitchFamily="34" charset="-120"/>
              </a:rPr>
              <a:t>Çarpıcı Bulgular</a:t>
            </a:r>
            <a:endParaRPr lang="en-US" sz="1700" dirty="0"/>
          </a:p>
        </p:txBody>
      </p:sp>
      <p:sp>
        <p:nvSpPr>
          <p:cNvPr id="9" name="Text 7"/>
          <p:cNvSpPr/>
          <p:nvPr/>
        </p:nvSpPr>
        <p:spPr>
          <a:xfrm>
            <a:off x="6851333" y="2364819"/>
            <a:ext cx="7091958" cy="573048"/>
          </a:xfrm>
          <a:prstGeom prst="rect">
            <a:avLst/>
          </a:prstGeom>
          <a:noFill/>
          <a:ln/>
        </p:spPr>
        <p:txBody>
          <a:bodyPr wrap="none" lIns="0" tIns="0" rIns="0" bIns="0" rtlCol="0" anchor="t"/>
          <a:lstStyle/>
          <a:p>
            <a:pPr algn="ctr" indent="0" marL="0">
              <a:lnSpc>
                <a:spcPts val="4500"/>
              </a:lnSpc>
              <a:buNone/>
            </a:pPr>
            <a:r>
              <a:rPr lang="en-US" sz="4500" dirty="0">
                <a:solidFill>
                  <a:srgbClr val="4C4C4D"/>
                </a:solidFill>
                <a:latin typeface="Crimson Pro Semi Bold" pitchFamily="34" charset="0"/>
                <a:ea typeface="Crimson Pro Semi Bold" pitchFamily="34" charset="-122"/>
                <a:cs typeface="Crimson Pro Semi Bold" pitchFamily="34" charset="-120"/>
              </a:rPr>
              <a:t>62</a:t>
            </a:r>
            <a:endParaRPr lang="en-US" sz="4500" dirty="0"/>
          </a:p>
        </p:txBody>
      </p:sp>
      <p:sp>
        <p:nvSpPr>
          <p:cNvPr id="10" name="Text 8"/>
          <p:cNvSpPr/>
          <p:nvPr/>
        </p:nvSpPr>
        <p:spPr>
          <a:xfrm>
            <a:off x="9311878" y="3138607"/>
            <a:ext cx="2170748" cy="271224"/>
          </a:xfrm>
          <a:prstGeom prst="rect">
            <a:avLst/>
          </a:prstGeom>
          <a:noFill/>
          <a:ln/>
        </p:spPr>
        <p:txBody>
          <a:bodyPr wrap="none" lIns="0" tIns="0" rIns="0" bIns="0" rtlCol="0" anchor="t"/>
          <a:lstStyle/>
          <a:p>
            <a:pPr algn="ctr" indent="0" marL="0">
              <a:lnSpc>
                <a:spcPts val="2100"/>
              </a:lnSpc>
              <a:buNone/>
            </a:pPr>
            <a:r>
              <a:rPr lang="en-US" sz="1700" dirty="0">
                <a:solidFill>
                  <a:srgbClr val="4C4C4D"/>
                </a:solidFill>
                <a:latin typeface="Crimson Pro Semi Bold" pitchFamily="34" charset="0"/>
                <a:ea typeface="Crimson Pro Semi Bold" pitchFamily="34" charset="-122"/>
                <a:cs typeface="Crimson Pro Semi Bold" pitchFamily="34" charset="-120"/>
              </a:rPr>
              <a:t>pg/ml</a:t>
            </a:r>
            <a:endParaRPr lang="en-US" sz="1700" dirty="0"/>
          </a:p>
        </p:txBody>
      </p:sp>
      <p:sp>
        <p:nvSpPr>
          <p:cNvPr id="11" name="Text 9"/>
          <p:cNvSpPr/>
          <p:nvPr/>
        </p:nvSpPr>
        <p:spPr>
          <a:xfrm>
            <a:off x="6851333" y="3561755"/>
            <a:ext cx="7091958" cy="260509"/>
          </a:xfrm>
          <a:prstGeom prst="rect">
            <a:avLst/>
          </a:prstGeom>
          <a:noFill/>
          <a:ln/>
        </p:spPr>
        <p:txBody>
          <a:bodyPr wrap="none" lIns="0" tIns="0" rIns="0" bIns="0" rtlCol="0" anchor="t"/>
          <a:lstStyle/>
          <a:p>
            <a:pPr algn="ctr" indent="0" marL="0">
              <a:lnSpc>
                <a:spcPts val="2050"/>
              </a:lnSpc>
              <a:buNone/>
            </a:pPr>
            <a:r>
              <a:rPr lang="en-US" sz="1350" dirty="0">
                <a:solidFill>
                  <a:srgbClr val="4C4C4D"/>
                </a:solidFill>
                <a:latin typeface="Heebo" pitchFamily="34" charset="0"/>
                <a:ea typeface="Heebo" pitchFamily="34" charset="-122"/>
                <a:cs typeface="Heebo" pitchFamily="34" charset="-120"/>
              </a:rPr>
              <a:t>Silah tutan grupta ortalama testosteron artışı</a:t>
            </a:r>
            <a:endParaRPr lang="en-US" sz="1350" dirty="0"/>
          </a:p>
        </p:txBody>
      </p:sp>
      <p:sp>
        <p:nvSpPr>
          <p:cNvPr id="12" name="Text 10"/>
          <p:cNvSpPr/>
          <p:nvPr/>
        </p:nvSpPr>
        <p:spPr>
          <a:xfrm>
            <a:off x="6851333" y="4212907"/>
            <a:ext cx="7091958" cy="573048"/>
          </a:xfrm>
          <a:prstGeom prst="rect">
            <a:avLst/>
          </a:prstGeom>
          <a:noFill/>
          <a:ln/>
        </p:spPr>
        <p:txBody>
          <a:bodyPr wrap="none" lIns="0" tIns="0" rIns="0" bIns="0" rtlCol="0" anchor="t"/>
          <a:lstStyle/>
          <a:p>
            <a:pPr algn="ctr" indent="0" marL="0">
              <a:lnSpc>
                <a:spcPts val="4500"/>
              </a:lnSpc>
              <a:buNone/>
            </a:pPr>
            <a:r>
              <a:rPr lang="en-US" sz="4500" dirty="0">
                <a:solidFill>
                  <a:srgbClr val="4C4C4D"/>
                </a:solidFill>
                <a:latin typeface="Crimson Pro Semi Bold" pitchFamily="34" charset="0"/>
                <a:ea typeface="Crimson Pro Semi Bold" pitchFamily="34" charset="-122"/>
                <a:cs typeface="Crimson Pro Semi Bold" pitchFamily="34" charset="-120"/>
              </a:rPr>
              <a:t>13.6</a:t>
            </a:r>
            <a:endParaRPr lang="en-US" sz="4500" dirty="0"/>
          </a:p>
        </p:txBody>
      </p:sp>
      <p:sp>
        <p:nvSpPr>
          <p:cNvPr id="13" name="Text 11"/>
          <p:cNvSpPr/>
          <p:nvPr/>
        </p:nvSpPr>
        <p:spPr>
          <a:xfrm>
            <a:off x="9311878" y="4986695"/>
            <a:ext cx="2170748" cy="271224"/>
          </a:xfrm>
          <a:prstGeom prst="rect">
            <a:avLst/>
          </a:prstGeom>
          <a:noFill/>
          <a:ln/>
        </p:spPr>
        <p:txBody>
          <a:bodyPr wrap="none" lIns="0" tIns="0" rIns="0" bIns="0" rtlCol="0" anchor="t"/>
          <a:lstStyle/>
          <a:p>
            <a:pPr algn="ctr" indent="0" marL="0">
              <a:lnSpc>
                <a:spcPts val="2100"/>
              </a:lnSpc>
              <a:buNone/>
            </a:pPr>
            <a:r>
              <a:rPr lang="en-US" sz="1700" dirty="0">
                <a:solidFill>
                  <a:srgbClr val="4C4C4D"/>
                </a:solidFill>
                <a:latin typeface="Crimson Pro Semi Bold" pitchFamily="34" charset="0"/>
                <a:ea typeface="Crimson Pro Semi Bold" pitchFamily="34" charset="-122"/>
                <a:cs typeface="Crimson Pro Semi Bold" pitchFamily="34" charset="-120"/>
              </a:rPr>
              <a:t>gram</a:t>
            </a:r>
            <a:endParaRPr lang="en-US" sz="1700" dirty="0"/>
          </a:p>
        </p:txBody>
      </p:sp>
      <p:sp>
        <p:nvSpPr>
          <p:cNvPr id="14" name="Text 12"/>
          <p:cNvSpPr/>
          <p:nvPr/>
        </p:nvSpPr>
        <p:spPr>
          <a:xfrm>
            <a:off x="6851333" y="5409843"/>
            <a:ext cx="7091958" cy="260509"/>
          </a:xfrm>
          <a:prstGeom prst="rect">
            <a:avLst/>
          </a:prstGeom>
          <a:noFill/>
          <a:ln/>
        </p:spPr>
        <p:txBody>
          <a:bodyPr wrap="none" lIns="0" tIns="0" rIns="0" bIns="0" rtlCol="0" anchor="t"/>
          <a:lstStyle/>
          <a:p>
            <a:pPr algn="ctr" indent="0" marL="0">
              <a:lnSpc>
                <a:spcPts val="2050"/>
              </a:lnSpc>
              <a:buNone/>
            </a:pPr>
            <a:r>
              <a:rPr lang="en-US" sz="1350" dirty="0">
                <a:solidFill>
                  <a:srgbClr val="4C4C4D"/>
                </a:solidFill>
                <a:latin typeface="Heebo" pitchFamily="34" charset="0"/>
                <a:ea typeface="Heebo" pitchFamily="34" charset="-122"/>
                <a:cs typeface="Heebo" pitchFamily="34" charset="-120"/>
              </a:rPr>
              <a:t>Silah grubunun eklediği ortalama acı sos miktarı</a:t>
            </a:r>
            <a:endParaRPr lang="en-US" sz="1350" dirty="0"/>
          </a:p>
        </p:txBody>
      </p:sp>
      <p:sp>
        <p:nvSpPr>
          <p:cNvPr id="15" name="Text 13"/>
          <p:cNvSpPr/>
          <p:nvPr/>
        </p:nvSpPr>
        <p:spPr>
          <a:xfrm>
            <a:off x="6851333" y="6060996"/>
            <a:ext cx="7091958" cy="573048"/>
          </a:xfrm>
          <a:prstGeom prst="rect">
            <a:avLst/>
          </a:prstGeom>
          <a:noFill/>
          <a:ln/>
        </p:spPr>
        <p:txBody>
          <a:bodyPr wrap="none" lIns="0" tIns="0" rIns="0" bIns="0" rtlCol="0" anchor="t"/>
          <a:lstStyle/>
          <a:p>
            <a:pPr algn="ctr" indent="0" marL="0">
              <a:lnSpc>
                <a:spcPts val="4500"/>
              </a:lnSpc>
              <a:buNone/>
            </a:pPr>
            <a:r>
              <a:rPr lang="en-US" sz="4500" dirty="0">
                <a:solidFill>
                  <a:srgbClr val="4C4C4D"/>
                </a:solidFill>
                <a:latin typeface="Crimson Pro Semi Bold" pitchFamily="34" charset="0"/>
                <a:ea typeface="Crimson Pro Semi Bold" pitchFamily="34" charset="-122"/>
                <a:cs typeface="Crimson Pro Semi Bold" pitchFamily="34" charset="-120"/>
              </a:rPr>
              <a:t>4.2</a:t>
            </a:r>
            <a:endParaRPr lang="en-US" sz="4500" dirty="0"/>
          </a:p>
        </p:txBody>
      </p:sp>
      <p:sp>
        <p:nvSpPr>
          <p:cNvPr id="16" name="Text 14"/>
          <p:cNvSpPr/>
          <p:nvPr/>
        </p:nvSpPr>
        <p:spPr>
          <a:xfrm>
            <a:off x="9311878" y="6834783"/>
            <a:ext cx="2170748" cy="271224"/>
          </a:xfrm>
          <a:prstGeom prst="rect">
            <a:avLst/>
          </a:prstGeom>
          <a:noFill/>
          <a:ln/>
        </p:spPr>
        <p:txBody>
          <a:bodyPr wrap="none" lIns="0" tIns="0" rIns="0" bIns="0" rtlCol="0" anchor="t"/>
          <a:lstStyle/>
          <a:p>
            <a:pPr algn="ctr" indent="0" marL="0">
              <a:lnSpc>
                <a:spcPts val="2100"/>
              </a:lnSpc>
              <a:buNone/>
            </a:pPr>
            <a:r>
              <a:rPr lang="en-US" sz="1700" dirty="0">
                <a:solidFill>
                  <a:srgbClr val="4C4C4D"/>
                </a:solidFill>
                <a:latin typeface="Crimson Pro Semi Bold" pitchFamily="34" charset="0"/>
                <a:ea typeface="Crimson Pro Semi Bold" pitchFamily="34" charset="-122"/>
                <a:cs typeface="Crimson Pro Semi Bold" pitchFamily="34" charset="-120"/>
              </a:rPr>
              <a:t>gram</a:t>
            </a:r>
            <a:endParaRPr lang="en-US" sz="1700" dirty="0"/>
          </a:p>
        </p:txBody>
      </p:sp>
      <p:sp>
        <p:nvSpPr>
          <p:cNvPr id="17" name="Text 15"/>
          <p:cNvSpPr/>
          <p:nvPr/>
        </p:nvSpPr>
        <p:spPr>
          <a:xfrm>
            <a:off x="6851333" y="7257931"/>
            <a:ext cx="7091958" cy="260509"/>
          </a:xfrm>
          <a:prstGeom prst="rect">
            <a:avLst/>
          </a:prstGeom>
          <a:noFill/>
          <a:ln/>
        </p:spPr>
        <p:txBody>
          <a:bodyPr wrap="none" lIns="0" tIns="0" rIns="0" bIns="0" rtlCol="0" anchor="t"/>
          <a:lstStyle/>
          <a:p>
            <a:pPr algn="ctr" indent="0" marL="0">
              <a:lnSpc>
                <a:spcPts val="2050"/>
              </a:lnSpc>
              <a:buNone/>
            </a:pPr>
            <a:r>
              <a:rPr lang="en-US" sz="1350" dirty="0">
                <a:solidFill>
                  <a:srgbClr val="4C4C4D"/>
                </a:solidFill>
                <a:latin typeface="Heebo" pitchFamily="34" charset="0"/>
                <a:ea typeface="Heebo" pitchFamily="34" charset="-122"/>
                <a:cs typeface="Heebo" pitchFamily="34" charset="-120"/>
              </a:rPr>
              <a:t>Oyun grubunun eklediği ortalama acı sos miktarı</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793790" y="1796296"/>
            <a:ext cx="987147" cy="373142"/>
          </a:xfrm>
          <a:prstGeom prst="roundRect">
            <a:avLst>
              <a:gd name="adj" fmla="val 6383"/>
            </a:avLst>
          </a:prstGeom>
          <a:solidFill>
            <a:srgbClr val="CCD7FF"/>
          </a:solidFill>
          <a:ln/>
        </p:spPr>
      </p:sp>
      <p:sp>
        <p:nvSpPr>
          <p:cNvPr id="3" name="Text 1"/>
          <p:cNvSpPr/>
          <p:nvPr/>
        </p:nvSpPr>
        <p:spPr>
          <a:xfrm>
            <a:off x="912852" y="1855827"/>
            <a:ext cx="749022" cy="254079"/>
          </a:xfrm>
          <a:prstGeom prst="rect">
            <a:avLst/>
          </a:prstGeom>
          <a:noFill/>
          <a:ln/>
        </p:spPr>
        <p:txBody>
          <a:bodyPr wrap="none" lIns="0" tIns="0" rIns="0" bIns="0" rtlCol="0" anchor="t"/>
          <a:lstStyle/>
          <a:p>
            <a:pPr algn="l" indent="0" marL="0">
              <a:lnSpc>
                <a:spcPts val="2000"/>
              </a:lnSpc>
              <a:buNone/>
            </a:pPr>
            <a:r>
              <a:rPr lang="en-US" sz="1250" dirty="0">
                <a:solidFill>
                  <a:srgbClr val="4C4C4D"/>
                </a:solidFill>
                <a:latin typeface="Heebo" pitchFamily="34" charset="0"/>
                <a:ea typeface="Heebo" pitchFamily="34" charset="-122"/>
                <a:cs typeface="Heebo" pitchFamily="34" charset="-120"/>
              </a:rPr>
              <a:t>FİZYOLOJİ</a:t>
            </a:r>
            <a:endParaRPr lang="en-US" sz="1250" dirty="0"/>
          </a:p>
        </p:txBody>
      </p:sp>
      <p:sp>
        <p:nvSpPr>
          <p:cNvPr id="4" name="Text 2"/>
          <p:cNvSpPr/>
          <p:nvPr/>
        </p:nvSpPr>
        <p:spPr>
          <a:xfrm>
            <a:off x="793790" y="2248733"/>
            <a:ext cx="7766685" cy="620078"/>
          </a:xfrm>
          <a:prstGeom prst="rect">
            <a:avLst/>
          </a:prstGeom>
          <a:noFill/>
          <a:ln/>
        </p:spPr>
        <p:txBody>
          <a:bodyPr wrap="none" lIns="0" tIns="0" rIns="0" bIns="0" rtlCol="0" anchor="t"/>
          <a:lstStyle/>
          <a:p>
            <a:pPr algn="l" indent="0" marL="0">
              <a:lnSpc>
                <a:spcPts val="4850"/>
              </a:lnSpc>
              <a:buNone/>
            </a:pPr>
            <a:r>
              <a:rPr lang="en-US" sz="3900" dirty="0">
                <a:solidFill>
                  <a:srgbClr val="152D47"/>
                </a:solidFill>
                <a:latin typeface="Crimson Pro Semi Bold" pitchFamily="34" charset="0"/>
                <a:ea typeface="Crimson Pro Semi Bold" pitchFamily="34" charset="-122"/>
                <a:cs typeface="Crimson Pro Semi Bold" pitchFamily="34" charset="-120"/>
              </a:rPr>
              <a:t>Dişi Saldırganlığı ve Hormonal Etkiler</a:t>
            </a:r>
            <a:endParaRPr lang="en-US" sz="3900" dirty="0"/>
          </a:p>
        </p:txBody>
      </p:sp>
      <p:sp>
        <p:nvSpPr>
          <p:cNvPr id="5" name="Text 3"/>
          <p:cNvSpPr/>
          <p:nvPr/>
        </p:nvSpPr>
        <p:spPr>
          <a:xfrm>
            <a:off x="793790" y="3364825"/>
            <a:ext cx="3013948" cy="310158"/>
          </a:xfrm>
          <a:prstGeom prst="rect">
            <a:avLst/>
          </a:prstGeom>
          <a:noFill/>
          <a:ln/>
        </p:spPr>
        <p:txBody>
          <a:bodyPr wrap="none" lIns="0" tIns="0" rIns="0" bIns="0" rtlCol="0" anchor="t"/>
          <a:lstStyle/>
          <a:p>
            <a:pPr algn="l" indent="0" marL="0">
              <a:lnSpc>
                <a:spcPts val="2400"/>
              </a:lnSpc>
              <a:buNone/>
            </a:pPr>
            <a:r>
              <a:rPr lang="en-US" sz="1950" dirty="0">
                <a:solidFill>
                  <a:srgbClr val="152D47"/>
                </a:solidFill>
                <a:latin typeface="Crimson Pro Semi Bold" pitchFamily="34" charset="0"/>
                <a:ea typeface="Crimson Pro Semi Bold" pitchFamily="34" charset="-122"/>
                <a:cs typeface="Crimson Pro Semi Bold" pitchFamily="34" charset="-120"/>
              </a:rPr>
              <a:t>Albert ve Ark. (1989b) Deneyi</a:t>
            </a:r>
            <a:endParaRPr lang="en-US" sz="1950" dirty="0"/>
          </a:p>
        </p:txBody>
      </p:sp>
      <p:sp>
        <p:nvSpPr>
          <p:cNvPr id="6" name="Text 4"/>
          <p:cNvSpPr/>
          <p:nvPr/>
        </p:nvSpPr>
        <p:spPr>
          <a:xfrm>
            <a:off x="793790" y="3873341"/>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Bazı dişi sıçanların yumurtalıkları çıkarıldı, bazılarının çıkarılmadı. Sıçanlar kısır ama cinsel olarak aktif bir erkekle tutuldu. Haftalık olarak kafese yabancı bir dişi sokuldu.</a:t>
            </a:r>
            <a:endParaRPr lang="en-US" sz="1550" dirty="0"/>
          </a:p>
        </p:txBody>
      </p:sp>
      <p:sp>
        <p:nvSpPr>
          <p:cNvPr id="7" name="Text 5"/>
          <p:cNvSpPr/>
          <p:nvPr/>
        </p:nvSpPr>
        <p:spPr>
          <a:xfrm>
            <a:off x="793790" y="5004554"/>
            <a:ext cx="6279356" cy="952619"/>
          </a:xfrm>
          <a:prstGeom prst="rect">
            <a:avLst/>
          </a:prstGeom>
          <a:noFill/>
          <a:ln/>
        </p:spPr>
        <p:txBody>
          <a:bodyPr wrap="square" lIns="0" tIns="0" rIns="0" bIns="0" rtlCol="0" anchor="t"/>
          <a:lstStyle/>
          <a:p>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Bulgu:</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Yumurtalıkları çıkarılan dişiler, yabancı dişiye karşı daha az saldırganlık gösterdi. Bu, dişi sıçanlar arasındaki saldırganlıkta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dişi hormonlarının rolü</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olduğuna işaret etmektedir.</a:t>
            </a:r>
            <a:endParaRPr lang="en-US" sz="1550" dirty="0"/>
          </a:p>
        </p:txBody>
      </p:sp>
      <p:sp>
        <p:nvSpPr>
          <p:cNvPr id="8" name="Text 6"/>
          <p:cNvSpPr/>
          <p:nvPr/>
        </p:nvSpPr>
        <p:spPr>
          <a:xfrm>
            <a:off x="7564874" y="3364825"/>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52D47"/>
                </a:solidFill>
                <a:latin typeface="Crimson Pro Semi Bold" pitchFamily="34" charset="0"/>
                <a:ea typeface="Crimson Pro Semi Bold" pitchFamily="34" charset="-122"/>
                <a:cs typeface="Crimson Pro Semi Bold" pitchFamily="34" charset="-120"/>
              </a:rPr>
              <a:t>Genel Çıkarım</a:t>
            </a:r>
            <a:endParaRPr lang="en-US" sz="1950" dirty="0"/>
          </a:p>
        </p:txBody>
      </p:sp>
      <p:sp>
        <p:nvSpPr>
          <p:cNvPr id="9" name="Text 7"/>
          <p:cNvSpPr/>
          <p:nvPr/>
        </p:nvSpPr>
        <p:spPr>
          <a:xfrm>
            <a:off x="7564874" y="3873341"/>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Hem erkek hem de dişi hayvanlarda hormonal sistemler saldırganlığı aracılık etmektedir. Ancak bu etki hiçbir zaman tek başına değil, sosyal bağlam ve durumsal faktörlerle birlikte işler.</a:t>
            </a:r>
            <a:endParaRPr lang="en-US" sz="1550" dirty="0"/>
          </a:p>
        </p:txBody>
      </p:sp>
      <p:sp>
        <p:nvSpPr>
          <p:cNvPr id="10" name="Shape 8"/>
          <p:cNvSpPr/>
          <p:nvPr/>
        </p:nvSpPr>
        <p:spPr>
          <a:xfrm>
            <a:off x="7564874" y="5049203"/>
            <a:ext cx="6279356" cy="1160740"/>
          </a:xfrm>
          <a:prstGeom prst="roundRect">
            <a:avLst>
              <a:gd name="adj" fmla="val 2565"/>
            </a:avLst>
          </a:prstGeom>
          <a:solidFill>
            <a:srgbClr val="B6D6FC"/>
          </a:solidFill>
          <a:ln/>
        </p:spPr>
      </p:sp>
      <p:pic>
        <p:nvPicPr>
          <p:cNvPr id="11" name="Image 0" descr="preencoded.png">    </p:cNvPr>
          <p:cNvPicPr>
            <a:picLocks noChangeAspect="1"/>
          </p:cNvPicPr>
          <p:nvPr/>
        </p:nvPicPr>
        <p:blipFill>
          <a:blip r:embed="rId1"/>
          <a:stretch>
            <a:fillRect/>
          </a:stretch>
        </p:blipFill>
        <p:spPr>
          <a:xfrm>
            <a:off x="7763232" y="5336858"/>
            <a:ext cx="248007" cy="198358"/>
          </a:xfrm>
          <a:prstGeom prst="rect">
            <a:avLst/>
          </a:prstGeom>
        </p:spPr>
      </p:pic>
      <p:sp>
        <p:nvSpPr>
          <p:cNvPr id="12" name="Text 9"/>
          <p:cNvSpPr/>
          <p:nvPr/>
        </p:nvSpPr>
        <p:spPr>
          <a:xfrm>
            <a:off x="8209598" y="5297091"/>
            <a:ext cx="5436275"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Heebo" pitchFamily="34" charset="0"/>
                <a:ea typeface="Heebo" pitchFamily="34" charset="-122"/>
                <a:cs typeface="Heebo" pitchFamily="34" charset="-120"/>
              </a:rPr>
              <a:t>Saldırganlık fizyolojisi, biyoloji ile çevre arasındaki karmaşık etkileşimin ürünüdür.</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793790" y="1619964"/>
            <a:ext cx="1978581" cy="373142"/>
          </a:xfrm>
          <a:prstGeom prst="roundRect">
            <a:avLst>
              <a:gd name="adj" fmla="val 6383"/>
            </a:avLst>
          </a:prstGeom>
          <a:solidFill>
            <a:srgbClr val="CCD7FF"/>
          </a:solidFill>
          <a:ln/>
        </p:spPr>
      </p:sp>
      <p:sp>
        <p:nvSpPr>
          <p:cNvPr id="3" name="Text 1"/>
          <p:cNvSpPr/>
          <p:nvPr/>
        </p:nvSpPr>
        <p:spPr>
          <a:xfrm>
            <a:off x="912852" y="1679496"/>
            <a:ext cx="1740456" cy="254079"/>
          </a:xfrm>
          <a:prstGeom prst="rect">
            <a:avLst/>
          </a:prstGeom>
          <a:noFill/>
          <a:ln/>
        </p:spPr>
        <p:txBody>
          <a:bodyPr wrap="none" lIns="0" tIns="0" rIns="0" bIns="0" rtlCol="0" anchor="t"/>
          <a:lstStyle/>
          <a:p>
            <a:pPr algn="l" indent="0" marL="0">
              <a:lnSpc>
                <a:spcPts val="2000"/>
              </a:lnSpc>
              <a:buNone/>
            </a:pPr>
            <a:r>
              <a:rPr lang="en-US" sz="1250" dirty="0">
                <a:solidFill>
                  <a:srgbClr val="4C4C4D"/>
                </a:solidFill>
                <a:latin typeface="Heebo" pitchFamily="34" charset="0"/>
                <a:ea typeface="Heebo" pitchFamily="34" charset="-122"/>
                <a:cs typeface="Heebo" pitchFamily="34" charset="-120"/>
              </a:rPr>
              <a:t>ALKOL &amp; SALDIRGANLIK</a:t>
            </a:r>
            <a:endParaRPr lang="en-US" sz="1250" dirty="0"/>
          </a:p>
        </p:txBody>
      </p:sp>
      <p:sp>
        <p:nvSpPr>
          <p:cNvPr id="4" name="Text 2"/>
          <p:cNvSpPr/>
          <p:nvPr/>
        </p:nvSpPr>
        <p:spPr>
          <a:xfrm>
            <a:off x="793790" y="2072402"/>
            <a:ext cx="6514267" cy="620078"/>
          </a:xfrm>
          <a:prstGeom prst="rect">
            <a:avLst/>
          </a:prstGeom>
          <a:noFill/>
          <a:ln/>
        </p:spPr>
        <p:txBody>
          <a:bodyPr wrap="none" lIns="0" tIns="0" rIns="0" bIns="0" rtlCol="0" anchor="t"/>
          <a:lstStyle/>
          <a:p>
            <a:pPr algn="l" indent="0" marL="0">
              <a:lnSpc>
                <a:spcPts val="4850"/>
              </a:lnSpc>
              <a:buNone/>
            </a:pPr>
            <a:r>
              <a:rPr lang="en-US" sz="3900" dirty="0">
                <a:solidFill>
                  <a:srgbClr val="152D47"/>
                </a:solidFill>
                <a:latin typeface="Crimson Pro Semi Bold" pitchFamily="34" charset="0"/>
                <a:ea typeface="Crimson Pro Semi Bold" pitchFamily="34" charset="-122"/>
                <a:cs typeface="Crimson Pro Semi Bold" pitchFamily="34" charset="-120"/>
              </a:rPr>
              <a:t>Alkol Saldırganlığı Nasıl Artırır?</a:t>
            </a:r>
            <a:endParaRPr lang="en-US" sz="3900" dirty="0"/>
          </a:p>
        </p:txBody>
      </p:sp>
      <p:sp>
        <p:nvSpPr>
          <p:cNvPr id="5" name="Text 3"/>
          <p:cNvSpPr/>
          <p:nvPr/>
        </p:nvSpPr>
        <p:spPr>
          <a:xfrm>
            <a:off x="793790" y="2990136"/>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Alkol tüketimi ve saldırganlık arasında güçlü bir bağlantı olduğunu gösteren bol miktarda kanıt vardır (Bushman &amp; Cooper, 1990; Quigley &amp; Leonard, 1999).</a:t>
            </a:r>
            <a:endParaRPr lang="en-US" sz="155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3790" y="3848457"/>
            <a:ext cx="496133" cy="496133"/>
          </a:xfrm>
          <a:prstGeom prst="rect">
            <a:avLst/>
          </a:prstGeom>
        </p:spPr>
      </p:pic>
      <p:sp>
        <p:nvSpPr>
          <p:cNvPr id="7" name="Text 4"/>
          <p:cNvSpPr/>
          <p:nvPr/>
        </p:nvSpPr>
        <p:spPr>
          <a:xfrm>
            <a:off x="793790" y="459259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Farmakolojik Etkiler</a:t>
            </a:r>
            <a:endParaRPr lang="en-US" sz="1950" dirty="0"/>
          </a:p>
        </p:txBody>
      </p:sp>
      <p:sp>
        <p:nvSpPr>
          <p:cNvPr id="8" name="Text 5"/>
          <p:cNvSpPr/>
          <p:nvPr/>
        </p:nvSpPr>
        <p:spPr>
          <a:xfrm>
            <a:off x="793790" y="5021818"/>
            <a:ext cx="4182189" cy="1587698"/>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Alkol tepki süresini düşürür, muhakemeyi bozar, motor koordinasyonu zayıflatır. Dışsal ipuçlarına odaklanmayı artırırken içsel ipuçlarına (risk ve sonuç düşünceleri) odaklanmayı azaltır.</a:t>
            </a:r>
            <a:endParaRPr lang="en-US" sz="155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23986" y="3848457"/>
            <a:ext cx="496133" cy="496133"/>
          </a:xfrm>
          <a:prstGeom prst="rect">
            <a:avLst/>
          </a:prstGeom>
        </p:spPr>
      </p:pic>
      <p:sp>
        <p:nvSpPr>
          <p:cNvPr id="10" name="Text 6"/>
          <p:cNvSpPr/>
          <p:nvPr/>
        </p:nvSpPr>
        <p:spPr>
          <a:xfrm>
            <a:off x="5223986" y="4592598"/>
            <a:ext cx="3853577"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Engelleyici Merkezlerin Baskılanması</a:t>
            </a:r>
            <a:endParaRPr lang="en-US" sz="1950" dirty="0"/>
          </a:p>
        </p:txBody>
      </p:sp>
      <p:sp>
        <p:nvSpPr>
          <p:cNvPr id="11" name="Text 7"/>
          <p:cNvSpPr/>
          <p:nvPr/>
        </p:nvSpPr>
        <p:spPr>
          <a:xfrm>
            <a:off x="5223986" y="5021818"/>
            <a:ext cx="4182308" cy="127015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Alkol başlangıçta engelleyici beyin merkezlerini baskılar; kişi daha sosyal ve iddialı hale gelir. Daha fazla tüketimle sinirlilik ve düşmanlık artar (Insel &amp; Roth, 1994).</a:t>
            </a:r>
            <a:endParaRPr lang="en-US" sz="155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54302" y="3848457"/>
            <a:ext cx="496133" cy="496133"/>
          </a:xfrm>
          <a:prstGeom prst="rect">
            <a:avLst/>
          </a:prstGeom>
        </p:spPr>
      </p:pic>
      <p:sp>
        <p:nvSpPr>
          <p:cNvPr id="13" name="Text 8"/>
          <p:cNvSpPr/>
          <p:nvPr/>
        </p:nvSpPr>
        <p:spPr>
          <a:xfrm>
            <a:off x="9654302" y="459259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Serotonin Düşüşü</a:t>
            </a:r>
            <a:endParaRPr lang="en-US" sz="1950" dirty="0"/>
          </a:p>
        </p:txBody>
      </p:sp>
      <p:sp>
        <p:nvSpPr>
          <p:cNvPr id="14" name="Text 9"/>
          <p:cNvSpPr/>
          <p:nvPr/>
        </p:nvSpPr>
        <p:spPr>
          <a:xfrm>
            <a:off x="9654302" y="5021818"/>
            <a:ext cx="4182308" cy="1587698"/>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Alkol, beyin serotonin miktarında önemli bir düşüşle ilişkilidir. Serotonin normalde tehdit altında kaygı aracılığıyla antisosyal davranışları engeller; düşünce bu engeli kaldırır (Pihl &amp; Lemarquand, 1998).</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793790" y="2050375"/>
            <a:ext cx="1978581" cy="373142"/>
          </a:xfrm>
          <a:prstGeom prst="roundRect">
            <a:avLst>
              <a:gd name="adj" fmla="val 6383"/>
            </a:avLst>
          </a:prstGeom>
          <a:solidFill>
            <a:srgbClr val="CCD7FF"/>
          </a:solidFill>
          <a:ln/>
        </p:spPr>
      </p:sp>
      <p:sp>
        <p:nvSpPr>
          <p:cNvPr id="3" name="Text 1"/>
          <p:cNvSpPr/>
          <p:nvPr/>
        </p:nvSpPr>
        <p:spPr>
          <a:xfrm>
            <a:off x="912852" y="2109907"/>
            <a:ext cx="1740456" cy="254079"/>
          </a:xfrm>
          <a:prstGeom prst="rect">
            <a:avLst/>
          </a:prstGeom>
          <a:noFill/>
          <a:ln/>
        </p:spPr>
        <p:txBody>
          <a:bodyPr wrap="none" lIns="0" tIns="0" rIns="0" bIns="0" rtlCol="0" anchor="t"/>
          <a:lstStyle/>
          <a:p>
            <a:pPr algn="l" indent="0" marL="0">
              <a:lnSpc>
                <a:spcPts val="2000"/>
              </a:lnSpc>
              <a:buNone/>
            </a:pPr>
            <a:r>
              <a:rPr lang="en-US" sz="1250" dirty="0">
                <a:solidFill>
                  <a:srgbClr val="4C4C4D"/>
                </a:solidFill>
                <a:latin typeface="Heebo" pitchFamily="34" charset="0"/>
                <a:ea typeface="Heebo" pitchFamily="34" charset="-122"/>
                <a:cs typeface="Heebo" pitchFamily="34" charset="-120"/>
              </a:rPr>
              <a:t>ALKOL &amp; SALDIRGANLIK</a:t>
            </a:r>
            <a:endParaRPr lang="en-US" sz="1250" dirty="0"/>
          </a:p>
        </p:txBody>
      </p:sp>
      <p:sp>
        <p:nvSpPr>
          <p:cNvPr id="4" name="Text 2"/>
          <p:cNvSpPr/>
          <p:nvPr/>
        </p:nvSpPr>
        <p:spPr>
          <a:xfrm>
            <a:off x="793790" y="2502813"/>
            <a:ext cx="7116485" cy="620078"/>
          </a:xfrm>
          <a:prstGeom prst="rect">
            <a:avLst/>
          </a:prstGeom>
          <a:noFill/>
          <a:ln/>
        </p:spPr>
        <p:txBody>
          <a:bodyPr wrap="none" lIns="0" tIns="0" rIns="0" bIns="0" rtlCol="0" anchor="t"/>
          <a:lstStyle/>
          <a:p>
            <a:pPr algn="l" indent="0" marL="0">
              <a:lnSpc>
                <a:spcPts val="4850"/>
              </a:lnSpc>
              <a:buNone/>
            </a:pPr>
            <a:r>
              <a:rPr lang="en-US" sz="3900" dirty="0">
                <a:solidFill>
                  <a:srgbClr val="152D47"/>
                </a:solidFill>
                <a:latin typeface="Crimson Pro Semi Bold" pitchFamily="34" charset="0"/>
                <a:ea typeface="Crimson Pro Semi Bold" pitchFamily="34" charset="-122"/>
                <a:cs typeface="Crimson Pro Semi Bold" pitchFamily="34" charset="-120"/>
              </a:rPr>
              <a:t>Alkol Miktarı, Türü ve Saldırganlık</a:t>
            </a:r>
            <a:endParaRPr lang="en-US" sz="3900" dirty="0"/>
          </a:p>
        </p:txBody>
      </p:sp>
      <p:sp>
        <p:nvSpPr>
          <p:cNvPr id="5" name="Text 3"/>
          <p:cNvSpPr/>
          <p:nvPr/>
        </p:nvSpPr>
        <p:spPr>
          <a:xfrm>
            <a:off x="793790" y="3599140"/>
            <a:ext cx="6955631" cy="63507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Araştırmalar saldırganlık seviyelerinin tüketilen alkol miktarıyla arttığını doğrulamaktadır (Kreutzer ve ark., 1984; Pihl &amp; Zacchia, 1986).</a:t>
            </a:r>
            <a:endParaRPr lang="en-US" sz="1550" dirty="0"/>
          </a:p>
        </p:txBody>
      </p:sp>
      <p:sp>
        <p:nvSpPr>
          <p:cNvPr id="6" name="Text 4"/>
          <p:cNvSpPr/>
          <p:nvPr/>
        </p:nvSpPr>
        <p:spPr>
          <a:xfrm>
            <a:off x="793790" y="4412813"/>
            <a:ext cx="6955631" cy="1587698"/>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Gustafson (1999) çalışmasında içecek türünün önemi ortaya kondu: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Damıtılmış içecek</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tüketen katılımcılar, şarap veya bira tüketenlere göre hedefe daha şiddetli ve daha uzun süreli şoklar verdi. Doğal ortamda da (barlarda) damıtılmış içecek içenler görüşmeciye karşı daha fazla sözlü saldırganlık gösterdi (Murdoch &amp; Pihl, 1988).</a:t>
            </a:r>
            <a:endParaRPr lang="en-US" sz="1550" dirty="0"/>
          </a:p>
        </p:txBody>
      </p:sp>
      <p:sp>
        <p:nvSpPr>
          <p:cNvPr id="7" name="Shape 5"/>
          <p:cNvSpPr/>
          <p:nvPr/>
        </p:nvSpPr>
        <p:spPr>
          <a:xfrm>
            <a:off x="8098274" y="3420547"/>
            <a:ext cx="5888712" cy="2758559"/>
          </a:xfrm>
          <a:prstGeom prst="roundRect">
            <a:avLst>
              <a:gd name="adj" fmla="val 1079"/>
            </a:avLst>
          </a:prstGeom>
          <a:solidFill>
            <a:srgbClr val="2150FE"/>
          </a:solidFill>
          <a:ln/>
        </p:spPr>
      </p:sp>
      <p:sp>
        <p:nvSpPr>
          <p:cNvPr id="8" name="Text 6"/>
          <p:cNvSpPr/>
          <p:nvPr/>
        </p:nvSpPr>
        <p:spPr>
          <a:xfrm>
            <a:off x="8296632" y="3618905"/>
            <a:ext cx="2519362" cy="310158"/>
          </a:xfrm>
          <a:prstGeom prst="rect">
            <a:avLst/>
          </a:prstGeom>
          <a:noFill/>
          <a:ln/>
        </p:spPr>
        <p:txBody>
          <a:bodyPr wrap="none" lIns="0" tIns="0" rIns="0" bIns="0" rtlCol="0" anchor="t"/>
          <a:lstStyle/>
          <a:p>
            <a:pPr algn="l" indent="0" marL="0">
              <a:lnSpc>
                <a:spcPts val="2400"/>
              </a:lnSpc>
              <a:buNone/>
            </a:pPr>
            <a:r>
              <a:rPr lang="en-US" sz="1950" dirty="0">
                <a:solidFill>
                  <a:srgbClr val="FFFFFF"/>
                </a:solidFill>
                <a:latin typeface="Crimson Pro Semi Bold" pitchFamily="34" charset="0"/>
                <a:ea typeface="Crimson Pro Semi Bold" pitchFamily="34" charset="-122"/>
                <a:cs typeface="Crimson Pro Semi Bold" pitchFamily="34" charset="-120"/>
              </a:rPr>
              <a:t>Prefrontal Korteks Etkisi</a:t>
            </a:r>
            <a:endParaRPr lang="en-US" sz="1950" dirty="0"/>
          </a:p>
        </p:txBody>
      </p:sp>
      <p:sp>
        <p:nvSpPr>
          <p:cNvPr id="9" name="Text 7"/>
          <p:cNvSpPr/>
          <p:nvPr/>
        </p:nvSpPr>
        <p:spPr>
          <a:xfrm>
            <a:off x="8296632" y="4127421"/>
            <a:ext cx="5491996" cy="1270159"/>
          </a:xfrm>
          <a:prstGeom prst="rect">
            <a:avLst/>
          </a:prstGeom>
          <a:noFill/>
          <a:ln/>
        </p:spPr>
        <p:txBody>
          <a:bodyPr wrap="square" lIns="0" tIns="0" rIns="0" bIns="0" rtlCol="0" anchor="t"/>
          <a:lstStyle/>
          <a:p>
            <a:pPr algn="l" indent="0" marL="0">
              <a:lnSpc>
                <a:spcPts val="2500"/>
              </a:lnSpc>
              <a:buNone/>
            </a:pPr>
            <a:r>
              <a:rPr lang="en-US" sz="1550" dirty="0">
                <a:solidFill>
                  <a:srgbClr val="FFFFFF"/>
                </a:solidFill>
                <a:latin typeface="Heebo" pitchFamily="34" charset="0"/>
                <a:ea typeface="Heebo" pitchFamily="34" charset="-122"/>
                <a:cs typeface="Heebo" pitchFamily="34" charset="-120"/>
              </a:rPr>
              <a:t>Alkol, yönetici bilişsel işleyişi (ECF) bozar: dikkat, planlama ve kendini izleme gibi üst düzey süreçler zarar görür. ECF alkol sonrası aktif kalırsa saldırganlık daha düşük kalır (Giancola, 2004).</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793790" y="1388864"/>
            <a:ext cx="1978581" cy="373142"/>
          </a:xfrm>
          <a:prstGeom prst="roundRect">
            <a:avLst>
              <a:gd name="adj" fmla="val 6383"/>
            </a:avLst>
          </a:prstGeom>
          <a:solidFill>
            <a:srgbClr val="CCD7FF"/>
          </a:solidFill>
          <a:ln/>
        </p:spPr>
      </p:sp>
      <p:sp>
        <p:nvSpPr>
          <p:cNvPr id="3" name="Text 1"/>
          <p:cNvSpPr/>
          <p:nvPr/>
        </p:nvSpPr>
        <p:spPr>
          <a:xfrm>
            <a:off x="912852" y="1448395"/>
            <a:ext cx="1740456" cy="254079"/>
          </a:xfrm>
          <a:prstGeom prst="rect">
            <a:avLst/>
          </a:prstGeom>
          <a:noFill/>
          <a:ln/>
        </p:spPr>
        <p:txBody>
          <a:bodyPr wrap="none" lIns="0" tIns="0" rIns="0" bIns="0" rtlCol="0" anchor="t"/>
          <a:lstStyle/>
          <a:p>
            <a:pPr algn="l" indent="0" marL="0">
              <a:lnSpc>
                <a:spcPts val="2000"/>
              </a:lnSpc>
              <a:buNone/>
            </a:pPr>
            <a:r>
              <a:rPr lang="en-US" sz="1250" dirty="0">
                <a:solidFill>
                  <a:srgbClr val="4C4C4D"/>
                </a:solidFill>
                <a:latin typeface="Heebo" pitchFamily="34" charset="0"/>
                <a:ea typeface="Heebo" pitchFamily="34" charset="-122"/>
                <a:cs typeface="Heebo" pitchFamily="34" charset="-120"/>
              </a:rPr>
              <a:t>ALKOL &amp; SALDIRGANLIK</a:t>
            </a:r>
            <a:endParaRPr lang="en-US" sz="1250" dirty="0"/>
          </a:p>
        </p:txBody>
      </p:sp>
      <p:sp>
        <p:nvSpPr>
          <p:cNvPr id="4" name="Text 2"/>
          <p:cNvSpPr/>
          <p:nvPr/>
        </p:nvSpPr>
        <p:spPr>
          <a:xfrm>
            <a:off x="793790" y="1841302"/>
            <a:ext cx="8505587" cy="620078"/>
          </a:xfrm>
          <a:prstGeom prst="rect">
            <a:avLst/>
          </a:prstGeom>
          <a:noFill/>
          <a:ln/>
        </p:spPr>
        <p:txBody>
          <a:bodyPr wrap="none" lIns="0" tIns="0" rIns="0" bIns="0" rtlCol="0" anchor="t"/>
          <a:lstStyle/>
          <a:p>
            <a:pPr algn="l" indent="0" marL="0">
              <a:lnSpc>
                <a:spcPts val="4850"/>
              </a:lnSpc>
              <a:buNone/>
            </a:pPr>
            <a:r>
              <a:rPr lang="en-US" sz="3900" dirty="0">
                <a:solidFill>
                  <a:srgbClr val="152D47"/>
                </a:solidFill>
                <a:latin typeface="Crimson Pro Semi Bold" pitchFamily="34" charset="0"/>
                <a:ea typeface="Crimson Pro Semi Bold" pitchFamily="34" charset="-122"/>
                <a:cs typeface="Crimson Pro Semi Bold" pitchFamily="34" charset="-120"/>
              </a:rPr>
              <a:t>Beklentiler ve Alkol Kaynaklı Saldırganlık</a:t>
            </a:r>
            <a:endParaRPr lang="en-US" sz="3900" dirty="0"/>
          </a:p>
        </p:txBody>
      </p:sp>
      <p:sp>
        <p:nvSpPr>
          <p:cNvPr id="5" name="Text 3"/>
          <p:cNvSpPr/>
          <p:nvPr/>
        </p:nvSpPr>
        <p:spPr>
          <a:xfrm>
            <a:off x="1091446" y="2982277"/>
            <a:ext cx="12745164" cy="317540"/>
          </a:xfrm>
          <a:prstGeom prst="rect">
            <a:avLst/>
          </a:prstGeom>
          <a:noFill/>
          <a:ln/>
        </p:spPr>
        <p:txBody>
          <a:bodyPr wrap="non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Alkol içtiklerine </a:t>
            </a:r>
            <a:pPr algn="l" indent="0" marL="0">
              <a:lnSpc>
                <a:spcPts val="2500"/>
              </a:lnSpc>
              <a:buNone/>
            </a:pPr>
            <a:r>
              <a:rPr lang="en-US" sz="1550" i="1" dirty="0">
                <a:solidFill>
                  <a:srgbClr val="4C4C4D"/>
                </a:solidFill>
                <a:latin typeface="Heebo" pitchFamily="34" charset="0"/>
                <a:ea typeface="Heebo" pitchFamily="34" charset="-122"/>
                <a:cs typeface="Heebo" pitchFamily="34" charset="-120"/>
              </a:rPr>
              <a:t>inanan</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katılımcılar, gerçekte alkolsüz plasebo içseler bile yüksek düzeyde saldırganlık sergilerler.</a:t>
            </a:r>
            <a:endParaRPr lang="en-US" sz="1550" dirty="0"/>
          </a:p>
        </p:txBody>
      </p:sp>
      <p:sp>
        <p:nvSpPr>
          <p:cNvPr id="6" name="Shape 4"/>
          <p:cNvSpPr/>
          <p:nvPr/>
        </p:nvSpPr>
        <p:spPr>
          <a:xfrm>
            <a:off x="793790" y="2759035"/>
            <a:ext cx="22860" cy="764024"/>
          </a:xfrm>
          <a:prstGeom prst="rect">
            <a:avLst/>
          </a:prstGeom>
          <a:solidFill>
            <a:srgbClr val="2150FE"/>
          </a:solidFill>
          <a:ln/>
        </p:spPr>
      </p:sp>
      <p:sp>
        <p:nvSpPr>
          <p:cNvPr id="7" name="Shape 5"/>
          <p:cNvSpPr/>
          <p:nvPr/>
        </p:nvSpPr>
        <p:spPr>
          <a:xfrm>
            <a:off x="793790" y="3746302"/>
            <a:ext cx="4215289" cy="3094434"/>
          </a:xfrm>
          <a:prstGeom prst="roundRect">
            <a:avLst>
              <a:gd name="adj" fmla="val 3546"/>
            </a:avLst>
          </a:prstGeom>
          <a:solidFill>
            <a:srgbClr val="FFFFFF"/>
          </a:solidFill>
          <a:ln w="22860">
            <a:solidFill>
              <a:srgbClr val="D8D4D4"/>
            </a:solidFill>
            <a:prstDash val="solid"/>
          </a:ln>
        </p:spPr>
      </p:sp>
      <p:sp>
        <p:nvSpPr>
          <p:cNvPr id="8" name="Shape 6"/>
          <p:cNvSpPr/>
          <p:nvPr/>
        </p:nvSpPr>
        <p:spPr>
          <a:xfrm>
            <a:off x="770930" y="3746302"/>
            <a:ext cx="91440" cy="3094434"/>
          </a:xfrm>
          <a:prstGeom prst="roundRect">
            <a:avLst>
              <a:gd name="adj" fmla="val 32558"/>
            </a:avLst>
          </a:prstGeom>
          <a:solidFill>
            <a:srgbClr val="2150FE"/>
          </a:solidFill>
          <a:ln/>
        </p:spPr>
      </p:sp>
      <p:sp>
        <p:nvSpPr>
          <p:cNvPr id="9" name="Text 7"/>
          <p:cNvSpPr/>
          <p:nvPr/>
        </p:nvSpPr>
        <p:spPr>
          <a:xfrm>
            <a:off x="1083588" y="396752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Beklenti Etkisi</a:t>
            </a:r>
            <a:endParaRPr lang="en-US" sz="1950" dirty="0"/>
          </a:p>
        </p:txBody>
      </p:sp>
      <p:sp>
        <p:nvSpPr>
          <p:cNvPr id="10" name="Text 8"/>
          <p:cNvSpPr/>
          <p:nvPr/>
        </p:nvSpPr>
        <p:spPr>
          <a:xfrm>
            <a:off x="1083588" y="4396740"/>
            <a:ext cx="3704273" cy="2222778"/>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Lang ve ark. (1975) ve diğer çalışmalar, kişinin alkol tükettiğine inanmasının bile saldırganlığı artırmak için yeterli olduğunu gösterdi. Deneycinin kör olmadığı durumlarda gözlemlenen saldırganlık daha yüksektir (Bushman &amp; Cooper, 1990).</a:t>
            </a:r>
            <a:endParaRPr lang="en-US" sz="1550" dirty="0"/>
          </a:p>
        </p:txBody>
      </p:sp>
      <p:sp>
        <p:nvSpPr>
          <p:cNvPr id="11" name="Shape 9"/>
          <p:cNvSpPr/>
          <p:nvPr/>
        </p:nvSpPr>
        <p:spPr>
          <a:xfrm>
            <a:off x="5207437" y="3746302"/>
            <a:ext cx="4215408" cy="3094434"/>
          </a:xfrm>
          <a:prstGeom prst="roundRect">
            <a:avLst>
              <a:gd name="adj" fmla="val 3546"/>
            </a:avLst>
          </a:prstGeom>
          <a:solidFill>
            <a:srgbClr val="FFFFFF"/>
          </a:solidFill>
          <a:ln w="22860">
            <a:solidFill>
              <a:srgbClr val="D8D4D4"/>
            </a:solidFill>
            <a:prstDash val="solid"/>
          </a:ln>
        </p:spPr>
      </p:sp>
      <p:sp>
        <p:nvSpPr>
          <p:cNvPr id="12" name="Shape 10"/>
          <p:cNvSpPr/>
          <p:nvPr/>
        </p:nvSpPr>
        <p:spPr>
          <a:xfrm>
            <a:off x="5184577" y="3746302"/>
            <a:ext cx="91440" cy="3094434"/>
          </a:xfrm>
          <a:prstGeom prst="roundRect">
            <a:avLst>
              <a:gd name="adj" fmla="val 32558"/>
            </a:avLst>
          </a:prstGeom>
          <a:solidFill>
            <a:srgbClr val="2150FE"/>
          </a:solidFill>
          <a:ln/>
        </p:spPr>
      </p:sp>
      <p:sp>
        <p:nvSpPr>
          <p:cNvPr id="13" name="Text 11"/>
          <p:cNvSpPr/>
          <p:nvPr/>
        </p:nvSpPr>
        <p:spPr>
          <a:xfrm>
            <a:off x="5497235" y="396752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Beklentinin Sınırları</a:t>
            </a:r>
            <a:endParaRPr lang="en-US" sz="1950" dirty="0"/>
          </a:p>
        </p:txBody>
      </p:sp>
      <p:sp>
        <p:nvSpPr>
          <p:cNvPr id="14" name="Text 12"/>
          <p:cNvSpPr/>
          <p:nvPr/>
        </p:nvSpPr>
        <p:spPr>
          <a:xfrm>
            <a:off x="5497235" y="4396740"/>
            <a:ext cx="3704392" cy="1587698"/>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Beklentiler alkolün tüm etkisini açıklayamaz. Bazı durumlarda beklenti saldırganlığı artırmazken, gerçek alkol tüketimi artırır (Quigley &amp; Leonard, 1999). Farmakolojik etkiler gerçektir.</a:t>
            </a:r>
            <a:endParaRPr lang="en-US" sz="1550" dirty="0"/>
          </a:p>
        </p:txBody>
      </p:sp>
      <p:sp>
        <p:nvSpPr>
          <p:cNvPr id="15" name="Shape 13"/>
          <p:cNvSpPr/>
          <p:nvPr/>
        </p:nvSpPr>
        <p:spPr>
          <a:xfrm>
            <a:off x="9621203" y="3746302"/>
            <a:ext cx="4215289" cy="3094434"/>
          </a:xfrm>
          <a:prstGeom prst="roundRect">
            <a:avLst>
              <a:gd name="adj" fmla="val 3546"/>
            </a:avLst>
          </a:prstGeom>
          <a:solidFill>
            <a:srgbClr val="FFFFFF"/>
          </a:solidFill>
          <a:ln w="22860">
            <a:solidFill>
              <a:srgbClr val="D8D4D4"/>
            </a:solidFill>
            <a:prstDash val="solid"/>
          </a:ln>
        </p:spPr>
      </p:sp>
      <p:sp>
        <p:nvSpPr>
          <p:cNvPr id="16" name="Shape 14"/>
          <p:cNvSpPr/>
          <p:nvPr/>
        </p:nvSpPr>
        <p:spPr>
          <a:xfrm>
            <a:off x="9598343" y="3746302"/>
            <a:ext cx="91440" cy="3094434"/>
          </a:xfrm>
          <a:prstGeom prst="roundRect">
            <a:avLst>
              <a:gd name="adj" fmla="val 32558"/>
            </a:avLst>
          </a:prstGeom>
          <a:solidFill>
            <a:srgbClr val="2150FE"/>
          </a:solidFill>
          <a:ln/>
        </p:spPr>
      </p:sp>
      <p:sp>
        <p:nvSpPr>
          <p:cNvPr id="17" name="Text 15"/>
          <p:cNvSpPr/>
          <p:nvPr/>
        </p:nvSpPr>
        <p:spPr>
          <a:xfrm>
            <a:off x="9911001" y="396752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Doğal Ortam Bulgusu</a:t>
            </a:r>
            <a:endParaRPr lang="en-US" sz="1950" dirty="0"/>
          </a:p>
        </p:txBody>
      </p:sp>
      <p:sp>
        <p:nvSpPr>
          <p:cNvPr id="18" name="Text 16"/>
          <p:cNvSpPr/>
          <p:nvPr/>
        </p:nvSpPr>
        <p:spPr>
          <a:xfrm>
            <a:off x="9911001" y="4396740"/>
            <a:ext cx="3704273" cy="1587698"/>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Leonard ve ark. (2003), barlarda erkek katılımcılarla yürüttüğü çalışmada, alkolün saldırganlığın nedeni olduğuna dair inancın saldırgan karşılaşmanın meydana gelmesiyle ilişkili olduğunu buldu.</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793790" y="1022390"/>
            <a:ext cx="1978581" cy="373142"/>
          </a:xfrm>
          <a:prstGeom prst="roundRect">
            <a:avLst>
              <a:gd name="adj" fmla="val 6383"/>
            </a:avLst>
          </a:prstGeom>
          <a:solidFill>
            <a:srgbClr val="CCD7FF"/>
          </a:solidFill>
          <a:ln/>
        </p:spPr>
      </p:sp>
      <p:sp>
        <p:nvSpPr>
          <p:cNvPr id="3" name="Text 1"/>
          <p:cNvSpPr/>
          <p:nvPr/>
        </p:nvSpPr>
        <p:spPr>
          <a:xfrm>
            <a:off x="912852" y="1081921"/>
            <a:ext cx="1740456" cy="254079"/>
          </a:xfrm>
          <a:prstGeom prst="rect">
            <a:avLst/>
          </a:prstGeom>
          <a:noFill/>
          <a:ln/>
        </p:spPr>
        <p:txBody>
          <a:bodyPr wrap="none" lIns="0" tIns="0" rIns="0" bIns="0" rtlCol="0" anchor="t"/>
          <a:lstStyle/>
          <a:p>
            <a:pPr algn="l" indent="0" marL="0">
              <a:lnSpc>
                <a:spcPts val="2000"/>
              </a:lnSpc>
              <a:buNone/>
            </a:pPr>
            <a:r>
              <a:rPr lang="en-US" sz="1250" dirty="0">
                <a:solidFill>
                  <a:srgbClr val="4C4C4D"/>
                </a:solidFill>
                <a:latin typeface="Heebo" pitchFamily="34" charset="0"/>
                <a:ea typeface="Heebo" pitchFamily="34" charset="-122"/>
                <a:cs typeface="Heebo" pitchFamily="34" charset="-120"/>
              </a:rPr>
              <a:t>ALKOL &amp; SALDIRGANLIK</a:t>
            </a:r>
            <a:endParaRPr lang="en-US" sz="1250" dirty="0"/>
          </a:p>
        </p:txBody>
      </p:sp>
      <p:sp>
        <p:nvSpPr>
          <p:cNvPr id="4" name="Text 2"/>
          <p:cNvSpPr/>
          <p:nvPr/>
        </p:nvSpPr>
        <p:spPr>
          <a:xfrm>
            <a:off x="793790" y="1474827"/>
            <a:ext cx="8709541" cy="620078"/>
          </a:xfrm>
          <a:prstGeom prst="rect">
            <a:avLst/>
          </a:prstGeom>
          <a:noFill/>
          <a:ln/>
        </p:spPr>
        <p:txBody>
          <a:bodyPr wrap="none" lIns="0" tIns="0" rIns="0" bIns="0" rtlCol="0" anchor="t"/>
          <a:lstStyle/>
          <a:p>
            <a:pPr algn="l" indent="0" marL="0">
              <a:lnSpc>
                <a:spcPts val="4850"/>
              </a:lnSpc>
              <a:buNone/>
            </a:pPr>
            <a:r>
              <a:rPr lang="en-US" sz="3900" dirty="0">
                <a:solidFill>
                  <a:srgbClr val="152D47"/>
                </a:solidFill>
                <a:latin typeface="Crimson Pro Semi Bold" pitchFamily="34" charset="0"/>
                <a:ea typeface="Crimson Pro Semi Bold" pitchFamily="34" charset="-122"/>
                <a:cs typeface="Crimson Pro Semi Bold" pitchFamily="34" charset="-120"/>
              </a:rPr>
              <a:t>Bireysel Farklılıklar ve Durumsal Faktörler</a:t>
            </a:r>
            <a:endParaRPr lang="en-US" sz="3900" dirty="0"/>
          </a:p>
        </p:txBody>
      </p:sp>
      <p:sp>
        <p:nvSpPr>
          <p:cNvPr id="5" name="Text 3"/>
          <p:cNvSpPr/>
          <p:nvPr/>
        </p:nvSpPr>
        <p:spPr>
          <a:xfrm>
            <a:off x="793790" y="2392561"/>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Alkol-saldırganlık bağlantısı bireysel özellikler ve sosyal durum tarafından aracılık edilir.</a:t>
            </a:r>
            <a:endParaRPr lang="en-US" sz="1550" dirty="0"/>
          </a:p>
        </p:txBody>
      </p:sp>
      <p:sp>
        <p:nvSpPr>
          <p:cNvPr id="6" name="Shape 4"/>
          <p:cNvSpPr/>
          <p:nvPr/>
        </p:nvSpPr>
        <p:spPr>
          <a:xfrm>
            <a:off x="793790" y="2933343"/>
            <a:ext cx="4215289" cy="3207306"/>
          </a:xfrm>
          <a:prstGeom prst="roundRect">
            <a:avLst>
              <a:gd name="adj" fmla="val 928"/>
            </a:avLst>
          </a:prstGeom>
          <a:solidFill>
            <a:srgbClr val="F2EEEE"/>
          </a:solidFill>
          <a:ln/>
        </p:spPr>
      </p:sp>
      <p:sp>
        <p:nvSpPr>
          <p:cNvPr id="7" name="Shape 5"/>
          <p:cNvSpPr/>
          <p:nvPr/>
        </p:nvSpPr>
        <p:spPr>
          <a:xfrm>
            <a:off x="992148" y="3131701"/>
            <a:ext cx="595313" cy="595313"/>
          </a:xfrm>
          <a:prstGeom prst="roundRect">
            <a:avLst>
              <a:gd name="adj" fmla="val 15358451"/>
            </a:avLst>
          </a:prstGeom>
          <a:solidFill>
            <a:srgbClr val="2150FE"/>
          </a:solidFill>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55859" y="3295293"/>
            <a:ext cx="267891" cy="267891"/>
          </a:xfrm>
          <a:prstGeom prst="rect">
            <a:avLst/>
          </a:prstGeom>
        </p:spPr>
      </p:pic>
      <p:sp>
        <p:nvSpPr>
          <p:cNvPr id="9" name="Text 6"/>
          <p:cNvSpPr/>
          <p:nvPr/>
        </p:nvSpPr>
        <p:spPr>
          <a:xfrm>
            <a:off x="992148" y="3925372"/>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Eğilimsel Empati</a:t>
            </a:r>
            <a:endParaRPr lang="en-US" sz="1950" dirty="0"/>
          </a:p>
        </p:txBody>
      </p:sp>
      <p:sp>
        <p:nvSpPr>
          <p:cNvPr id="10" name="Text 7"/>
          <p:cNvSpPr/>
          <p:nvPr/>
        </p:nvSpPr>
        <p:spPr>
          <a:xfrm>
            <a:off x="992148" y="4354592"/>
            <a:ext cx="3818573" cy="95261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Giancola (2003): Eğilimsel empatide yüksek olan bireyler, alkol tüketiminden sonra daha az saldırgan davranır.</a:t>
            </a:r>
            <a:endParaRPr lang="en-US" sz="1550" dirty="0"/>
          </a:p>
        </p:txBody>
      </p:sp>
      <p:sp>
        <p:nvSpPr>
          <p:cNvPr id="11" name="Shape 8"/>
          <p:cNvSpPr/>
          <p:nvPr/>
        </p:nvSpPr>
        <p:spPr>
          <a:xfrm>
            <a:off x="5207437" y="2933343"/>
            <a:ext cx="4215408" cy="3207306"/>
          </a:xfrm>
          <a:prstGeom prst="roundRect">
            <a:avLst>
              <a:gd name="adj" fmla="val 928"/>
            </a:avLst>
          </a:prstGeom>
          <a:solidFill>
            <a:srgbClr val="F2EEEE"/>
          </a:solidFill>
          <a:ln/>
        </p:spPr>
      </p:sp>
      <p:sp>
        <p:nvSpPr>
          <p:cNvPr id="12" name="Shape 9"/>
          <p:cNvSpPr/>
          <p:nvPr/>
        </p:nvSpPr>
        <p:spPr>
          <a:xfrm>
            <a:off x="5405795" y="3131701"/>
            <a:ext cx="595313" cy="595313"/>
          </a:xfrm>
          <a:prstGeom prst="roundRect">
            <a:avLst>
              <a:gd name="adj" fmla="val 15358451"/>
            </a:avLst>
          </a:prstGeom>
          <a:solidFill>
            <a:srgbClr val="2150FE"/>
          </a:solidFill>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69506" y="3295293"/>
            <a:ext cx="267891" cy="267891"/>
          </a:xfrm>
          <a:prstGeom prst="rect">
            <a:avLst/>
          </a:prstGeom>
        </p:spPr>
      </p:pic>
      <p:sp>
        <p:nvSpPr>
          <p:cNvPr id="14" name="Text 10"/>
          <p:cNvSpPr/>
          <p:nvPr/>
        </p:nvSpPr>
        <p:spPr>
          <a:xfrm>
            <a:off x="5405795" y="3925372"/>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Dürtüsellik</a:t>
            </a:r>
            <a:endParaRPr lang="en-US" sz="1950" dirty="0"/>
          </a:p>
        </p:txBody>
      </p:sp>
      <p:sp>
        <p:nvSpPr>
          <p:cNvPr id="15" name="Text 11"/>
          <p:cNvSpPr/>
          <p:nvPr/>
        </p:nvSpPr>
        <p:spPr>
          <a:xfrm>
            <a:off x="5405795" y="4354592"/>
            <a:ext cx="3818692" cy="1587698"/>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Cheong &amp; Nagoshi (1999): Dürtüsellik/duyum arayışında yüksek puan alanlar, alkol sonrası en saldırgan olanlar oldu — ancak yalnızca rakip agresif davrandığında.</a:t>
            </a:r>
            <a:endParaRPr lang="en-US" sz="1550" dirty="0"/>
          </a:p>
        </p:txBody>
      </p:sp>
      <p:sp>
        <p:nvSpPr>
          <p:cNvPr id="16" name="Shape 12"/>
          <p:cNvSpPr/>
          <p:nvPr/>
        </p:nvSpPr>
        <p:spPr>
          <a:xfrm>
            <a:off x="9621203" y="2933343"/>
            <a:ext cx="4215289" cy="3207306"/>
          </a:xfrm>
          <a:prstGeom prst="roundRect">
            <a:avLst>
              <a:gd name="adj" fmla="val 928"/>
            </a:avLst>
          </a:prstGeom>
          <a:solidFill>
            <a:srgbClr val="F2EEEE"/>
          </a:solidFill>
          <a:ln/>
        </p:spPr>
      </p:sp>
      <p:sp>
        <p:nvSpPr>
          <p:cNvPr id="17" name="Shape 13"/>
          <p:cNvSpPr/>
          <p:nvPr/>
        </p:nvSpPr>
        <p:spPr>
          <a:xfrm>
            <a:off x="9819561" y="3131701"/>
            <a:ext cx="595313" cy="595313"/>
          </a:xfrm>
          <a:prstGeom prst="roundRect">
            <a:avLst>
              <a:gd name="adj" fmla="val 15358451"/>
            </a:avLst>
          </a:prstGeom>
          <a:solidFill>
            <a:srgbClr val="2150FE"/>
          </a:solidFill>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983272" y="3295293"/>
            <a:ext cx="267891" cy="267891"/>
          </a:xfrm>
          <a:prstGeom prst="rect">
            <a:avLst/>
          </a:prstGeom>
        </p:spPr>
      </p:pic>
      <p:sp>
        <p:nvSpPr>
          <p:cNvPr id="19" name="Text 14"/>
          <p:cNvSpPr/>
          <p:nvPr/>
        </p:nvSpPr>
        <p:spPr>
          <a:xfrm>
            <a:off x="9819561" y="3925372"/>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Durumun Doğası</a:t>
            </a:r>
            <a:endParaRPr lang="en-US" sz="1950" dirty="0"/>
          </a:p>
        </p:txBody>
      </p:sp>
      <p:sp>
        <p:nvSpPr>
          <p:cNvPr id="20" name="Text 15"/>
          <p:cNvSpPr/>
          <p:nvPr/>
        </p:nvSpPr>
        <p:spPr>
          <a:xfrm>
            <a:off x="9819561" y="4354592"/>
            <a:ext cx="3818573" cy="127015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Rakibin motivasyonu fedakarca veya belirsiz olduğunda dürtüsellik-alkol-saldırganlık etkisi ortaya çıkmadı. Bağlam belirleyicidir.</a:t>
            </a:r>
            <a:endParaRPr lang="en-US" sz="1550" dirty="0"/>
          </a:p>
        </p:txBody>
      </p:sp>
      <p:sp>
        <p:nvSpPr>
          <p:cNvPr id="21" name="Shape 16"/>
          <p:cNvSpPr/>
          <p:nvPr/>
        </p:nvSpPr>
        <p:spPr>
          <a:xfrm>
            <a:off x="793790" y="6363891"/>
            <a:ext cx="13042821" cy="843201"/>
          </a:xfrm>
          <a:prstGeom prst="roundRect">
            <a:avLst>
              <a:gd name="adj" fmla="val 3531"/>
            </a:avLst>
          </a:prstGeom>
          <a:solidFill>
            <a:srgbClr val="B3C3FF"/>
          </a:solidFill>
          <a:ln/>
        </p:spPr>
      </p:sp>
      <p:pic>
        <p:nvPicPr>
          <p:cNvPr id="22" name="Image 3" descr="preencoded.png">    </p:cNvPr>
          <p:cNvPicPr>
            <a:picLocks noChangeAspect="1"/>
          </p:cNvPicPr>
          <p:nvPr/>
        </p:nvPicPr>
        <p:blipFill>
          <a:blip r:embed="rId7"/>
          <a:stretch>
            <a:fillRect/>
          </a:stretch>
        </p:blipFill>
        <p:spPr>
          <a:xfrm>
            <a:off x="992148" y="6651546"/>
            <a:ext cx="248007" cy="198358"/>
          </a:xfrm>
          <a:prstGeom prst="rect">
            <a:avLst/>
          </a:prstGeom>
        </p:spPr>
      </p:pic>
      <p:sp>
        <p:nvSpPr>
          <p:cNvPr id="23" name="Text 17"/>
          <p:cNvSpPr/>
          <p:nvPr/>
        </p:nvSpPr>
        <p:spPr>
          <a:xfrm>
            <a:off x="1438513" y="6611779"/>
            <a:ext cx="12199739"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Heebo" pitchFamily="34" charset="0"/>
                <a:ea typeface="Heebo" pitchFamily="34" charset="-122"/>
                <a:cs typeface="Heebo" pitchFamily="34" charset="-120"/>
              </a:rPr>
              <a:t>Sarhoş bir durumdayken, uygun şekilde motive edilirseniz alkolün etkilerinin üstesinden gelebilirsiniz (Hoaken ve ark., 1998).</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1323737" y="429578"/>
            <a:ext cx="481251" cy="262652"/>
          </a:xfrm>
          <a:prstGeom prst="roundRect">
            <a:avLst>
              <a:gd name="adj" fmla="val 6943"/>
            </a:avLst>
          </a:prstGeom>
          <a:solidFill>
            <a:srgbClr val="CCD7FF"/>
          </a:solidFill>
          <a:ln/>
        </p:spPr>
      </p:sp>
      <p:sp>
        <p:nvSpPr>
          <p:cNvPr id="3" name="Text 1"/>
          <p:cNvSpPr/>
          <p:nvPr/>
        </p:nvSpPr>
        <p:spPr>
          <a:xfrm>
            <a:off x="1414820" y="475059"/>
            <a:ext cx="299085" cy="171688"/>
          </a:xfrm>
          <a:prstGeom prst="rect">
            <a:avLst/>
          </a:prstGeom>
          <a:noFill/>
          <a:ln/>
        </p:spPr>
        <p:txBody>
          <a:bodyPr wrap="none" lIns="0" tIns="0" rIns="0" bIns="0" rtlCol="0" anchor="t"/>
          <a:lstStyle/>
          <a:p>
            <a:pPr algn="l" indent="0" marL="0">
              <a:lnSpc>
                <a:spcPts val="1350"/>
              </a:lnSpc>
              <a:buNone/>
            </a:pPr>
            <a:r>
              <a:rPr lang="en-US" sz="950" dirty="0">
                <a:solidFill>
                  <a:srgbClr val="4C4C4D"/>
                </a:solidFill>
                <a:latin typeface="Heebo" pitchFamily="34" charset="0"/>
                <a:ea typeface="Heebo" pitchFamily="34" charset="-122"/>
                <a:cs typeface="Heebo" pitchFamily="34" charset="-120"/>
              </a:rPr>
              <a:t>ÖZET</a:t>
            </a:r>
            <a:endParaRPr lang="en-US" sz="950" dirty="0"/>
          </a:p>
        </p:txBody>
      </p:sp>
      <p:sp>
        <p:nvSpPr>
          <p:cNvPr id="4" name="Text 2"/>
          <p:cNvSpPr/>
          <p:nvPr/>
        </p:nvSpPr>
        <p:spPr>
          <a:xfrm>
            <a:off x="1323737" y="738664"/>
            <a:ext cx="7270194" cy="474821"/>
          </a:xfrm>
          <a:prstGeom prst="rect">
            <a:avLst/>
          </a:prstGeom>
          <a:noFill/>
          <a:ln/>
        </p:spPr>
        <p:txBody>
          <a:bodyPr wrap="none" lIns="0" tIns="0" rIns="0" bIns="0" rtlCol="0" anchor="t"/>
          <a:lstStyle/>
          <a:p>
            <a:pPr algn="l" indent="0" marL="0">
              <a:lnSpc>
                <a:spcPts val="3700"/>
              </a:lnSpc>
              <a:buNone/>
            </a:pPr>
            <a:r>
              <a:rPr lang="en-US" sz="2950" dirty="0">
                <a:solidFill>
                  <a:srgbClr val="152D47"/>
                </a:solidFill>
                <a:latin typeface="Crimson Pro Semi Bold" pitchFamily="34" charset="0"/>
                <a:ea typeface="Crimson Pro Semi Bold" pitchFamily="34" charset="-122"/>
                <a:cs typeface="Crimson Pro Semi Bold" pitchFamily="34" charset="-120"/>
              </a:rPr>
              <a:t>Fizyoloji ve Saldırganlık: Genel Değerlendirme</a:t>
            </a:r>
            <a:endParaRPr lang="en-US" sz="2950" dirty="0"/>
          </a:p>
        </p:txBody>
      </p:sp>
      <p:pic>
        <p:nvPicPr>
          <p:cNvPr id="5" name="Image 0" descr="preencoded.png">    </p:cNvPr>
          <p:cNvPicPr>
            <a:picLocks noChangeAspect="1"/>
          </p:cNvPicPr>
          <p:nvPr/>
        </p:nvPicPr>
        <p:blipFill>
          <a:blip r:embed="rId1"/>
          <a:stretch>
            <a:fillRect/>
          </a:stretch>
        </p:blipFill>
        <p:spPr>
          <a:xfrm>
            <a:off x="1323737" y="1387912"/>
            <a:ext cx="10485120" cy="5852160"/>
          </a:xfrm>
          <a:prstGeom prst="rect">
            <a:avLst/>
          </a:prstGeom>
        </p:spPr>
      </p:pic>
      <p:pic>
        <p:nvPicPr>
          <p:cNvPr id="6" name="Image 1" descr="preencoded.png">    </p:cNvPr>
          <p:cNvPicPr>
            <a:picLocks noChangeAspect="1"/>
          </p:cNvPicPr>
          <p:nvPr/>
        </p:nvPicPr>
        <p:blipFill>
          <a:blip r:embed="rId2"/>
          <a:stretch>
            <a:fillRect/>
          </a:stretch>
        </p:blipFill>
        <p:spPr>
          <a:xfrm>
            <a:off x="1323737" y="1387912"/>
            <a:ext cx="10485120" cy="5852160"/>
          </a:xfrm>
          <a:prstGeom prst="rect">
            <a:avLst/>
          </a:prstGeom>
        </p:spPr>
      </p:pic>
      <p:sp>
        <p:nvSpPr>
          <p:cNvPr id="7" name="Text 3"/>
          <p:cNvSpPr/>
          <p:nvPr/>
        </p:nvSpPr>
        <p:spPr>
          <a:xfrm>
            <a:off x="1323737" y="7370921"/>
            <a:ext cx="11982807" cy="429101"/>
          </a:xfrm>
          <a:prstGeom prst="rect">
            <a:avLst/>
          </a:prstGeom>
          <a:noFill/>
          <a:ln/>
        </p:spPr>
        <p:txBody>
          <a:bodyPr wrap="square" lIns="0" tIns="0" rIns="0" bIns="0" rtlCol="0" anchor="t"/>
          <a:lstStyle/>
          <a:p>
            <a:pPr algn="l" indent="0" marL="0">
              <a:lnSpc>
                <a:spcPts val="1650"/>
              </a:lnSpc>
              <a:buNone/>
            </a:pPr>
            <a:r>
              <a:rPr lang="en-US" sz="1150" dirty="0">
                <a:solidFill>
                  <a:srgbClr val="4C4C4D"/>
                </a:solidFill>
                <a:latin typeface="Heebo" pitchFamily="34" charset="0"/>
                <a:ea typeface="Heebo" pitchFamily="34" charset="-122"/>
                <a:cs typeface="Heebo" pitchFamily="34" charset="-120"/>
              </a:rPr>
              <a:t>Hayvanlarla yapılan araştırmalar saldırganlığın fizyolojik bir bileşeni olduğunu destekler. Ancak insanlarda biyolojik güçler, saldırganlığın sergilendiği tüm durumları tek başına açıklayamaz (Huesmann &amp; Eron, 1984).</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793790" y="1945005"/>
            <a:ext cx="1642586" cy="373142"/>
          </a:xfrm>
          <a:prstGeom prst="roundRect">
            <a:avLst>
              <a:gd name="adj" fmla="val 6383"/>
            </a:avLst>
          </a:prstGeom>
          <a:solidFill>
            <a:srgbClr val="CCD7FF"/>
          </a:solidFill>
          <a:ln/>
        </p:spPr>
      </p:sp>
      <p:sp>
        <p:nvSpPr>
          <p:cNvPr id="3" name="Text 1"/>
          <p:cNvSpPr/>
          <p:nvPr/>
        </p:nvSpPr>
        <p:spPr>
          <a:xfrm>
            <a:off x="912852" y="2004536"/>
            <a:ext cx="1404461" cy="254079"/>
          </a:xfrm>
          <a:prstGeom prst="rect">
            <a:avLst/>
          </a:prstGeom>
          <a:noFill/>
          <a:ln/>
        </p:spPr>
        <p:txBody>
          <a:bodyPr wrap="none" lIns="0" tIns="0" rIns="0" bIns="0" rtlCol="0" anchor="t"/>
          <a:lstStyle/>
          <a:p>
            <a:pPr algn="l" indent="0" marL="0">
              <a:lnSpc>
                <a:spcPts val="2000"/>
              </a:lnSpc>
              <a:buNone/>
            </a:pPr>
            <a:r>
              <a:rPr lang="en-US" sz="1250" dirty="0">
                <a:solidFill>
                  <a:srgbClr val="4C4C4D"/>
                </a:solidFill>
                <a:latin typeface="Heebo" pitchFamily="34" charset="0"/>
                <a:ea typeface="Heebo" pitchFamily="34" charset="-122"/>
                <a:cs typeface="Heebo" pitchFamily="34" charset="-120"/>
              </a:rPr>
              <a:t>BÜTÜNLEŞIK BAKIŞ</a:t>
            </a:r>
            <a:endParaRPr lang="en-US" sz="1250" dirty="0"/>
          </a:p>
        </p:txBody>
      </p:sp>
      <p:sp>
        <p:nvSpPr>
          <p:cNvPr id="4" name="Text 2"/>
          <p:cNvSpPr/>
          <p:nvPr/>
        </p:nvSpPr>
        <p:spPr>
          <a:xfrm>
            <a:off x="793790" y="2397442"/>
            <a:ext cx="6121241" cy="620078"/>
          </a:xfrm>
          <a:prstGeom prst="rect">
            <a:avLst/>
          </a:prstGeom>
          <a:noFill/>
          <a:ln/>
        </p:spPr>
        <p:txBody>
          <a:bodyPr wrap="none" lIns="0" tIns="0" rIns="0" bIns="0" rtlCol="0" anchor="t"/>
          <a:lstStyle/>
          <a:p>
            <a:pPr algn="l" indent="0" marL="0">
              <a:lnSpc>
                <a:spcPts val="4850"/>
              </a:lnSpc>
              <a:buNone/>
            </a:pPr>
            <a:r>
              <a:rPr lang="en-US" sz="3900" dirty="0">
                <a:solidFill>
                  <a:srgbClr val="152D47"/>
                </a:solidFill>
                <a:latin typeface="Crimson Pro Semi Bold" pitchFamily="34" charset="0"/>
                <a:ea typeface="Crimson Pro Semi Bold" pitchFamily="34" charset="-122"/>
                <a:cs typeface="Crimson Pro Semi Bold" pitchFamily="34" charset="-120"/>
              </a:rPr>
              <a:t>Biyoloji Tek Başına Yeterli mi?</a:t>
            </a:r>
            <a:endParaRPr lang="en-US" sz="3900" dirty="0"/>
          </a:p>
        </p:txBody>
      </p:sp>
      <p:sp>
        <p:nvSpPr>
          <p:cNvPr id="5" name="Shape 3"/>
          <p:cNvSpPr/>
          <p:nvPr/>
        </p:nvSpPr>
        <p:spPr>
          <a:xfrm>
            <a:off x="650915" y="3315176"/>
            <a:ext cx="6565106" cy="2969300"/>
          </a:xfrm>
          <a:prstGeom prst="roundRect">
            <a:avLst>
              <a:gd name="adj" fmla="val 1003"/>
            </a:avLst>
          </a:prstGeom>
          <a:solidFill>
            <a:srgbClr val="2150FE"/>
          </a:solidFill>
          <a:ln/>
        </p:spPr>
      </p:sp>
      <p:sp>
        <p:nvSpPr>
          <p:cNvPr id="6" name="Text 4"/>
          <p:cNvSpPr/>
          <p:nvPr/>
        </p:nvSpPr>
        <p:spPr>
          <a:xfrm>
            <a:off x="849273" y="351353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FFFFFF"/>
                </a:solidFill>
                <a:latin typeface="Crimson Pro Semi Bold" pitchFamily="34" charset="0"/>
                <a:ea typeface="Crimson Pro Semi Bold" pitchFamily="34" charset="-122"/>
                <a:cs typeface="Crimson Pro Semi Bold" pitchFamily="34" charset="-120"/>
              </a:rPr>
              <a:t>Biyolojinin Katkısı</a:t>
            </a:r>
            <a:endParaRPr lang="en-US" sz="1950" dirty="0"/>
          </a:p>
        </p:txBody>
      </p:sp>
      <p:sp>
        <p:nvSpPr>
          <p:cNvPr id="7" name="Text 5"/>
          <p:cNvSpPr/>
          <p:nvPr/>
        </p:nvSpPr>
        <p:spPr>
          <a:xfrm>
            <a:off x="849273" y="4022050"/>
            <a:ext cx="6168390" cy="179593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FFFFFF"/>
                </a:solidFill>
                <a:latin typeface="Heebo" pitchFamily="34" charset="0"/>
                <a:ea typeface="Heebo" pitchFamily="34" charset="-122"/>
                <a:cs typeface="Heebo" pitchFamily="34" charset="-120"/>
              </a:rPr>
              <a:t>Genetik yatkınlık saldırganlığı doğrudan değil, kişilik özellikleri aracılığıyla etkiler</a:t>
            </a:r>
            <a:endParaRPr lang="en-US" sz="1550" dirty="0"/>
          </a:p>
          <a:p>
            <a:pPr algn="l" marL="342900" indent="-342900">
              <a:lnSpc>
                <a:spcPts val="2500"/>
              </a:lnSpc>
              <a:buSzPct val="100000"/>
              <a:buChar char="•"/>
            </a:pPr>
            <a:r>
              <a:rPr lang="en-US" sz="1550" dirty="0">
                <a:solidFill>
                  <a:srgbClr val="FFFFFF"/>
                </a:solidFill>
                <a:latin typeface="Heebo" pitchFamily="34" charset="0"/>
                <a:ea typeface="Heebo" pitchFamily="34" charset="-122"/>
                <a:cs typeface="Heebo" pitchFamily="34" charset="-120"/>
              </a:rPr>
              <a:t>Beyin mekanizmaları sosyal bağlamla birlikte işler</a:t>
            </a:r>
            <a:endParaRPr lang="en-US" sz="1550" dirty="0"/>
          </a:p>
          <a:p>
            <a:pPr algn="l" marL="342900" indent="-342900">
              <a:lnSpc>
                <a:spcPts val="2500"/>
              </a:lnSpc>
              <a:buSzPct val="100000"/>
              <a:buChar char="•"/>
            </a:pPr>
            <a:r>
              <a:rPr lang="en-US" sz="1550" dirty="0">
                <a:solidFill>
                  <a:srgbClr val="FFFFFF"/>
                </a:solidFill>
                <a:latin typeface="Heebo" pitchFamily="34" charset="0"/>
                <a:ea typeface="Heebo" pitchFamily="34" charset="-122"/>
                <a:cs typeface="Heebo" pitchFamily="34" charset="-120"/>
              </a:rPr>
              <a:t>Testosteron etkisi durumsal faktörlere bağlıdır</a:t>
            </a:r>
            <a:endParaRPr lang="en-US" sz="1550" dirty="0"/>
          </a:p>
          <a:p>
            <a:pPr algn="l" marL="342900" indent="-342900">
              <a:lnSpc>
                <a:spcPts val="2500"/>
              </a:lnSpc>
              <a:buSzPct val="100000"/>
              <a:buChar char="•"/>
            </a:pPr>
            <a:r>
              <a:rPr lang="en-US" sz="1550" dirty="0">
                <a:solidFill>
                  <a:srgbClr val="FFFFFF"/>
                </a:solidFill>
                <a:latin typeface="Heebo" pitchFamily="34" charset="0"/>
                <a:ea typeface="Heebo" pitchFamily="34" charset="-122"/>
                <a:cs typeface="Heebo" pitchFamily="34" charset="-120"/>
              </a:rPr>
              <a:t>Alkol farmakolojik ve psikolojik yollarla etkiler</a:t>
            </a:r>
            <a:endParaRPr lang="en-US" sz="1550" dirty="0"/>
          </a:p>
        </p:txBody>
      </p:sp>
      <p:sp>
        <p:nvSpPr>
          <p:cNvPr id="8" name="Text 6"/>
          <p:cNvSpPr/>
          <p:nvPr/>
        </p:nvSpPr>
        <p:spPr>
          <a:xfrm>
            <a:off x="7564874" y="3513534"/>
            <a:ext cx="2547937" cy="310158"/>
          </a:xfrm>
          <a:prstGeom prst="rect">
            <a:avLst/>
          </a:prstGeom>
          <a:noFill/>
          <a:ln/>
        </p:spPr>
        <p:txBody>
          <a:bodyPr wrap="none" lIns="0" tIns="0" rIns="0" bIns="0" rtlCol="0" anchor="t"/>
          <a:lstStyle/>
          <a:p>
            <a:pPr algn="l" indent="0" marL="0">
              <a:lnSpc>
                <a:spcPts val="2400"/>
              </a:lnSpc>
              <a:buNone/>
            </a:pPr>
            <a:r>
              <a:rPr lang="en-US" sz="1950" dirty="0">
                <a:solidFill>
                  <a:srgbClr val="152D47"/>
                </a:solidFill>
                <a:latin typeface="Crimson Pro Semi Bold" pitchFamily="34" charset="0"/>
                <a:ea typeface="Crimson Pro Semi Bold" pitchFamily="34" charset="-122"/>
                <a:cs typeface="Crimson Pro Semi Bold" pitchFamily="34" charset="-120"/>
              </a:rPr>
              <a:t>Sosyal ve Kültürel Güçler</a:t>
            </a:r>
            <a:endParaRPr lang="en-US" sz="1950" dirty="0"/>
          </a:p>
        </p:txBody>
      </p:sp>
      <p:sp>
        <p:nvSpPr>
          <p:cNvPr id="9" name="Text 7"/>
          <p:cNvSpPr/>
          <p:nvPr/>
        </p:nvSpPr>
        <p:spPr>
          <a:xfrm>
            <a:off x="7564874" y="4022050"/>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İnsan son derece kültürel bir hayvandır. Saldırganlık temel bir insan dürtüsü olsa da bu dürtünün ifadesi, belirli bir toplumda belirli bir zamanda faaliyet gösteren güçlere bağlıdır.</a:t>
            </a:r>
            <a:endParaRPr lang="en-US" sz="1550" dirty="0"/>
          </a:p>
        </p:txBody>
      </p:sp>
      <p:sp>
        <p:nvSpPr>
          <p:cNvPr id="10" name="Text 8"/>
          <p:cNvSpPr/>
          <p:nvPr/>
        </p:nvSpPr>
        <p:spPr>
          <a:xfrm>
            <a:off x="7564874" y="5153263"/>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Kanunlar ve sosyal/kültürel normlar, saldırgan davranışları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engelleyebilen veya kolaylaştırabilen</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güçlü faktörler olarak hizmet eder.</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793790" y="2468404"/>
            <a:ext cx="1241584" cy="373142"/>
          </a:xfrm>
          <a:prstGeom prst="roundRect">
            <a:avLst>
              <a:gd name="adj" fmla="val 6383"/>
            </a:avLst>
          </a:prstGeom>
          <a:solidFill>
            <a:srgbClr val="CCD7FF"/>
          </a:solidFill>
          <a:ln/>
        </p:spPr>
      </p:sp>
      <p:sp>
        <p:nvSpPr>
          <p:cNvPr id="3" name="Text 1"/>
          <p:cNvSpPr/>
          <p:nvPr/>
        </p:nvSpPr>
        <p:spPr>
          <a:xfrm>
            <a:off x="912852" y="2527935"/>
            <a:ext cx="1003459" cy="254079"/>
          </a:xfrm>
          <a:prstGeom prst="rect">
            <a:avLst/>
          </a:prstGeom>
          <a:noFill/>
          <a:ln/>
        </p:spPr>
        <p:txBody>
          <a:bodyPr wrap="none" lIns="0" tIns="0" rIns="0" bIns="0" rtlCol="0" anchor="t"/>
          <a:lstStyle/>
          <a:p>
            <a:pPr algn="l" indent="0" marL="0">
              <a:lnSpc>
                <a:spcPts val="2000"/>
              </a:lnSpc>
              <a:buNone/>
            </a:pPr>
            <a:r>
              <a:rPr lang="en-US" sz="1250" dirty="0">
                <a:solidFill>
                  <a:srgbClr val="4C4C4D"/>
                </a:solidFill>
                <a:latin typeface="Heebo" pitchFamily="34" charset="0"/>
                <a:ea typeface="Heebo" pitchFamily="34" charset="-122"/>
                <a:cs typeface="Heebo" pitchFamily="34" charset="-120"/>
              </a:rPr>
              <a:t>VAKA ÖRNEĞİ</a:t>
            </a:r>
            <a:endParaRPr lang="en-US" sz="1250" dirty="0"/>
          </a:p>
        </p:txBody>
      </p:sp>
      <p:sp>
        <p:nvSpPr>
          <p:cNvPr id="4" name="Text 2"/>
          <p:cNvSpPr/>
          <p:nvPr/>
        </p:nvSpPr>
        <p:spPr>
          <a:xfrm>
            <a:off x="793790" y="2920841"/>
            <a:ext cx="9802535" cy="620078"/>
          </a:xfrm>
          <a:prstGeom prst="rect">
            <a:avLst/>
          </a:prstGeom>
          <a:noFill/>
          <a:ln/>
        </p:spPr>
        <p:txBody>
          <a:bodyPr wrap="none" lIns="0" tIns="0" rIns="0" bIns="0" rtlCol="0" anchor="t"/>
          <a:lstStyle/>
          <a:p>
            <a:pPr algn="l" indent="0" marL="0">
              <a:lnSpc>
                <a:spcPts val="4850"/>
              </a:lnSpc>
              <a:buNone/>
            </a:pPr>
            <a:r>
              <a:rPr lang="en-US" sz="3900" dirty="0">
                <a:solidFill>
                  <a:srgbClr val="152D47"/>
                </a:solidFill>
                <a:latin typeface="Crimson Pro Semi Bold" pitchFamily="34" charset="0"/>
                <a:ea typeface="Crimson Pro Semi Bold" pitchFamily="34" charset="-122"/>
                <a:cs typeface="Crimson Pro Semi Bold" pitchFamily="34" charset="-120"/>
              </a:rPr>
              <a:t>Muhammad ve Malvo Davası: Bütünleşik Analiz</a:t>
            </a:r>
            <a:endParaRPr lang="en-US" sz="3900" dirty="0"/>
          </a:p>
        </p:txBody>
      </p:sp>
      <p:sp>
        <p:nvSpPr>
          <p:cNvPr id="5" name="Text 3"/>
          <p:cNvSpPr/>
          <p:nvPr/>
        </p:nvSpPr>
        <p:spPr>
          <a:xfrm>
            <a:off x="793790" y="3838575"/>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Pek çok kişi John Muhammad ve Lee Malvo'nun cinayet davranışını aşırı testosterona veya anormal beyin devrelerine bağlamaz.</a:t>
            </a:r>
            <a:endParaRPr lang="en-US" sz="155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68204" y="4385429"/>
            <a:ext cx="297656" cy="297656"/>
          </a:xfrm>
          <a:prstGeom prst="rect">
            <a:avLst/>
          </a:prstGeom>
        </p:spPr>
      </p:pic>
      <p:sp>
        <p:nvSpPr>
          <p:cNvPr id="7" name="Text 4"/>
          <p:cNvSpPr/>
          <p:nvPr/>
        </p:nvSpPr>
        <p:spPr>
          <a:xfrm>
            <a:off x="1438632" y="4379357"/>
            <a:ext cx="2757488"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Biyolojik Faktörler Yetersiz</a:t>
            </a:r>
            <a:endParaRPr lang="en-US" sz="1950" dirty="0"/>
          </a:p>
        </p:txBody>
      </p:sp>
      <p:sp>
        <p:nvSpPr>
          <p:cNvPr id="8" name="Text 5"/>
          <p:cNvSpPr/>
          <p:nvPr/>
        </p:nvSpPr>
        <p:spPr>
          <a:xfrm>
            <a:off x="1438632" y="4808577"/>
            <a:ext cx="3537347" cy="95261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Fizyolojik güçler, insanlarda saldırganlığın sergilendiği çoğu durumu tek başına açıklayamaz.</a:t>
            </a:r>
            <a:endParaRPr lang="en-US" sz="155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98400" y="4385429"/>
            <a:ext cx="297656" cy="297656"/>
          </a:xfrm>
          <a:prstGeom prst="rect">
            <a:avLst/>
          </a:prstGeom>
        </p:spPr>
      </p:pic>
      <p:sp>
        <p:nvSpPr>
          <p:cNvPr id="10" name="Text 6"/>
          <p:cNvSpPr/>
          <p:nvPr/>
        </p:nvSpPr>
        <p:spPr>
          <a:xfrm>
            <a:off x="5868829" y="437935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Sosyal Dünya Belirleyici</a:t>
            </a:r>
            <a:endParaRPr lang="en-US" sz="1950" dirty="0"/>
          </a:p>
        </p:txBody>
      </p:sp>
      <p:sp>
        <p:nvSpPr>
          <p:cNvPr id="11" name="Text 7"/>
          <p:cNvSpPr/>
          <p:nvPr/>
        </p:nvSpPr>
        <p:spPr>
          <a:xfrm>
            <a:off x="5868829" y="4808577"/>
            <a:ext cx="3537466" cy="95261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Şiddet içeren video oyunları oynamak ve şiddeti destekleyen bir grupla ilişki kurmak davranışı şekillendirdi.</a:t>
            </a:r>
            <a:endParaRPr lang="en-US" sz="155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728716" y="4385429"/>
            <a:ext cx="297656" cy="297656"/>
          </a:xfrm>
          <a:prstGeom prst="rect">
            <a:avLst/>
          </a:prstGeom>
        </p:spPr>
      </p:pic>
      <p:sp>
        <p:nvSpPr>
          <p:cNvPr id="13" name="Text 8"/>
          <p:cNvSpPr/>
          <p:nvPr/>
        </p:nvSpPr>
        <p:spPr>
          <a:xfrm>
            <a:off x="10299144" y="437935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Bütünleşik Açıklama</a:t>
            </a:r>
            <a:endParaRPr lang="en-US" sz="1950" dirty="0"/>
          </a:p>
        </p:txBody>
      </p:sp>
      <p:sp>
        <p:nvSpPr>
          <p:cNvPr id="14" name="Text 9"/>
          <p:cNvSpPr/>
          <p:nvPr/>
        </p:nvSpPr>
        <p:spPr>
          <a:xfrm>
            <a:off x="10299144" y="4808577"/>
            <a:ext cx="3537466" cy="95261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Davranış yalnızca biyolojinin değil, aynı zamanda sosyal dünyanın da ürünüdür. Biyoloji + çevre + kültür = saldırganlık.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793790" y="1453277"/>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152D47"/>
                </a:solidFill>
                <a:latin typeface="Crimson Pro Semi Bold" pitchFamily="34" charset="0"/>
                <a:ea typeface="Crimson Pro Semi Bold" pitchFamily="34" charset="-122"/>
                <a:cs typeface="Crimson Pro Semi Bold" pitchFamily="34" charset="-120"/>
              </a:rPr>
              <a:t>Temel Çıkarımlar</a:t>
            </a:r>
            <a:endParaRPr lang="en-US" sz="3900" dirty="0"/>
          </a:p>
        </p:txBody>
      </p:sp>
      <p:sp>
        <p:nvSpPr>
          <p:cNvPr id="3" name="Shape 1"/>
          <p:cNvSpPr/>
          <p:nvPr/>
        </p:nvSpPr>
        <p:spPr>
          <a:xfrm>
            <a:off x="793790" y="2470190"/>
            <a:ext cx="13042821" cy="3239572"/>
          </a:xfrm>
          <a:prstGeom prst="roundRect">
            <a:avLst>
              <a:gd name="adj" fmla="val 919"/>
            </a:avLst>
          </a:prstGeom>
          <a:solidFill>
            <a:srgbClr val="F2EEEE"/>
          </a:solidFill>
          <a:ln/>
        </p:spPr>
      </p:sp>
      <p:sp>
        <p:nvSpPr>
          <p:cNvPr id="4" name="Shape 2"/>
          <p:cNvSpPr/>
          <p:nvPr/>
        </p:nvSpPr>
        <p:spPr>
          <a:xfrm>
            <a:off x="793790" y="2470190"/>
            <a:ext cx="6521410" cy="1778556"/>
          </a:xfrm>
          <a:prstGeom prst="roundRect">
            <a:avLst>
              <a:gd name="adj" fmla="val 1674"/>
            </a:avLst>
          </a:prstGeom>
          <a:solidFill>
            <a:srgbClr val="F2EEEE"/>
          </a:solidFill>
          <a:ln/>
        </p:spPr>
      </p:sp>
      <p:sp>
        <p:nvSpPr>
          <p:cNvPr id="5" name="Text 3"/>
          <p:cNvSpPr/>
          <p:nvPr/>
        </p:nvSpPr>
        <p:spPr>
          <a:xfrm>
            <a:off x="992148" y="266854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Etoloji &amp; Sosyobiyoloji</a:t>
            </a:r>
            <a:endParaRPr lang="en-US" sz="1950" dirty="0"/>
          </a:p>
        </p:txBody>
      </p:sp>
      <p:sp>
        <p:nvSpPr>
          <p:cNvPr id="6" name="Text 4"/>
          <p:cNvSpPr/>
          <p:nvPr/>
        </p:nvSpPr>
        <p:spPr>
          <a:xfrm>
            <a:off x="992148" y="3097768"/>
            <a:ext cx="6124694" cy="95261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Saldırganlık evrimsel öneme sahip, genetik olarak programlanmış bir davranıştır. Bölgesel savunma ve hakimiyet hiyerarşileri hayatta kalmayı destekler.</a:t>
            </a:r>
            <a:endParaRPr lang="en-US" sz="1550" dirty="0"/>
          </a:p>
        </p:txBody>
      </p:sp>
      <p:sp>
        <p:nvSpPr>
          <p:cNvPr id="7" name="Shape 5"/>
          <p:cNvSpPr/>
          <p:nvPr/>
        </p:nvSpPr>
        <p:spPr>
          <a:xfrm>
            <a:off x="7315200" y="2470190"/>
            <a:ext cx="6521410" cy="1778556"/>
          </a:xfrm>
          <a:prstGeom prst="rect">
            <a:avLst/>
          </a:prstGeom>
          <a:solidFill>
            <a:srgbClr val="F2EEEE"/>
          </a:solidFill>
          <a:ln/>
        </p:spPr>
      </p:sp>
      <p:sp>
        <p:nvSpPr>
          <p:cNvPr id="8" name="Shape 6"/>
          <p:cNvSpPr/>
          <p:nvPr/>
        </p:nvSpPr>
        <p:spPr>
          <a:xfrm>
            <a:off x="7315200" y="2470190"/>
            <a:ext cx="22860" cy="1778556"/>
          </a:xfrm>
          <a:prstGeom prst="roundRect">
            <a:avLst>
              <a:gd name="adj" fmla="val 130232"/>
            </a:avLst>
          </a:prstGeom>
          <a:solidFill>
            <a:srgbClr val="D8D4D4"/>
          </a:solidFill>
          <a:ln/>
        </p:spPr>
      </p:sp>
      <p:sp>
        <p:nvSpPr>
          <p:cNvPr id="9" name="Text 7"/>
          <p:cNvSpPr/>
          <p:nvPr/>
        </p:nvSpPr>
        <p:spPr>
          <a:xfrm>
            <a:off x="7513558" y="266854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Genetik &amp; Fizyoloji</a:t>
            </a:r>
            <a:endParaRPr lang="en-US" sz="1950" dirty="0"/>
          </a:p>
        </p:txBody>
      </p:sp>
      <p:sp>
        <p:nvSpPr>
          <p:cNvPr id="10" name="Text 8"/>
          <p:cNvSpPr/>
          <p:nvPr/>
        </p:nvSpPr>
        <p:spPr>
          <a:xfrm>
            <a:off x="7513558" y="3097768"/>
            <a:ext cx="6124694" cy="63507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Genetik yatkınlık, beyin mekanizmaları ve hormonlar saldırganlığı etkiler; ancak bu etkiler her zaman sosyal bağlamla birlikte işler.</a:t>
            </a:r>
            <a:endParaRPr lang="en-US" sz="1550" dirty="0"/>
          </a:p>
        </p:txBody>
      </p:sp>
      <p:sp>
        <p:nvSpPr>
          <p:cNvPr id="11" name="Shape 9"/>
          <p:cNvSpPr/>
          <p:nvPr/>
        </p:nvSpPr>
        <p:spPr>
          <a:xfrm>
            <a:off x="793790" y="4248745"/>
            <a:ext cx="6521410" cy="1461016"/>
          </a:xfrm>
          <a:prstGeom prst="rect">
            <a:avLst/>
          </a:prstGeom>
          <a:solidFill>
            <a:srgbClr val="F2EEEE"/>
          </a:solidFill>
          <a:ln/>
        </p:spPr>
      </p:sp>
      <p:sp>
        <p:nvSpPr>
          <p:cNvPr id="12" name="Shape 10"/>
          <p:cNvSpPr/>
          <p:nvPr/>
        </p:nvSpPr>
        <p:spPr>
          <a:xfrm>
            <a:off x="793790" y="4248745"/>
            <a:ext cx="6521410" cy="22860"/>
          </a:xfrm>
          <a:prstGeom prst="roundRect">
            <a:avLst>
              <a:gd name="adj" fmla="val 130232"/>
            </a:avLst>
          </a:prstGeom>
          <a:solidFill>
            <a:srgbClr val="D8D4D4"/>
          </a:solidFill>
          <a:ln/>
        </p:spPr>
      </p:sp>
      <p:sp>
        <p:nvSpPr>
          <p:cNvPr id="13" name="Text 11"/>
          <p:cNvSpPr/>
          <p:nvPr/>
        </p:nvSpPr>
        <p:spPr>
          <a:xfrm>
            <a:off x="992148" y="444710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Alkol &amp; Beklentiler</a:t>
            </a:r>
            <a:endParaRPr lang="en-US" sz="1950" dirty="0"/>
          </a:p>
        </p:txBody>
      </p:sp>
      <p:sp>
        <p:nvSpPr>
          <p:cNvPr id="14" name="Text 12"/>
          <p:cNvSpPr/>
          <p:nvPr/>
        </p:nvSpPr>
        <p:spPr>
          <a:xfrm>
            <a:off x="992148" y="4876324"/>
            <a:ext cx="6124694" cy="63507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Alkol serotonin düşüşü ve ECF bozulması yoluyla saldırganlığı artırır. Beklentiler, kişilik ve durumsal faktörler bu etkiyi düzenler.</a:t>
            </a:r>
            <a:endParaRPr lang="en-US" sz="1550" dirty="0"/>
          </a:p>
        </p:txBody>
      </p:sp>
      <p:sp>
        <p:nvSpPr>
          <p:cNvPr id="15" name="Shape 13"/>
          <p:cNvSpPr/>
          <p:nvPr/>
        </p:nvSpPr>
        <p:spPr>
          <a:xfrm>
            <a:off x="7315200" y="4248745"/>
            <a:ext cx="6521410" cy="1461016"/>
          </a:xfrm>
          <a:prstGeom prst="rect">
            <a:avLst/>
          </a:prstGeom>
          <a:solidFill>
            <a:srgbClr val="F2EEEE"/>
          </a:solidFill>
          <a:ln/>
        </p:spPr>
      </p:sp>
      <p:sp>
        <p:nvSpPr>
          <p:cNvPr id="16" name="Shape 14"/>
          <p:cNvSpPr/>
          <p:nvPr/>
        </p:nvSpPr>
        <p:spPr>
          <a:xfrm>
            <a:off x="7315200" y="4248745"/>
            <a:ext cx="22860" cy="1461016"/>
          </a:xfrm>
          <a:prstGeom prst="roundRect">
            <a:avLst>
              <a:gd name="adj" fmla="val 130232"/>
            </a:avLst>
          </a:prstGeom>
          <a:solidFill>
            <a:srgbClr val="D8D4D4"/>
          </a:solidFill>
          <a:ln/>
        </p:spPr>
      </p:sp>
      <p:sp>
        <p:nvSpPr>
          <p:cNvPr id="17" name="Shape 15"/>
          <p:cNvSpPr/>
          <p:nvPr/>
        </p:nvSpPr>
        <p:spPr>
          <a:xfrm>
            <a:off x="7315200" y="4248745"/>
            <a:ext cx="6521410" cy="22860"/>
          </a:xfrm>
          <a:prstGeom prst="roundRect">
            <a:avLst>
              <a:gd name="adj" fmla="val 130232"/>
            </a:avLst>
          </a:prstGeom>
          <a:solidFill>
            <a:srgbClr val="D8D4D4"/>
          </a:solidFill>
          <a:ln/>
        </p:spPr>
      </p:sp>
      <p:sp>
        <p:nvSpPr>
          <p:cNvPr id="18" name="Text 16"/>
          <p:cNvSpPr/>
          <p:nvPr/>
        </p:nvSpPr>
        <p:spPr>
          <a:xfrm>
            <a:off x="7513558" y="444710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Bütünleşik Bakış</a:t>
            </a:r>
            <a:endParaRPr lang="en-US" sz="1950" dirty="0"/>
          </a:p>
        </p:txBody>
      </p:sp>
      <p:sp>
        <p:nvSpPr>
          <p:cNvPr id="19" name="Text 17"/>
          <p:cNvSpPr/>
          <p:nvPr/>
        </p:nvSpPr>
        <p:spPr>
          <a:xfrm>
            <a:off x="7513558" y="4876324"/>
            <a:ext cx="6124694" cy="63507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Saldırganlık biyoloji, psikoloji ve kültürün karmaşık etkileşiminin ürünüdür. Hiçbir tek faktör tüm tabloyu açıklayamaz.</a:t>
            </a:r>
            <a:endParaRPr lang="en-US" sz="1550" dirty="0"/>
          </a:p>
        </p:txBody>
      </p:sp>
      <p:sp>
        <p:nvSpPr>
          <p:cNvPr id="20" name="Shape 18"/>
          <p:cNvSpPr/>
          <p:nvPr/>
        </p:nvSpPr>
        <p:spPr>
          <a:xfrm>
            <a:off x="793790" y="5933003"/>
            <a:ext cx="13042821" cy="843201"/>
          </a:xfrm>
          <a:prstGeom prst="roundRect">
            <a:avLst>
              <a:gd name="adj" fmla="val 3531"/>
            </a:avLst>
          </a:prstGeom>
          <a:solidFill>
            <a:srgbClr val="B6FCB8"/>
          </a:solidFill>
          <a:ln/>
        </p:spPr>
      </p:sp>
      <p:pic>
        <p:nvPicPr>
          <p:cNvPr id="21" name="Image 0" descr="preencoded.png">    </p:cNvPr>
          <p:cNvPicPr>
            <a:picLocks noChangeAspect="1"/>
          </p:cNvPicPr>
          <p:nvPr/>
        </p:nvPicPr>
        <p:blipFill>
          <a:blip r:embed="rId1"/>
          <a:stretch>
            <a:fillRect/>
          </a:stretch>
        </p:blipFill>
        <p:spPr>
          <a:xfrm>
            <a:off x="992148" y="6220658"/>
            <a:ext cx="248007" cy="198358"/>
          </a:xfrm>
          <a:prstGeom prst="rect">
            <a:avLst/>
          </a:prstGeom>
        </p:spPr>
      </p:pic>
      <p:sp>
        <p:nvSpPr>
          <p:cNvPr id="22" name="Text 19"/>
          <p:cNvSpPr/>
          <p:nvPr/>
        </p:nvSpPr>
        <p:spPr>
          <a:xfrm>
            <a:off x="1438513" y="6180892"/>
            <a:ext cx="12199739"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Heebo" pitchFamily="34" charset="0"/>
                <a:ea typeface="Heebo" pitchFamily="34" charset="-122"/>
                <a:cs typeface="Heebo" pitchFamily="34" charset="-120"/>
              </a:rPr>
              <a:t>Saldırganlığı anlamak için makro (evrimsel), mikro (fizyolojik) ve sosyal düzeyleri birlikte değerlendirmek gerekir.</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2026-04-16T05:28:34Z</dcterms:created>
  <dcterms:modified xsi:type="dcterms:W3CDTF">2026-04-16T05:28:34Z</dcterms:modified>
</cp:coreProperties>
</file>