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Crimson Pro Semi Bold"/>
      <p:regular r:id="rId27"/>
    </p:embeddedFont>
    <p:embeddedFont>
      <p:font typeface="Crimson Pro Semi Bold"/>
      <p:regular r:id="rId28"/>
    </p:embeddedFont>
    <p:embeddedFont>
      <p:font typeface="Crimson Pro Semi Bold"/>
      <p:regular r:id="rId29"/>
    </p:embeddedFont>
    <p:embeddedFont>
      <p:font typeface="Crimson Pro Semi Bold"/>
      <p:regular r:id="rId30"/>
    </p:embeddedFont>
    <p:embeddedFont>
      <p:font typeface="Heebo"/>
      <p:regular r:id="rId31"/>
    </p:embeddedFont>
    <p:embeddedFont>
      <p:font typeface="Heebo"/>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slideLayout" Target="../slideLayouts/slideLayout5.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image" Target="../media/image-11-4.png"/><Relationship Id="rId5" Type="http://schemas.openxmlformats.org/officeDocument/2006/relationships/image" Target="../media/image-11-5.svg"/><Relationship Id="rId6" Type="http://schemas.openxmlformats.org/officeDocument/2006/relationships/image" Target="../media/image-11-6.png"/><Relationship Id="rId7" Type="http://schemas.openxmlformats.org/officeDocument/2006/relationships/image" Target="../media/image-11-7.svg"/><Relationship Id="rId8" Type="http://schemas.openxmlformats.org/officeDocument/2006/relationships/slideLayout" Target="../slideLayouts/slideLayout1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6.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8.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slideLayout" Target="../slideLayouts/slideLayout19.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967389" y="3141702"/>
            <a:ext cx="10695503" cy="620078"/>
          </a:xfrm>
          <a:prstGeom prst="rect">
            <a:avLst/>
          </a:prstGeom>
          <a:noFill/>
          <a:ln/>
        </p:spPr>
        <p:txBody>
          <a:bodyPr wrap="none" lIns="0" tIns="0" rIns="0" bIns="0" rtlCol="0" anchor="t"/>
          <a:lstStyle/>
          <a:p>
            <a:pPr algn="ctr"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Psikolojik Kuramlar: Saldırganlığın Teorik Temelleri</a:t>
            </a:r>
            <a:endParaRPr lang="en-US" sz="3900" dirty="0"/>
          </a:p>
        </p:txBody>
      </p:sp>
      <p:sp>
        <p:nvSpPr>
          <p:cNvPr id="3" name="Text 1"/>
          <p:cNvSpPr/>
          <p:nvPr/>
        </p:nvSpPr>
        <p:spPr>
          <a:xfrm>
            <a:off x="793790" y="4158615"/>
            <a:ext cx="13042821" cy="317540"/>
          </a:xfrm>
          <a:prstGeom prst="rect">
            <a:avLst/>
          </a:prstGeom>
          <a:noFill/>
          <a:ln/>
        </p:spPr>
        <p:txBody>
          <a:bodyPr wrap="none" lIns="0" tIns="0" rIns="0" bIns="0" rtlCol="0" anchor="t"/>
          <a:lstStyle/>
          <a:p>
            <a:pPr algn="ctr" indent="0" marL="0">
              <a:lnSpc>
                <a:spcPts val="2500"/>
              </a:lnSpc>
              <a:buNone/>
            </a:pPr>
            <a:r>
              <a:rPr lang="en-US" sz="1550" dirty="0">
                <a:solidFill>
                  <a:srgbClr val="4C4C4D"/>
                </a:solidFill>
                <a:latin typeface="Heebo" pitchFamily="34" charset="0"/>
                <a:ea typeface="Heebo" pitchFamily="34" charset="-122"/>
                <a:cs typeface="Heebo" pitchFamily="34" charset="-120"/>
              </a:rPr>
              <a:t>İnsan saldırganlığını açıklamaya çalışan başlıca psikolojik yaklaşımların kapsamlı bir incelemesi</a:t>
            </a:r>
            <a:endParaRPr lang="en-US" sz="1550" dirty="0"/>
          </a:p>
        </p:txBody>
      </p:sp>
      <p:sp>
        <p:nvSpPr>
          <p:cNvPr id="4" name="Shape 2"/>
          <p:cNvSpPr/>
          <p:nvPr/>
        </p:nvSpPr>
        <p:spPr>
          <a:xfrm>
            <a:off x="793790" y="4707017"/>
            <a:ext cx="1240869" cy="373142"/>
          </a:xfrm>
          <a:prstGeom prst="roundRect">
            <a:avLst>
              <a:gd name="adj" fmla="val 6383"/>
            </a:avLst>
          </a:prstGeom>
          <a:solidFill>
            <a:srgbClr val="CCD7F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2852" y="4814173"/>
            <a:ext cx="158710" cy="158710"/>
          </a:xfrm>
          <a:prstGeom prst="rect">
            <a:avLst/>
          </a:prstGeom>
        </p:spPr>
      </p:pic>
      <p:sp>
        <p:nvSpPr>
          <p:cNvPr id="6" name="Text 3"/>
          <p:cNvSpPr/>
          <p:nvPr/>
        </p:nvSpPr>
        <p:spPr>
          <a:xfrm>
            <a:off x="1150858" y="4766548"/>
            <a:ext cx="764738"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PSIKOLOJI</a:t>
            </a:r>
            <a:endParaRPr lang="en-US" sz="1250" dirty="0"/>
          </a:p>
        </p:txBody>
      </p:sp>
      <p:sp>
        <p:nvSpPr>
          <p:cNvPr id="7" name="Shape 4"/>
          <p:cNvSpPr/>
          <p:nvPr/>
        </p:nvSpPr>
        <p:spPr>
          <a:xfrm>
            <a:off x="2133838" y="4699397"/>
            <a:ext cx="2032754" cy="388382"/>
          </a:xfrm>
          <a:prstGeom prst="roundRect">
            <a:avLst>
              <a:gd name="adj" fmla="val 6132"/>
            </a:avLst>
          </a:prstGeom>
          <a:noFill/>
          <a:ln w="7620">
            <a:solidFill>
              <a:srgbClr val="2150FE"/>
            </a:solidFill>
            <a:prstDash val="solid"/>
          </a:ln>
        </p:spPr>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60521" y="4814173"/>
            <a:ext cx="158710" cy="158710"/>
          </a:xfrm>
          <a:prstGeom prst="rect">
            <a:avLst/>
          </a:prstGeom>
        </p:spPr>
      </p:pic>
      <p:sp>
        <p:nvSpPr>
          <p:cNvPr id="9" name="Text 5"/>
          <p:cNvSpPr/>
          <p:nvPr/>
        </p:nvSpPr>
        <p:spPr>
          <a:xfrm>
            <a:off x="2498527" y="4766548"/>
            <a:ext cx="1541383" cy="254079"/>
          </a:xfrm>
          <a:prstGeom prst="rect">
            <a:avLst/>
          </a:prstGeom>
          <a:noFill/>
          <a:ln/>
        </p:spPr>
        <p:txBody>
          <a:bodyPr wrap="none" lIns="0" tIns="0" rIns="0" bIns="0" rtlCol="0" anchor="t"/>
          <a:lstStyle/>
          <a:p>
            <a:pPr algn="l" indent="0" marL="0">
              <a:lnSpc>
                <a:spcPts val="2000"/>
              </a:lnSpc>
              <a:buNone/>
            </a:pPr>
            <a:r>
              <a:rPr lang="en-US" sz="1250" dirty="0">
                <a:solidFill>
                  <a:srgbClr val="2150FE"/>
                </a:solidFill>
                <a:latin typeface="Heebo" pitchFamily="34" charset="0"/>
                <a:ea typeface="Heebo" pitchFamily="34" charset="-122"/>
                <a:cs typeface="Heebo" pitchFamily="34" charset="-120"/>
              </a:rPr>
              <a:t>KURAMSAL ÇERÇEVE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2102644"/>
            <a:ext cx="901898" cy="373142"/>
          </a:xfrm>
          <a:prstGeom prst="roundRect">
            <a:avLst>
              <a:gd name="adj" fmla="val 6383"/>
            </a:avLst>
          </a:prstGeom>
          <a:solidFill>
            <a:srgbClr val="CCD7FF"/>
          </a:solidFill>
          <a:ln/>
        </p:spPr>
      </p:sp>
      <p:sp>
        <p:nvSpPr>
          <p:cNvPr id="3" name="Text 1"/>
          <p:cNvSpPr/>
          <p:nvPr/>
        </p:nvSpPr>
        <p:spPr>
          <a:xfrm>
            <a:off x="912852" y="2162175"/>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1</a:t>
            </a:r>
            <a:endParaRPr lang="en-US" sz="1250" dirty="0"/>
          </a:p>
        </p:txBody>
      </p:sp>
      <p:sp>
        <p:nvSpPr>
          <p:cNvPr id="4" name="Text 2"/>
          <p:cNvSpPr/>
          <p:nvPr/>
        </p:nvSpPr>
        <p:spPr>
          <a:xfrm>
            <a:off x="793790" y="2555081"/>
            <a:ext cx="6052066"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Freud'un Psikanalitik Kuramı</a:t>
            </a:r>
            <a:endParaRPr lang="en-US" sz="3900" dirty="0"/>
          </a:p>
        </p:txBody>
      </p:sp>
      <p:sp>
        <p:nvSpPr>
          <p:cNvPr id="5" name="Text 3"/>
          <p:cNvSpPr/>
          <p:nvPr/>
        </p:nvSpPr>
        <p:spPr>
          <a:xfrm>
            <a:off x="793790" y="3472815"/>
            <a:ext cx="13042821"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Freud, insanlarda iki temel içgüdünün var olduğunu savunur: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Yaşam içgüdüsü (Eros)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ve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ölüm içgüdüsü (Thanatos)</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Eros bireyi haz aramaya yönlendirirken, Thanatos benlik yıkımına iter. Bu iki güç arasındaki çatışma, yıkıcı enerjinin kişinin kendinden başkalarına yöneltilmesiyle çözülür. Böylece birey saldırgan davranarak psikolojik dengesini korur. Bu kurama göre saldırganlık, insan doğasının kaçınılmaz bir parçasıdır ve bireyin kontrolü dışındadır.</a:t>
            </a:r>
            <a:endParaRPr lang="en-US" sz="1550" dirty="0"/>
          </a:p>
        </p:txBody>
      </p:sp>
      <p:sp>
        <p:nvSpPr>
          <p:cNvPr id="6" name="Shape 4"/>
          <p:cNvSpPr/>
          <p:nvPr/>
        </p:nvSpPr>
        <p:spPr>
          <a:xfrm>
            <a:off x="793790" y="4966216"/>
            <a:ext cx="13042821" cy="1160740"/>
          </a:xfrm>
          <a:prstGeom prst="roundRect">
            <a:avLst>
              <a:gd name="adj" fmla="val 2565"/>
            </a:avLst>
          </a:prstGeom>
          <a:solidFill>
            <a:srgbClr val="B6D6FC"/>
          </a:solidFill>
          <a:ln/>
        </p:spPr>
      </p:sp>
      <p:pic>
        <p:nvPicPr>
          <p:cNvPr id="7" name="Image 0" descr="preencoded.png">    </p:cNvPr>
          <p:cNvPicPr>
            <a:picLocks noChangeAspect="1"/>
          </p:cNvPicPr>
          <p:nvPr/>
        </p:nvPicPr>
        <p:blipFill>
          <a:blip r:embed="rId1"/>
          <a:stretch>
            <a:fillRect/>
          </a:stretch>
        </p:blipFill>
        <p:spPr>
          <a:xfrm>
            <a:off x="992148" y="5253871"/>
            <a:ext cx="248007" cy="198358"/>
          </a:xfrm>
          <a:prstGeom prst="rect">
            <a:avLst/>
          </a:prstGeom>
        </p:spPr>
      </p:pic>
      <p:sp>
        <p:nvSpPr>
          <p:cNvPr id="8" name="Text 5"/>
          <p:cNvSpPr/>
          <p:nvPr/>
        </p:nvSpPr>
        <p:spPr>
          <a:xfrm>
            <a:off x="1438513" y="5214104"/>
            <a:ext cx="1219973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Freud (1930): </a:t>
            </a:r>
            <a:pPr algn="l" indent="0" marL="0">
              <a:lnSpc>
                <a:spcPts val="2500"/>
              </a:lnSpc>
              <a:buNone/>
            </a:pPr>
            <a:r>
              <a:rPr lang="en-US" sz="1550" i="1" dirty="0">
                <a:solidFill>
                  <a:srgbClr val="000000"/>
                </a:solidFill>
                <a:latin typeface="Heebo" pitchFamily="34" charset="0"/>
                <a:ea typeface="Heebo" pitchFamily="34" charset="-122"/>
                <a:cs typeface="Heebo" pitchFamily="34" charset="-120"/>
              </a:rPr>
              <a:t>"Ölüm içgüdüsü bütün canlılarda bulunur ve yaşamı mahvederek özgün durumundaki cansız madde hâline indirgemeye çalışır."</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680924"/>
            <a:ext cx="901898" cy="373142"/>
          </a:xfrm>
          <a:prstGeom prst="roundRect">
            <a:avLst>
              <a:gd name="adj" fmla="val 6383"/>
            </a:avLst>
          </a:prstGeom>
          <a:solidFill>
            <a:srgbClr val="CCD7FF"/>
          </a:solidFill>
          <a:ln/>
        </p:spPr>
      </p:sp>
      <p:sp>
        <p:nvSpPr>
          <p:cNvPr id="3" name="Text 1"/>
          <p:cNvSpPr/>
          <p:nvPr/>
        </p:nvSpPr>
        <p:spPr>
          <a:xfrm>
            <a:off x="912852" y="1740456"/>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1</a:t>
            </a:r>
            <a:endParaRPr lang="en-US" sz="1250" dirty="0"/>
          </a:p>
        </p:txBody>
      </p:sp>
      <p:sp>
        <p:nvSpPr>
          <p:cNvPr id="4" name="Text 2"/>
          <p:cNvSpPr/>
          <p:nvPr/>
        </p:nvSpPr>
        <p:spPr>
          <a:xfrm>
            <a:off x="793790" y="2133362"/>
            <a:ext cx="5678924"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Hidrolik Kuram Benzetmesi</a:t>
            </a:r>
            <a:endParaRPr lang="en-US" sz="3900" dirty="0"/>
          </a:p>
        </p:txBody>
      </p:sp>
      <p:sp>
        <p:nvSpPr>
          <p:cNvPr id="5" name="Shape 3"/>
          <p:cNvSpPr/>
          <p:nvPr/>
        </p:nvSpPr>
        <p:spPr>
          <a:xfrm>
            <a:off x="650915" y="3051096"/>
            <a:ext cx="6565106" cy="3497580"/>
          </a:xfrm>
          <a:prstGeom prst="roundRect">
            <a:avLst>
              <a:gd name="adj" fmla="val 851"/>
            </a:avLst>
          </a:prstGeom>
          <a:solidFill>
            <a:srgbClr val="2150FE"/>
          </a:solidFill>
          <a:ln/>
        </p:spPr>
      </p:sp>
      <p:sp>
        <p:nvSpPr>
          <p:cNvPr id="6" name="Text 4"/>
          <p:cNvSpPr/>
          <p:nvPr/>
        </p:nvSpPr>
        <p:spPr>
          <a:xfrm>
            <a:off x="849273" y="32494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Temel Fikir</a:t>
            </a:r>
            <a:endParaRPr lang="en-US" sz="1950" dirty="0"/>
          </a:p>
        </p:txBody>
      </p:sp>
      <p:sp>
        <p:nvSpPr>
          <p:cNvPr id="7" name="Text 5"/>
          <p:cNvSpPr/>
          <p:nvPr/>
        </p:nvSpPr>
        <p:spPr>
          <a:xfrm>
            <a:off x="849273" y="3757970"/>
            <a:ext cx="6168390" cy="95261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Freud'un fikirleri "hidrolik kuram" benzetmesiyle anlaşılır: Bir kaptaki su basıncı artarken enerji salınmazsa patlama yaşanır. Saldırgan enerji mutlaka bir çıkış yolu bulmalıdır.</a:t>
            </a:r>
            <a:endParaRPr lang="en-US" sz="1550" dirty="0"/>
          </a:p>
        </p:txBody>
      </p:sp>
      <p:sp>
        <p:nvSpPr>
          <p:cNvPr id="8" name="Text 6"/>
          <p:cNvSpPr/>
          <p:nvPr/>
        </p:nvSpPr>
        <p:spPr>
          <a:xfrm>
            <a:off x="7564874" y="32494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Yüceltme (Sublimation)</a:t>
            </a:r>
            <a:endParaRPr lang="en-US" sz="1950" dirty="0"/>
          </a:p>
        </p:txBody>
      </p:sp>
      <p:sp>
        <p:nvSpPr>
          <p:cNvPr id="9" name="Text 7"/>
          <p:cNvSpPr/>
          <p:nvPr/>
        </p:nvSpPr>
        <p:spPr>
          <a:xfrm>
            <a:off x="7564874" y="3757970"/>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Freud'a göre toplum, bu içgüdülerin düzenlenmesinde yardımcı olur. Enerji kabul edilebilir davranışlara dönüştürülür. Sanatsal yaratı ve şehirlerin gelişimi, saldırgan ya da cinsel enerjinin yüceltilmesinin ürünleridir.</a:t>
            </a:r>
            <a:endParaRPr lang="en-US" sz="1550" dirty="0"/>
          </a:p>
        </p:txBody>
      </p:sp>
      <p:sp>
        <p:nvSpPr>
          <p:cNvPr id="10" name="Text 8"/>
          <p:cNvSpPr/>
          <p:nvPr/>
        </p:nvSpPr>
        <p:spPr>
          <a:xfrm>
            <a:off x="7564874" y="522648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Hobbes ile Bağlantı</a:t>
            </a:r>
            <a:endParaRPr lang="en-US" sz="1950" dirty="0"/>
          </a:p>
        </p:txBody>
      </p:sp>
      <p:sp>
        <p:nvSpPr>
          <p:cNvPr id="11" name="Text 9"/>
          <p:cNvSpPr/>
          <p:nvPr/>
        </p:nvSpPr>
        <p:spPr>
          <a:xfrm>
            <a:off x="7564874" y="5735003"/>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Freud'un görüşleri, insanın doğası gereği saldırgan olduğunu savunan Hobbes'un kötümser yaklaşımıyla örtüşür.</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1617583"/>
            <a:ext cx="901898" cy="373142"/>
          </a:xfrm>
          <a:prstGeom prst="roundRect">
            <a:avLst>
              <a:gd name="adj" fmla="val 6383"/>
            </a:avLst>
          </a:prstGeom>
          <a:solidFill>
            <a:srgbClr val="CCD7FF"/>
          </a:solidFill>
          <a:ln/>
        </p:spPr>
      </p:sp>
      <p:sp>
        <p:nvSpPr>
          <p:cNvPr id="3" name="Text 1"/>
          <p:cNvSpPr/>
          <p:nvPr/>
        </p:nvSpPr>
        <p:spPr>
          <a:xfrm>
            <a:off x="912852" y="1677114"/>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1</a:t>
            </a:r>
            <a:endParaRPr lang="en-US" sz="1250" dirty="0"/>
          </a:p>
        </p:txBody>
      </p:sp>
      <p:sp>
        <p:nvSpPr>
          <p:cNvPr id="4" name="Text 2"/>
          <p:cNvSpPr/>
          <p:nvPr/>
        </p:nvSpPr>
        <p:spPr>
          <a:xfrm>
            <a:off x="793790" y="2070021"/>
            <a:ext cx="7351990"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İçgüdü Teorisi ve Evrimsel Yaklaşım</a:t>
            </a:r>
            <a:endParaRPr lang="en-US" sz="3900" dirty="0"/>
          </a:p>
        </p:txBody>
      </p:sp>
      <p:sp>
        <p:nvSpPr>
          <p:cNvPr id="5" name="Text 3"/>
          <p:cNvSpPr/>
          <p:nvPr/>
        </p:nvSpPr>
        <p:spPr>
          <a:xfrm>
            <a:off x="793790" y="298775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Darwin tarafından bilimsel olarak öne çıkarılan içgüdü teorisi, saldırganlığı evrimsel bir adaptasyon olarak görür. Bu görüşe göre saldırganlık, eski atalarımızın hayatta kalmasını kolaylaştırmıştır.</a:t>
            </a:r>
            <a:endParaRPr lang="en-US" sz="15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846076"/>
            <a:ext cx="496133" cy="496133"/>
          </a:xfrm>
          <a:prstGeom prst="rect">
            <a:avLst/>
          </a:prstGeom>
        </p:spPr>
      </p:pic>
      <p:sp>
        <p:nvSpPr>
          <p:cNvPr id="7" name="Text 4"/>
          <p:cNvSpPr/>
          <p:nvPr/>
        </p:nvSpPr>
        <p:spPr>
          <a:xfrm>
            <a:off x="1537930" y="384607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Dağılım</a:t>
            </a:r>
            <a:endParaRPr lang="en-US" sz="1950" dirty="0"/>
          </a:p>
        </p:txBody>
      </p:sp>
      <p:sp>
        <p:nvSpPr>
          <p:cNvPr id="8" name="Text 5"/>
          <p:cNvSpPr/>
          <p:nvPr/>
        </p:nvSpPr>
        <p:spPr>
          <a:xfrm>
            <a:off x="1537930" y="4275296"/>
            <a:ext cx="3438049"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Saldırganlık, popülasyonların geniş alanlara yayılmasını sağlayarak doğal kaynakların maksimum kullanımına olanak tanır.</a:t>
            </a:r>
            <a:endParaRPr lang="en-US" sz="15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3986" y="3846076"/>
            <a:ext cx="496133" cy="496133"/>
          </a:xfrm>
          <a:prstGeom prst="rect">
            <a:avLst/>
          </a:prstGeom>
        </p:spPr>
      </p:pic>
      <p:sp>
        <p:nvSpPr>
          <p:cNvPr id="10" name="Text 6"/>
          <p:cNvSpPr/>
          <p:nvPr/>
        </p:nvSpPr>
        <p:spPr>
          <a:xfrm>
            <a:off x="5968127" y="384607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Rekabet</a:t>
            </a:r>
            <a:endParaRPr lang="en-US" sz="1950" dirty="0"/>
          </a:p>
        </p:txBody>
      </p:sp>
      <p:sp>
        <p:nvSpPr>
          <p:cNvPr id="11" name="Text 7"/>
          <p:cNvSpPr/>
          <p:nvPr/>
        </p:nvSpPr>
        <p:spPr>
          <a:xfrm>
            <a:off x="5968127" y="4275296"/>
            <a:ext cx="3438168"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Sınırlı kaynaklar için başarılı rekabeti mümkün kılar; bireysel hayatta kalma ve üreme yeteneğini artırır.</a:t>
            </a:r>
            <a:endParaRPr lang="en-US" sz="15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4302" y="3846076"/>
            <a:ext cx="496133" cy="496133"/>
          </a:xfrm>
          <a:prstGeom prst="rect">
            <a:avLst/>
          </a:prstGeom>
        </p:spPr>
      </p:pic>
      <p:sp>
        <p:nvSpPr>
          <p:cNvPr id="13" name="Text 8"/>
          <p:cNvSpPr/>
          <p:nvPr/>
        </p:nvSpPr>
        <p:spPr>
          <a:xfrm>
            <a:off x="10398443" y="384607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Genetik Aktarım</a:t>
            </a:r>
            <a:endParaRPr lang="en-US" sz="1950" dirty="0"/>
          </a:p>
        </p:txBody>
      </p:sp>
      <p:sp>
        <p:nvSpPr>
          <p:cNvPr id="14" name="Text 9"/>
          <p:cNvSpPr/>
          <p:nvPr/>
        </p:nvSpPr>
        <p:spPr>
          <a:xfrm>
            <a:off x="10398443" y="4275296"/>
            <a:ext cx="3438168"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Yalnızca en güçlü bireylerin genlerini bir sonraki nesile aktarmasını sağlar; doğal seçilim sürecini destekler.</a:t>
            </a:r>
            <a:endParaRPr lang="en-US" sz="1550" dirty="0"/>
          </a:p>
        </p:txBody>
      </p:sp>
      <p:sp>
        <p:nvSpPr>
          <p:cNvPr id="15" name="Shape 10"/>
          <p:cNvSpPr/>
          <p:nvPr/>
        </p:nvSpPr>
        <p:spPr>
          <a:xfrm>
            <a:off x="793790" y="5768697"/>
            <a:ext cx="13042821" cy="843201"/>
          </a:xfrm>
          <a:prstGeom prst="roundRect">
            <a:avLst>
              <a:gd name="adj" fmla="val 3531"/>
            </a:avLst>
          </a:prstGeom>
          <a:solidFill>
            <a:srgbClr val="B3C3FF"/>
          </a:solidFill>
          <a:ln/>
        </p:spPr>
      </p:sp>
      <p:pic>
        <p:nvPicPr>
          <p:cNvPr id="16" name="Image 3" descr="preencoded.png">    </p:cNvPr>
          <p:cNvPicPr>
            <a:picLocks noChangeAspect="1"/>
          </p:cNvPicPr>
          <p:nvPr/>
        </p:nvPicPr>
        <p:blipFill>
          <a:blip r:embed="rId7"/>
          <a:stretch>
            <a:fillRect/>
          </a:stretch>
        </p:blipFill>
        <p:spPr>
          <a:xfrm>
            <a:off x="992148" y="6056352"/>
            <a:ext cx="248007" cy="198358"/>
          </a:xfrm>
          <a:prstGeom prst="rect">
            <a:avLst/>
          </a:prstGeom>
        </p:spPr>
      </p:pic>
      <p:sp>
        <p:nvSpPr>
          <p:cNvPr id="17" name="Text 11"/>
          <p:cNvSpPr/>
          <p:nvPr/>
        </p:nvSpPr>
        <p:spPr>
          <a:xfrm>
            <a:off x="1438513" y="6016585"/>
            <a:ext cx="1219973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Freud, I. Dünya Savaşı'nın vahşetinden sonra bağımsız bir </a:t>
            </a:r>
            <a:pPr algn="l" indent="0" marL="0">
              <a:lnSpc>
                <a:spcPts val="2500"/>
              </a:lnSpc>
              <a:buNone/>
            </a:pPr>
            <a:r>
              <a:rPr lang="en-US" sz="1550" b="1" dirty="0">
                <a:solidFill>
                  <a:srgbClr val="000000"/>
                </a:solidFill>
                <a:latin typeface="Heebo" pitchFamily="34" charset="0"/>
                <a:ea typeface="Heebo" pitchFamily="34" charset="-122"/>
                <a:cs typeface="Heebo" pitchFamily="34" charset="-120"/>
              </a:rPr>
              <a:t>Thanatos</a:t>
            </a:r>
            <a:pPr algn="l" indent="0" marL="0">
              <a:lnSpc>
                <a:spcPts val="2500"/>
              </a:lnSpc>
              <a:buNone/>
            </a:pPr>
            <a:r>
              <a:rPr lang="en-US" sz="1550" dirty="0">
                <a:solidFill>
                  <a:srgbClr val="000000"/>
                </a:solidFill>
                <a:latin typeface="Heebo" pitchFamily="34" charset="0"/>
                <a:ea typeface="Heebo" pitchFamily="34" charset="-122"/>
                <a:cs typeface="Heebo" pitchFamily="34" charset="-120"/>
              </a:rPr>
              <a:t> içgüdüsünün varlığını kabul etti. Önceki yazılarında bunu reddetmişti.</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1680924"/>
            <a:ext cx="901898" cy="373142"/>
          </a:xfrm>
          <a:prstGeom prst="roundRect">
            <a:avLst>
              <a:gd name="adj" fmla="val 6383"/>
            </a:avLst>
          </a:prstGeom>
          <a:solidFill>
            <a:srgbClr val="CCD7FF"/>
          </a:solidFill>
          <a:ln/>
        </p:spPr>
      </p:sp>
      <p:sp>
        <p:nvSpPr>
          <p:cNvPr id="3" name="Text 1"/>
          <p:cNvSpPr/>
          <p:nvPr/>
        </p:nvSpPr>
        <p:spPr>
          <a:xfrm>
            <a:off x="912852" y="1740456"/>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2</a:t>
            </a:r>
            <a:endParaRPr lang="en-US" sz="1250" dirty="0"/>
          </a:p>
        </p:txBody>
      </p:sp>
      <p:sp>
        <p:nvSpPr>
          <p:cNvPr id="4" name="Text 2"/>
          <p:cNvSpPr/>
          <p:nvPr/>
        </p:nvSpPr>
        <p:spPr>
          <a:xfrm>
            <a:off x="793790" y="2133362"/>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Etolojik Yaklaşım</a:t>
            </a:r>
            <a:endParaRPr lang="en-US" sz="3900" dirty="0"/>
          </a:p>
        </p:txBody>
      </p:sp>
      <p:sp>
        <p:nvSpPr>
          <p:cNvPr id="5" name="Text 3"/>
          <p:cNvSpPr/>
          <p:nvPr/>
        </p:nvSpPr>
        <p:spPr>
          <a:xfrm>
            <a:off x="793790" y="32494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Hidrolik Model</a:t>
            </a:r>
            <a:endParaRPr lang="en-US" sz="1950" dirty="0"/>
          </a:p>
        </p:txBody>
      </p:sp>
      <p:sp>
        <p:nvSpPr>
          <p:cNvPr id="6" name="Text 4"/>
          <p:cNvSpPr/>
          <p:nvPr/>
        </p:nvSpPr>
        <p:spPr>
          <a:xfrm>
            <a:off x="793790" y="375797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Etologlar, organizmanın sürekli saldırgan enerji biriktirdiğini savunur. Bu enerji azar azar serbest bırakılmalıdır; aksi hâlde baskı artarak daha şiddetli bir patlamaya yol açar.</a:t>
            </a:r>
            <a:endParaRPr lang="en-US" sz="1550" dirty="0"/>
          </a:p>
        </p:txBody>
      </p:sp>
      <p:sp>
        <p:nvSpPr>
          <p:cNvPr id="7" name="Text 5"/>
          <p:cNvSpPr/>
          <p:nvPr/>
        </p:nvSpPr>
        <p:spPr>
          <a:xfrm>
            <a:off x="793790" y="4908947"/>
            <a:ext cx="2882622"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Uyum Sağlayıcı Saldırganlık</a:t>
            </a:r>
            <a:endParaRPr lang="en-US" sz="1950" dirty="0"/>
          </a:p>
        </p:txBody>
      </p:sp>
      <p:sp>
        <p:nvSpPr>
          <p:cNvPr id="8" name="Text 6"/>
          <p:cNvSpPr/>
          <p:nvPr/>
        </p:nvSpPr>
        <p:spPr>
          <a:xfrm>
            <a:off x="793790" y="5417463"/>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Etologlar saldırganlığı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uyum sağlayıcı</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bir davranış olarak görürken, psikanalizciler onu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yıkıcı dürtülerin</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temsilcisi olarak değerlendirir.</a:t>
            </a:r>
            <a:endParaRPr lang="en-US" sz="1550" dirty="0"/>
          </a:p>
        </p:txBody>
      </p:sp>
      <p:sp>
        <p:nvSpPr>
          <p:cNvPr id="9" name="Shape 7"/>
          <p:cNvSpPr/>
          <p:nvPr/>
        </p:nvSpPr>
        <p:spPr>
          <a:xfrm>
            <a:off x="7421999" y="3051096"/>
            <a:ext cx="6565106" cy="3497580"/>
          </a:xfrm>
          <a:prstGeom prst="roundRect">
            <a:avLst>
              <a:gd name="adj" fmla="val 851"/>
            </a:avLst>
          </a:prstGeom>
          <a:solidFill>
            <a:srgbClr val="2150FE"/>
          </a:solidFill>
          <a:ln/>
        </p:spPr>
      </p:sp>
      <p:sp>
        <p:nvSpPr>
          <p:cNvPr id="10" name="Text 8"/>
          <p:cNvSpPr/>
          <p:nvPr/>
        </p:nvSpPr>
        <p:spPr>
          <a:xfrm>
            <a:off x="7620357" y="32494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Ketleme İçgüdüsü</a:t>
            </a:r>
            <a:endParaRPr lang="en-US" sz="1950" dirty="0"/>
          </a:p>
        </p:txBody>
      </p:sp>
      <p:sp>
        <p:nvSpPr>
          <p:cNvPr id="11" name="Text 9"/>
          <p:cNvSpPr/>
          <p:nvPr/>
        </p:nvSpPr>
        <p:spPr>
          <a:xfrm>
            <a:off x="7620357" y="3757970"/>
            <a:ext cx="6168390" cy="127015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Etolojik görüşe göre saldırganlığı ketleme de içgüdüseldir. Hayvanlar evrim sürecinde kendi türlerini yok etmelerini önleyen ketlemeler geliştirmiştir. Ancak insanlar uzaktan kullanılan güçlü silahlar geliştirdiğinden bu ketlemeler yetersiz kalmaktadır.</a:t>
            </a:r>
            <a:endParaRPr lang="en-US" sz="1550" dirty="0"/>
          </a:p>
        </p:txBody>
      </p:sp>
      <p:sp>
        <p:nvSpPr>
          <p:cNvPr id="12" name="Text 10"/>
          <p:cNvSpPr/>
          <p:nvPr/>
        </p:nvSpPr>
        <p:spPr>
          <a:xfrm>
            <a:off x="7620357" y="522648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Spor: Emniyet Sübabı</a:t>
            </a:r>
            <a:endParaRPr lang="en-US" sz="1950" dirty="0"/>
          </a:p>
        </p:txBody>
      </p:sp>
      <p:sp>
        <p:nvSpPr>
          <p:cNvPr id="13" name="Text 11"/>
          <p:cNvSpPr/>
          <p:nvPr/>
        </p:nvSpPr>
        <p:spPr>
          <a:xfrm>
            <a:off x="7620357" y="5735003"/>
            <a:ext cx="6168390" cy="63507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Saldırgan enerjinin sosyal olarak kabul edilebilir yollarla boşaltılması için yarışmacı sporlar önerilmiştir.</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34628" y="460653"/>
            <a:ext cx="746998" cy="290751"/>
          </a:xfrm>
          <a:prstGeom prst="roundRect">
            <a:avLst>
              <a:gd name="adj" fmla="val 6784"/>
            </a:avLst>
          </a:prstGeom>
          <a:solidFill>
            <a:srgbClr val="CCD7FF"/>
          </a:solidFill>
          <a:ln/>
        </p:spPr>
      </p:sp>
      <p:sp>
        <p:nvSpPr>
          <p:cNvPr id="3" name="Text 1"/>
          <p:cNvSpPr/>
          <p:nvPr/>
        </p:nvSpPr>
        <p:spPr>
          <a:xfrm>
            <a:off x="933212" y="509945"/>
            <a:ext cx="549831" cy="192167"/>
          </a:xfrm>
          <a:prstGeom prst="rect">
            <a:avLst/>
          </a:prstGeom>
          <a:noFill/>
          <a:ln/>
        </p:spPr>
        <p:txBody>
          <a:bodyPr wrap="none" lIns="0" tIns="0" rIns="0" bIns="0" rtlCol="0" anchor="t"/>
          <a:lstStyle/>
          <a:p>
            <a:pPr algn="l" indent="0" marL="0">
              <a:lnSpc>
                <a:spcPts val="1500"/>
              </a:lnSpc>
              <a:buNone/>
            </a:pPr>
            <a:r>
              <a:rPr lang="en-US" sz="1000" dirty="0">
                <a:solidFill>
                  <a:srgbClr val="4C4C4D"/>
                </a:solidFill>
                <a:latin typeface="Heebo" pitchFamily="34" charset="0"/>
                <a:ea typeface="Heebo" pitchFamily="34" charset="-122"/>
                <a:cs typeface="Heebo" pitchFamily="34" charset="-120"/>
              </a:rPr>
              <a:t>BÖLÜM 2</a:t>
            </a:r>
            <a:endParaRPr lang="en-US" sz="1000" dirty="0"/>
          </a:p>
        </p:txBody>
      </p:sp>
      <p:sp>
        <p:nvSpPr>
          <p:cNvPr id="4" name="Text 2"/>
          <p:cNvSpPr/>
          <p:nvPr/>
        </p:nvSpPr>
        <p:spPr>
          <a:xfrm>
            <a:off x="834628" y="805815"/>
            <a:ext cx="5885498" cy="513517"/>
          </a:xfrm>
          <a:prstGeom prst="rect">
            <a:avLst/>
          </a:prstGeom>
          <a:noFill/>
          <a:ln/>
        </p:spPr>
        <p:txBody>
          <a:bodyPr wrap="none" lIns="0" tIns="0" rIns="0" bIns="0" rtlCol="0" anchor="t"/>
          <a:lstStyle/>
          <a:p>
            <a:pPr algn="l" indent="0" marL="0">
              <a:lnSpc>
                <a:spcPts val="4000"/>
              </a:lnSpc>
              <a:buNone/>
            </a:pPr>
            <a:r>
              <a:rPr lang="en-US" sz="3200" dirty="0">
                <a:solidFill>
                  <a:srgbClr val="152D47"/>
                </a:solidFill>
                <a:latin typeface="Crimson Pro Semi Bold" pitchFamily="34" charset="0"/>
                <a:ea typeface="Crimson Pro Semi Bold" pitchFamily="34" charset="-122"/>
                <a:cs typeface="Crimson Pro Semi Bold" pitchFamily="34" charset="-120"/>
              </a:rPr>
              <a:t>Psikanaliz ve Etoloji: Karşılaştırma</a:t>
            </a:r>
            <a:endParaRPr lang="en-US" sz="3200" dirty="0"/>
          </a:p>
        </p:txBody>
      </p:sp>
      <p:pic>
        <p:nvPicPr>
          <p:cNvPr id="5" name="Image 0" descr="preencoded.png">    </p:cNvPr>
          <p:cNvPicPr>
            <a:picLocks noChangeAspect="1"/>
          </p:cNvPicPr>
          <p:nvPr/>
        </p:nvPicPr>
        <p:blipFill>
          <a:blip r:embed="rId1"/>
          <a:stretch>
            <a:fillRect/>
          </a:stretch>
        </p:blipFill>
        <p:spPr>
          <a:xfrm>
            <a:off x="834628" y="1523405"/>
            <a:ext cx="10485120" cy="5852160"/>
          </a:xfrm>
          <a:prstGeom prst="rect">
            <a:avLst/>
          </a:prstGeom>
        </p:spPr>
      </p:pic>
      <p:pic>
        <p:nvPicPr>
          <p:cNvPr id="6" name="Image 1" descr="preencoded.png">    </p:cNvPr>
          <p:cNvPicPr>
            <a:picLocks noChangeAspect="1"/>
          </p:cNvPicPr>
          <p:nvPr/>
        </p:nvPicPr>
        <p:blipFill>
          <a:blip r:embed="rId2"/>
          <a:stretch>
            <a:fillRect/>
          </a:stretch>
        </p:blipFill>
        <p:spPr>
          <a:xfrm>
            <a:off x="834628" y="1523405"/>
            <a:ext cx="10485120" cy="5852160"/>
          </a:xfrm>
          <a:prstGeom prst="rect">
            <a:avLst/>
          </a:prstGeom>
        </p:spPr>
      </p:pic>
      <p:sp>
        <p:nvSpPr>
          <p:cNvPr id="7" name="Text 3"/>
          <p:cNvSpPr/>
          <p:nvPr/>
        </p:nvSpPr>
        <p:spPr>
          <a:xfrm>
            <a:off x="834628" y="7528679"/>
            <a:ext cx="12961025" cy="240268"/>
          </a:xfrm>
          <a:prstGeom prst="rect">
            <a:avLst/>
          </a:prstGeom>
          <a:noFill/>
          <a:ln/>
        </p:spPr>
        <p:txBody>
          <a:bodyPr wrap="none" lIns="0" tIns="0" rIns="0" bIns="0" rtlCol="0" anchor="t"/>
          <a:lstStyle/>
          <a:p>
            <a:pPr algn="l" indent="0" marL="0">
              <a:lnSpc>
                <a:spcPts val="1850"/>
              </a:lnSpc>
              <a:buNone/>
            </a:pPr>
            <a:r>
              <a:rPr lang="en-US" sz="1250" dirty="0">
                <a:solidFill>
                  <a:srgbClr val="4C4C4D"/>
                </a:solidFill>
                <a:latin typeface="Heebo" pitchFamily="34" charset="0"/>
                <a:ea typeface="Heebo" pitchFamily="34" charset="-122"/>
                <a:cs typeface="Heebo" pitchFamily="34" charset="-120"/>
              </a:rPr>
              <a:t>Her iki yaklaşım da saldırganlığı insan doğasının kaçınılmaz bir özelliği olarak görse de, saldırganlığın nasıl azaltılacağı konusunda birbirinden ayrılır.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1770817"/>
            <a:ext cx="901898" cy="373142"/>
          </a:xfrm>
          <a:prstGeom prst="roundRect">
            <a:avLst>
              <a:gd name="adj" fmla="val 6383"/>
            </a:avLst>
          </a:prstGeom>
          <a:solidFill>
            <a:srgbClr val="CCD7FF"/>
          </a:solidFill>
          <a:ln/>
        </p:spPr>
      </p:sp>
      <p:sp>
        <p:nvSpPr>
          <p:cNvPr id="3" name="Text 1"/>
          <p:cNvSpPr/>
          <p:nvPr/>
        </p:nvSpPr>
        <p:spPr>
          <a:xfrm>
            <a:off x="912852" y="1830348"/>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3</a:t>
            </a:r>
            <a:endParaRPr lang="en-US" sz="1250" dirty="0"/>
          </a:p>
        </p:txBody>
      </p:sp>
      <p:sp>
        <p:nvSpPr>
          <p:cNvPr id="4" name="Text 2"/>
          <p:cNvSpPr/>
          <p:nvPr/>
        </p:nvSpPr>
        <p:spPr>
          <a:xfrm>
            <a:off x="793790" y="2223254"/>
            <a:ext cx="7208520"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Hayal Kırıklığı–Saldırganlık Teorisi</a:t>
            </a:r>
            <a:endParaRPr lang="en-US" sz="3900" dirty="0"/>
          </a:p>
        </p:txBody>
      </p:sp>
      <p:sp>
        <p:nvSpPr>
          <p:cNvPr id="5" name="Text 3"/>
          <p:cNvSpPr/>
          <p:nvPr/>
        </p:nvSpPr>
        <p:spPr>
          <a:xfrm>
            <a:off x="793790" y="314098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1939'da Yale Üniversitesi'nden psikologlar (Dollard, Doob, Miller, Mowrer ve Sears), saldırganlığın içgüdüden değil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hayal kırıklığından</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kaynaklandığını öne sürdü. Hayal kırıklığı, bir kişinin hedefe ulaşması engellendiğinde ortaya çıkan hoş olmayan bir duygudur.</a:t>
            </a:r>
            <a:endParaRPr lang="en-US" sz="1550" dirty="0"/>
          </a:p>
        </p:txBody>
      </p:sp>
      <p:sp>
        <p:nvSpPr>
          <p:cNvPr id="6" name="Shape 4"/>
          <p:cNvSpPr/>
          <p:nvPr/>
        </p:nvSpPr>
        <p:spPr>
          <a:xfrm>
            <a:off x="793790" y="3999309"/>
            <a:ext cx="4215289" cy="2459355"/>
          </a:xfrm>
          <a:prstGeom prst="roundRect">
            <a:avLst>
              <a:gd name="adj" fmla="val 4462"/>
            </a:avLst>
          </a:prstGeom>
          <a:solidFill>
            <a:srgbClr val="FFFFFF"/>
          </a:solidFill>
          <a:ln w="22860">
            <a:solidFill>
              <a:srgbClr val="D8D4D4"/>
            </a:solidFill>
            <a:prstDash val="solid"/>
          </a:ln>
        </p:spPr>
      </p:sp>
      <p:sp>
        <p:nvSpPr>
          <p:cNvPr id="7" name="Shape 5"/>
          <p:cNvSpPr/>
          <p:nvPr/>
        </p:nvSpPr>
        <p:spPr>
          <a:xfrm>
            <a:off x="770930" y="3999309"/>
            <a:ext cx="91440" cy="2459355"/>
          </a:xfrm>
          <a:prstGeom prst="roundRect">
            <a:avLst>
              <a:gd name="adj" fmla="val 32558"/>
            </a:avLst>
          </a:prstGeom>
          <a:solidFill>
            <a:srgbClr val="2150FE"/>
          </a:solidFill>
          <a:ln/>
        </p:spPr>
      </p:sp>
      <p:sp>
        <p:nvSpPr>
          <p:cNvPr id="8" name="Text 6"/>
          <p:cNvSpPr/>
          <p:nvPr/>
        </p:nvSpPr>
        <p:spPr>
          <a:xfrm>
            <a:off x="1083588" y="422052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1. İddia</a:t>
            </a:r>
            <a:endParaRPr lang="en-US" sz="1950" dirty="0"/>
          </a:p>
        </p:txBody>
      </p:sp>
      <p:sp>
        <p:nvSpPr>
          <p:cNvPr id="9" name="Text 7"/>
          <p:cNvSpPr/>
          <p:nvPr/>
        </p:nvSpPr>
        <p:spPr>
          <a:xfrm>
            <a:off x="1083588" y="4649748"/>
            <a:ext cx="3704273"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 davranışın ortaya çıkması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her zaman</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hayal kırıklığının varlığını varsayar."</a:t>
            </a:r>
            <a:endParaRPr lang="en-US" sz="1550" dirty="0"/>
          </a:p>
        </p:txBody>
      </p:sp>
      <p:sp>
        <p:nvSpPr>
          <p:cNvPr id="10" name="Shape 8"/>
          <p:cNvSpPr/>
          <p:nvPr/>
        </p:nvSpPr>
        <p:spPr>
          <a:xfrm>
            <a:off x="5207437" y="3999309"/>
            <a:ext cx="4215408" cy="2459355"/>
          </a:xfrm>
          <a:prstGeom prst="roundRect">
            <a:avLst>
              <a:gd name="adj" fmla="val 4462"/>
            </a:avLst>
          </a:prstGeom>
          <a:solidFill>
            <a:srgbClr val="FFFFFF"/>
          </a:solidFill>
          <a:ln w="22860">
            <a:solidFill>
              <a:srgbClr val="D8D4D4"/>
            </a:solidFill>
            <a:prstDash val="solid"/>
          </a:ln>
        </p:spPr>
      </p:sp>
      <p:sp>
        <p:nvSpPr>
          <p:cNvPr id="11" name="Shape 9"/>
          <p:cNvSpPr/>
          <p:nvPr/>
        </p:nvSpPr>
        <p:spPr>
          <a:xfrm>
            <a:off x="5184577" y="3999309"/>
            <a:ext cx="91440" cy="2459355"/>
          </a:xfrm>
          <a:prstGeom prst="roundRect">
            <a:avLst>
              <a:gd name="adj" fmla="val 32558"/>
            </a:avLst>
          </a:prstGeom>
          <a:solidFill>
            <a:srgbClr val="2150FE"/>
          </a:solidFill>
          <a:ln/>
        </p:spPr>
      </p:sp>
      <p:sp>
        <p:nvSpPr>
          <p:cNvPr id="12" name="Text 10"/>
          <p:cNvSpPr/>
          <p:nvPr/>
        </p:nvSpPr>
        <p:spPr>
          <a:xfrm>
            <a:off x="5497235" y="422052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2. İddia</a:t>
            </a:r>
            <a:endParaRPr lang="en-US" sz="1950" dirty="0"/>
          </a:p>
        </p:txBody>
      </p:sp>
      <p:sp>
        <p:nvSpPr>
          <p:cNvPr id="13" name="Text 11"/>
          <p:cNvSpPr/>
          <p:nvPr/>
        </p:nvSpPr>
        <p:spPr>
          <a:xfrm>
            <a:off x="5497235" y="4649748"/>
            <a:ext cx="3704392"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"Hayal kırıklığının varlığı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her zaman</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bir tür saldırganlığa yol açar."</a:t>
            </a:r>
            <a:endParaRPr lang="en-US" sz="1550" dirty="0"/>
          </a:p>
        </p:txBody>
      </p:sp>
      <p:sp>
        <p:nvSpPr>
          <p:cNvPr id="14" name="Shape 12"/>
          <p:cNvSpPr/>
          <p:nvPr/>
        </p:nvSpPr>
        <p:spPr>
          <a:xfrm>
            <a:off x="9621203" y="3999309"/>
            <a:ext cx="4215289" cy="2459355"/>
          </a:xfrm>
          <a:prstGeom prst="roundRect">
            <a:avLst>
              <a:gd name="adj" fmla="val 4462"/>
            </a:avLst>
          </a:prstGeom>
          <a:solidFill>
            <a:srgbClr val="FFFFFF"/>
          </a:solidFill>
          <a:ln w="22860">
            <a:solidFill>
              <a:srgbClr val="D8D4D4"/>
            </a:solidFill>
            <a:prstDash val="solid"/>
          </a:ln>
        </p:spPr>
      </p:sp>
      <p:sp>
        <p:nvSpPr>
          <p:cNvPr id="15" name="Shape 13"/>
          <p:cNvSpPr/>
          <p:nvPr/>
        </p:nvSpPr>
        <p:spPr>
          <a:xfrm>
            <a:off x="9598343" y="3999309"/>
            <a:ext cx="91440" cy="2459355"/>
          </a:xfrm>
          <a:prstGeom prst="roundRect">
            <a:avLst>
              <a:gd name="adj" fmla="val 32558"/>
            </a:avLst>
          </a:prstGeom>
          <a:solidFill>
            <a:srgbClr val="2150FE"/>
          </a:solidFill>
          <a:ln/>
        </p:spPr>
      </p:sp>
      <p:sp>
        <p:nvSpPr>
          <p:cNvPr id="16" name="Text 14"/>
          <p:cNvSpPr/>
          <p:nvPr/>
        </p:nvSpPr>
        <p:spPr>
          <a:xfrm>
            <a:off x="9911001" y="422052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Revizyon (Miller)</a:t>
            </a:r>
            <a:endParaRPr lang="en-US" sz="1950" dirty="0"/>
          </a:p>
        </p:txBody>
      </p:sp>
      <p:sp>
        <p:nvSpPr>
          <p:cNvPr id="17" name="Text 15"/>
          <p:cNvSpPr/>
          <p:nvPr/>
        </p:nvSpPr>
        <p:spPr>
          <a:xfrm>
            <a:off x="9911001" y="4649748"/>
            <a:ext cx="3704273"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Hayal kırıklıkları saldırganlık dışında kaçma veya engeli aşma gibi farklı eğilimleri de harekete geçirebilir. Baskın olan eğilim, hayal kırıklığını azaltmada en başarılı olandır.</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1550670"/>
            <a:ext cx="901898" cy="373142"/>
          </a:xfrm>
          <a:prstGeom prst="roundRect">
            <a:avLst>
              <a:gd name="adj" fmla="val 6383"/>
            </a:avLst>
          </a:prstGeom>
          <a:solidFill>
            <a:srgbClr val="CCD7FF"/>
          </a:solidFill>
          <a:ln/>
        </p:spPr>
      </p:sp>
      <p:sp>
        <p:nvSpPr>
          <p:cNvPr id="3" name="Text 1"/>
          <p:cNvSpPr/>
          <p:nvPr/>
        </p:nvSpPr>
        <p:spPr>
          <a:xfrm>
            <a:off x="912852" y="1610201"/>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3</a:t>
            </a:r>
            <a:endParaRPr lang="en-US" sz="1250" dirty="0"/>
          </a:p>
        </p:txBody>
      </p:sp>
      <p:sp>
        <p:nvSpPr>
          <p:cNvPr id="4" name="Text 2"/>
          <p:cNvSpPr/>
          <p:nvPr/>
        </p:nvSpPr>
        <p:spPr>
          <a:xfrm>
            <a:off x="793790" y="2003108"/>
            <a:ext cx="921246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Berkowitz'in Revizyonu ve Savaş-Kaç Tepkisi</a:t>
            </a:r>
            <a:endParaRPr lang="en-US" sz="3900" dirty="0"/>
          </a:p>
        </p:txBody>
      </p:sp>
      <p:sp>
        <p:nvSpPr>
          <p:cNvPr id="5" name="Text 3"/>
          <p:cNvSpPr/>
          <p:nvPr/>
        </p:nvSpPr>
        <p:spPr>
          <a:xfrm>
            <a:off x="793790" y="292084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1964'te Leonard Berkowitz, yalnızca hayal kırıklığı değil,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tüm tatsız olayların</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saldırganlığın önemli nedenleri olduğunu öne sürdü. Tatsız olaylar otomatik olarak ilkel savaş ya da kaç tepkileri üretir.</a:t>
            </a:r>
            <a:endParaRPr lang="en-US" sz="1550" dirty="0"/>
          </a:p>
        </p:txBody>
      </p:sp>
      <p:sp>
        <p:nvSpPr>
          <p:cNvPr id="6" name="Shape 4"/>
          <p:cNvSpPr/>
          <p:nvPr/>
        </p:nvSpPr>
        <p:spPr>
          <a:xfrm>
            <a:off x="650915" y="3779163"/>
            <a:ext cx="6565106" cy="2899767"/>
          </a:xfrm>
          <a:prstGeom prst="roundRect">
            <a:avLst>
              <a:gd name="adj" fmla="val 1027"/>
            </a:avLst>
          </a:prstGeom>
          <a:solidFill>
            <a:srgbClr val="2150FE"/>
          </a:solidFill>
          <a:ln/>
        </p:spPr>
      </p:sp>
      <p:sp>
        <p:nvSpPr>
          <p:cNvPr id="7" name="Text 5"/>
          <p:cNvSpPr/>
          <p:nvPr/>
        </p:nvSpPr>
        <p:spPr>
          <a:xfrm>
            <a:off x="849273" y="397752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Savaş ya da Kaç</a:t>
            </a:r>
            <a:endParaRPr lang="en-US" sz="1950" dirty="0"/>
          </a:p>
        </p:txBody>
      </p:sp>
      <p:sp>
        <p:nvSpPr>
          <p:cNvPr id="8" name="Text 6"/>
          <p:cNvSpPr/>
          <p:nvPr/>
        </p:nvSpPr>
        <p:spPr>
          <a:xfrm>
            <a:off x="849273" y="4486037"/>
            <a:ext cx="6168390" cy="95261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Tatsız bir olay yaşadığımızda onu durdurmak ya da oradan ayrılmak isteriz. Bu nedenle bizi kötü hissettiren her şey otomatik olarak saldırgan eğilimler üretir.</a:t>
            </a:r>
            <a:endParaRPr lang="en-US" sz="1550" dirty="0"/>
          </a:p>
        </p:txBody>
      </p:sp>
      <p:sp>
        <p:nvSpPr>
          <p:cNvPr id="9" name="Text 7"/>
          <p:cNvSpPr/>
          <p:nvPr/>
        </p:nvSpPr>
        <p:spPr>
          <a:xfrm>
            <a:off x="7564874" y="397752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Belirleyici Faktörler</a:t>
            </a:r>
            <a:endParaRPr lang="en-US" sz="1950" dirty="0"/>
          </a:p>
        </p:txBody>
      </p:sp>
      <p:sp>
        <p:nvSpPr>
          <p:cNvPr id="10" name="Text 8"/>
          <p:cNvSpPr/>
          <p:nvPr/>
        </p:nvSpPr>
        <p:spPr>
          <a:xfrm>
            <a:off x="7564874" y="4486037"/>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Saldırganlığın meydana gelip gelmemesi iki faktöre bağlıdır:</a:t>
            </a:r>
            <a:endParaRPr lang="en-US" sz="1550" dirty="0"/>
          </a:p>
        </p:txBody>
      </p:sp>
      <p:sp>
        <p:nvSpPr>
          <p:cNvPr id="11" name="Text 9"/>
          <p:cNvSpPr/>
          <p:nvPr/>
        </p:nvSpPr>
        <p:spPr>
          <a:xfrm>
            <a:off x="7564874" y="4982170"/>
            <a:ext cx="6279356" cy="704493"/>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Tatsız olayın nasıl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yorumlandığı</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Ortamda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saldırgan ipuçlarının</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varlığı</a:t>
            </a:r>
            <a:endParaRPr lang="en-US" sz="1550" dirty="0"/>
          </a:p>
        </p:txBody>
      </p:sp>
      <p:sp>
        <p:nvSpPr>
          <p:cNvPr id="12" name="Text 10"/>
          <p:cNvSpPr/>
          <p:nvPr/>
        </p:nvSpPr>
        <p:spPr>
          <a:xfrm>
            <a:off x="7564874" y="5865257"/>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Örneğin, şiddet içeren film izledikten sonra itilen biri daha saldırgan tepki verebilir.</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1682115"/>
            <a:ext cx="901898" cy="373142"/>
          </a:xfrm>
          <a:prstGeom prst="roundRect">
            <a:avLst>
              <a:gd name="adj" fmla="val 6383"/>
            </a:avLst>
          </a:prstGeom>
          <a:solidFill>
            <a:srgbClr val="CCD7FF"/>
          </a:solidFill>
          <a:ln/>
        </p:spPr>
      </p:sp>
      <p:sp>
        <p:nvSpPr>
          <p:cNvPr id="3" name="Text 1"/>
          <p:cNvSpPr/>
          <p:nvPr/>
        </p:nvSpPr>
        <p:spPr>
          <a:xfrm>
            <a:off x="912852" y="1741646"/>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3</a:t>
            </a:r>
            <a:endParaRPr lang="en-US" sz="1250" dirty="0"/>
          </a:p>
        </p:txBody>
      </p:sp>
      <p:sp>
        <p:nvSpPr>
          <p:cNvPr id="4" name="Text 2"/>
          <p:cNvSpPr/>
          <p:nvPr/>
        </p:nvSpPr>
        <p:spPr>
          <a:xfrm>
            <a:off x="793790" y="2134553"/>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Göreceli Yoksunluk</a:t>
            </a:r>
            <a:endParaRPr lang="en-US" sz="3900" dirty="0"/>
          </a:p>
        </p:txBody>
      </p:sp>
      <p:sp>
        <p:nvSpPr>
          <p:cNvPr id="5" name="Text 3"/>
          <p:cNvSpPr/>
          <p:nvPr/>
        </p:nvSpPr>
        <p:spPr>
          <a:xfrm>
            <a:off x="793790" y="3052286"/>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Hayal kırıklığı, kendimizi başkalarıyla karşılaştırdığımızda daha da artar. Bu duyguya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göreceli yoksunluk</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adı verilir.</a:t>
            </a:r>
            <a:endParaRPr lang="en-US" sz="1550" dirty="0"/>
          </a:p>
        </p:txBody>
      </p:sp>
      <p:sp>
        <p:nvSpPr>
          <p:cNvPr id="6" name="Shape 4"/>
          <p:cNvSpPr/>
          <p:nvPr/>
        </p:nvSpPr>
        <p:spPr>
          <a:xfrm>
            <a:off x="793790" y="3593068"/>
            <a:ext cx="4215289" cy="2413635"/>
          </a:xfrm>
          <a:prstGeom prst="roundRect">
            <a:avLst>
              <a:gd name="adj" fmla="val 1233"/>
            </a:avLst>
          </a:prstGeom>
          <a:solidFill>
            <a:srgbClr val="F2EEEE"/>
          </a:solidFill>
          <a:ln/>
        </p:spPr>
      </p:sp>
      <p:sp>
        <p:nvSpPr>
          <p:cNvPr id="7" name="Text 5"/>
          <p:cNvSpPr/>
          <p:nvPr/>
        </p:nvSpPr>
        <p:spPr>
          <a:xfrm>
            <a:off x="992148" y="379142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Polis &amp; İtfaiye</a:t>
            </a:r>
            <a:endParaRPr lang="en-US" sz="1950" dirty="0"/>
          </a:p>
        </p:txBody>
      </p:sp>
      <p:sp>
        <p:nvSpPr>
          <p:cNvPr id="8" name="Text 6"/>
          <p:cNvSpPr/>
          <p:nvPr/>
        </p:nvSpPr>
        <p:spPr>
          <a:xfrm>
            <a:off x="992148" y="4220647"/>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Polis maaşlarına yapılan zam, polislerin moralini yükseltirken itfaiyecilerin moralini bozabilir.</a:t>
            </a:r>
            <a:endParaRPr lang="en-US" sz="1550" dirty="0"/>
          </a:p>
        </p:txBody>
      </p:sp>
      <p:sp>
        <p:nvSpPr>
          <p:cNvPr id="9" name="Shape 7"/>
          <p:cNvSpPr/>
          <p:nvPr/>
        </p:nvSpPr>
        <p:spPr>
          <a:xfrm>
            <a:off x="5207437" y="3593068"/>
            <a:ext cx="4215408" cy="2413635"/>
          </a:xfrm>
          <a:prstGeom prst="roundRect">
            <a:avLst>
              <a:gd name="adj" fmla="val 1233"/>
            </a:avLst>
          </a:prstGeom>
          <a:solidFill>
            <a:srgbClr val="F2EEEE"/>
          </a:solidFill>
          <a:ln/>
        </p:spPr>
      </p:sp>
      <p:sp>
        <p:nvSpPr>
          <p:cNvPr id="10" name="Text 8"/>
          <p:cNvSpPr/>
          <p:nvPr/>
        </p:nvSpPr>
        <p:spPr>
          <a:xfrm>
            <a:off x="5405795" y="379142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Doğu Almanya</a:t>
            </a:r>
            <a:endParaRPr lang="en-US" sz="1950" dirty="0"/>
          </a:p>
        </p:txBody>
      </p:sp>
      <p:sp>
        <p:nvSpPr>
          <p:cNvPr id="11" name="Text 9"/>
          <p:cNvSpPr/>
          <p:nvPr/>
        </p:nvSpPr>
        <p:spPr>
          <a:xfrm>
            <a:off x="5405795" y="4220647"/>
            <a:ext cx="3818692"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Bazı Batı Avrupa ülkelerinden daha iyi yaşam standardına sahip olmalarına rağmen Batı Alman komşularından düşük olmaları isyana yol açtı (Baron ve diğerleri, 1992).</a:t>
            </a:r>
            <a:endParaRPr lang="en-US" sz="1550" dirty="0"/>
          </a:p>
        </p:txBody>
      </p:sp>
      <p:sp>
        <p:nvSpPr>
          <p:cNvPr id="12" name="Shape 10"/>
          <p:cNvSpPr/>
          <p:nvPr/>
        </p:nvSpPr>
        <p:spPr>
          <a:xfrm>
            <a:off x="9621203" y="3593068"/>
            <a:ext cx="4215289" cy="2413635"/>
          </a:xfrm>
          <a:prstGeom prst="roundRect">
            <a:avLst>
              <a:gd name="adj" fmla="val 1233"/>
            </a:avLst>
          </a:prstGeom>
          <a:solidFill>
            <a:srgbClr val="F2EEEE"/>
          </a:solidFill>
          <a:ln/>
        </p:spPr>
      </p:sp>
      <p:sp>
        <p:nvSpPr>
          <p:cNvPr id="13" name="Text 11"/>
          <p:cNvSpPr/>
          <p:nvPr/>
        </p:nvSpPr>
        <p:spPr>
          <a:xfrm>
            <a:off x="9819561" y="379142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Televizyon &amp; Suç</a:t>
            </a:r>
            <a:endParaRPr lang="en-US" sz="1950" dirty="0"/>
          </a:p>
        </p:txBody>
      </p:sp>
      <p:sp>
        <p:nvSpPr>
          <p:cNvPr id="14" name="Text 12"/>
          <p:cNvSpPr/>
          <p:nvPr/>
        </p:nvSpPr>
        <p:spPr>
          <a:xfrm>
            <a:off x="9819561" y="4220647"/>
            <a:ext cx="3818573" cy="1587698"/>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Hennigan ve ark. (1982): Televizyonun yaygınlaştığı 1951'de 34 Amerikan şehrinde hırsızlık oranı belirgin biçimde arttı. Yayının 1955'e ertelendiği şehirlerde artış 1955'te yaşandı.</a:t>
            </a:r>
            <a:endParaRPr lang="en-US" sz="1550" dirty="0"/>
          </a:p>
        </p:txBody>
      </p:sp>
      <p:sp>
        <p:nvSpPr>
          <p:cNvPr id="15" name="Text 13"/>
          <p:cNvSpPr/>
          <p:nvPr/>
        </p:nvSpPr>
        <p:spPr>
          <a:xfrm>
            <a:off x="793790" y="622994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Gelir eşitsizliğinin yüksek olduğu toplumlarda mutluluk düşük, suç oranları yüksek olma eğilimindedir (Hagerty, 2000; Kawachi ve diğerleri, 1999).</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1680924"/>
            <a:ext cx="901898" cy="373142"/>
          </a:xfrm>
          <a:prstGeom prst="roundRect">
            <a:avLst>
              <a:gd name="adj" fmla="val 6383"/>
            </a:avLst>
          </a:prstGeom>
          <a:solidFill>
            <a:srgbClr val="CCD7FF"/>
          </a:solidFill>
          <a:ln/>
        </p:spPr>
      </p:sp>
      <p:sp>
        <p:nvSpPr>
          <p:cNvPr id="3" name="Text 1"/>
          <p:cNvSpPr/>
          <p:nvPr/>
        </p:nvSpPr>
        <p:spPr>
          <a:xfrm>
            <a:off x="912852" y="1740456"/>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4</a:t>
            </a:r>
            <a:endParaRPr lang="en-US" sz="1250" dirty="0"/>
          </a:p>
        </p:txBody>
      </p:sp>
      <p:sp>
        <p:nvSpPr>
          <p:cNvPr id="4" name="Text 2"/>
          <p:cNvSpPr/>
          <p:nvPr/>
        </p:nvSpPr>
        <p:spPr>
          <a:xfrm>
            <a:off x="793790" y="2133362"/>
            <a:ext cx="5507474"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Öğrenme Teorisi Modelleri</a:t>
            </a:r>
            <a:endParaRPr lang="en-US" sz="3900" dirty="0"/>
          </a:p>
        </p:txBody>
      </p:sp>
      <p:sp>
        <p:nvSpPr>
          <p:cNvPr id="5" name="Text 3"/>
          <p:cNvSpPr/>
          <p:nvPr/>
        </p:nvSpPr>
        <p:spPr>
          <a:xfrm>
            <a:off x="793790" y="32494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Operant Koşullanma</a:t>
            </a:r>
            <a:endParaRPr lang="en-US" sz="1950" dirty="0"/>
          </a:p>
        </p:txBody>
      </p:sp>
      <p:sp>
        <p:nvSpPr>
          <p:cNvPr id="6" name="Text 4"/>
          <p:cNvSpPr/>
          <p:nvPr/>
        </p:nvSpPr>
        <p:spPr>
          <a:xfrm>
            <a:off x="793790" y="375797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Thorndike ve Skinner: İnsanlar ödüllendirilen davranışları tekrarlama, cezalandırılanları ise tekrarlamamaya eğilimlidir. Saldırganca davrandıkları için pekiştirilen çocuklar saldırganlığı öğrenir.</a:t>
            </a:r>
            <a:endParaRPr lang="en-US" sz="1550" dirty="0"/>
          </a:p>
        </p:txBody>
      </p:sp>
      <p:sp>
        <p:nvSpPr>
          <p:cNvPr id="7" name="Text 5"/>
          <p:cNvSpPr/>
          <p:nvPr/>
        </p:nvSpPr>
        <p:spPr>
          <a:xfrm>
            <a:off x="793790" y="49089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Klasik Koşullanma</a:t>
            </a:r>
            <a:endParaRPr lang="en-US" sz="1950" dirty="0"/>
          </a:p>
        </p:txBody>
      </p:sp>
      <p:sp>
        <p:nvSpPr>
          <p:cNvPr id="8" name="Text 6"/>
          <p:cNvSpPr/>
          <p:nvPr/>
        </p:nvSpPr>
        <p:spPr>
          <a:xfrm>
            <a:off x="793790" y="541746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Pavlov: Koşulsuz uyaranın koşullu uyaranla eşleştirilmesiyle koşullu tepki oluşur. Çocuklar saldırganlığın işe yaradığı ve yaramadığı durumlar arasında ayrım yapmayı öğrenir.</a:t>
            </a:r>
            <a:endParaRPr lang="en-US" sz="1550" dirty="0"/>
          </a:p>
        </p:txBody>
      </p:sp>
      <p:sp>
        <p:nvSpPr>
          <p:cNvPr id="9" name="Shape 7"/>
          <p:cNvSpPr/>
          <p:nvPr/>
        </p:nvSpPr>
        <p:spPr>
          <a:xfrm>
            <a:off x="7421999" y="3051096"/>
            <a:ext cx="6565106" cy="3497580"/>
          </a:xfrm>
          <a:prstGeom prst="roundRect">
            <a:avLst>
              <a:gd name="adj" fmla="val 851"/>
            </a:avLst>
          </a:prstGeom>
          <a:solidFill>
            <a:srgbClr val="2150FE"/>
          </a:solidFill>
          <a:ln/>
        </p:spPr>
      </p:sp>
      <p:sp>
        <p:nvSpPr>
          <p:cNvPr id="10" name="Text 8"/>
          <p:cNvSpPr/>
          <p:nvPr/>
        </p:nvSpPr>
        <p:spPr>
          <a:xfrm>
            <a:off x="7620357" y="32494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Sınırlılıklar</a:t>
            </a:r>
            <a:endParaRPr lang="en-US" sz="1950" dirty="0"/>
          </a:p>
        </p:txBody>
      </p:sp>
      <p:sp>
        <p:nvSpPr>
          <p:cNvPr id="11" name="Text 9"/>
          <p:cNvSpPr/>
          <p:nvPr/>
        </p:nvSpPr>
        <p:spPr>
          <a:xfrm>
            <a:off x="7620357" y="3757970"/>
            <a:ext cx="6168390" cy="127015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1960'ların başında operant ve klasik koşullanmanın saldırganlıktaki bireysel farklılıkları tam olarak açıklayamadığı anlaşıldı. Bu durum, Bandura'nın sosyal öğrenme teorisinin geliştirilmesine zemin hazırladı.</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06993" y="513755"/>
            <a:ext cx="803077" cy="319802"/>
          </a:xfrm>
          <a:prstGeom prst="roundRect">
            <a:avLst>
              <a:gd name="adj" fmla="val 6633"/>
            </a:avLst>
          </a:prstGeom>
          <a:solidFill>
            <a:srgbClr val="CCD7FF"/>
          </a:solidFill>
          <a:ln/>
        </p:spPr>
      </p:sp>
      <p:sp>
        <p:nvSpPr>
          <p:cNvPr id="3" name="Text 1"/>
          <p:cNvSpPr/>
          <p:nvPr/>
        </p:nvSpPr>
        <p:spPr>
          <a:xfrm>
            <a:off x="812959" y="566738"/>
            <a:ext cx="591145" cy="213836"/>
          </a:xfrm>
          <a:prstGeom prst="rect">
            <a:avLst/>
          </a:prstGeom>
          <a:noFill/>
          <a:ln/>
        </p:spPr>
        <p:txBody>
          <a:bodyPr wrap="none" lIns="0" tIns="0" rIns="0" bIns="0" rtlCol="0" anchor="t"/>
          <a:lstStyle/>
          <a:p>
            <a:pPr algn="l" indent="0" marL="0">
              <a:lnSpc>
                <a:spcPts val="1650"/>
              </a:lnSpc>
              <a:buNone/>
            </a:pPr>
            <a:r>
              <a:rPr lang="en-US" sz="1100" dirty="0">
                <a:solidFill>
                  <a:srgbClr val="4C4C4D"/>
                </a:solidFill>
                <a:latin typeface="Heebo" pitchFamily="34" charset="0"/>
                <a:ea typeface="Heebo" pitchFamily="34" charset="-122"/>
                <a:cs typeface="Heebo" pitchFamily="34" charset="-120"/>
              </a:rPr>
              <a:t>BÖLÜM 4</a:t>
            </a:r>
            <a:endParaRPr lang="en-US" sz="1100" dirty="0"/>
          </a:p>
        </p:txBody>
      </p:sp>
      <p:sp>
        <p:nvSpPr>
          <p:cNvPr id="4" name="Text 2"/>
          <p:cNvSpPr/>
          <p:nvPr/>
        </p:nvSpPr>
        <p:spPr>
          <a:xfrm>
            <a:off x="706993" y="896422"/>
            <a:ext cx="6657856" cy="552450"/>
          </a:xfrm>
          <a:prstGeom prst="rect">
            <a:avLst/>
          </a:prstGeom>
          <a:noFill/>
          <a:ln/>
        </p:spPr>
        <p:txBody>
          <a:bodyPr wrap="none" lIns="0" tIns="0" rIns="0" bIns="0" rtlCol="0" anchor="t"/>
          <a:lstStyle/>
          <a:p>
            <a:pPr algn="l" indent="0" marL="0">
              <a:lnSpc>
                <a:spcPts val="4300"/>
              </a:lnSpc>
              <a:buNone/>
            </a:pPr>
            <a:r>
              <a:rPr lang="en-US" sz="3450" dirty="0">
                <a:solidFill>
                  <a:srgbClr val="152D47"/>
                </a:solidFill>
                <a:latin typeface="Crimson Pro Semi Bold" pitchFamily="34" charset="0"/>
                <a:ea typeface="Crimson Pro Semi Bold" pitchFamily="34" charset="-122"/>
                <a:cs typeface="Crimson Pro Semi Bold" pitchFamily="34" charset="-120"/>
              </a:rPr>
              <a:t>Bandura'nın Sosyal Öğrenme Teorisi</a:t>
            </a:r>
            <a:endParaRPr lang="en-US" sz="3450" dirty="0"/>
          </a:p>
        </p:txBody>
      </p:sp>
      <p:sp>
        <p:nvSpPr>
          <p:cNvPr id="5" name="Text 3"/>
          <p:cNvSpPr/>
          <p:nvPr/>
        </p:nvSpPr>
        <p:spPr>
          <a:xfrm>
            <a:off x="706993" y="1684973"/>
            <a:ext cx="13216414" cy="534829"/>
          </a:xfrm>
          <a:prstGeom prst="rect">
            <a:avLst/>
          </a:prstGeom>
          <a:noFill/>
          <a:ln/>
        </p:spPr>
        <p:txBody>
          <a:bodyPr wrap="square" lIns="0" tIns="0" rIns="0" bIns="0" rtlCol="0" anchor="t"/>
          <a:lstStyle/>
          <a:p>
            <a:pPr algn="l" indent="0" marL="0">
              <a:lnSpc>
                <a:spcPts val="2100"/>
              </a:lnSpc>
              <a:buNone/>
            </a:pPr>
            <a:r>
              <a:rPr lang="en-US" sz="1350" dirty="0">
                <a:solidFill>
                  <a:srgbClr val="4C4C4D"/>
                </a:solidFill>
                <a:latin typeface="Heebo" pitchFamily="34" charset="0"/>
                <a:ea typeface="Heebo" pitchFamily="34" charset="-122"/>
                <a:cs typeface="Heebo" pitchFamily="34" charset="-120"/>
              </a:rPr>
              <a:t>Bandura, insanların başkalarını </a:t>
            </a:r>
            <a:pPr algn="l" indent="0" marL="0">
              <a:lnSpc>
                <a:spcPts val="2100"/>
              </a:lnSpc>
              <a:buNone/>
            </a:pPr>
            <a:r>
              <a:rPr lang="en-US" sz="1350" b="1" dirty="0">
                <a:solidFill>
                  <a:srgbClr val="4C4C4D"/>
                </a:solidFill>
                <a:latin typeface="Heebo" pitchFamily="34" charset="0"/>
                <a:ea typeface="Heebo" pitchFamily="34" charset="-122"/>
                <a:cs typeface="Heebo" pitchFamily="34" charset="-120"/>
              </a:rPr>
              <a:t>gözlemleyerek ve taklit ederek</a:t>
            </a:r>
            <a:pPr algn="l" indent="0" marL="0">
              <a:lnSpc>
                <a:spcPts val="2100"/>
              </a:lnSpc>
              <a:buNone/>
            </a:pPr>
            <a:r>
              <a:rPr lang="en-US" sz="1350" dirty="0">
                <a:solidFill>
                  <a:srgbClr val="4C4C4D"/>
                </a:solidFill>
                <a:latin typeface="Heebo" pitchFamily="34" charset="0"/>
                <a:ea typeface="Heebo" pitchFamily="34" charset="-122"/>
                <a:cs typeface="Heebo" pitchFamily="34" charset="-120"/>
              </a:rPr>
              <a:t> saldırganca davranmayı öğrendiklerini teorileştirdi. Klasik deneylerde küçük çocukların saldırgan modelleri taklit ettiği gösterildi.</a:t>
            </a:r>
            <a:endParaRPr lang="en-US" sz="1350" dirty="0"/>
          </a:p>
        </p:txBody>
      </p:sp>
      <p:pic>
        <p:nvPicPr>
          <p:cNvPr id="6" name="Image 0" descr="preencoded.png">    </p:cNvPr>
          <p:cNvPicPr>
            <a:picLocks noChangeAspect="1"/>
          </p:cNvPicPr>
          <p:nvPr/>
        </p:nvPicPr>
        <p:blipFill>
          <a:blip r:embed="rId1"/>
          <a:stretch>
            <a:fillRect/>
          </a:stretch>
        </p:blipFill>
        <p:spPr>
          <a:xfrm>
            <a:off x="3434001" y="2396847"/>
            <a:ext cx="7762399" cy="4607004"/>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25482" y="3522876"/>
            <a:ext cx="660806" cy="660806"/>
          </a:xfrm>
          <a:prstGeom prst="rect">
            <a:avLst/>
          </a:prstGeom>
        </p:spPr>
      </p:pic>
      <p:sp>
        <p:nvSpPr>
          <p:cNvPr id="8" name="Text 4"/>
          <p:cNvSpPr/>
          <p:nvPr/>
        </p:nvSpPr>
        <p:spPr>
          <a:xfrm>
            <a:off x="8836746" y="5935231"/>
            <a:ext cx="1929553" cy="371703"/>
          </a:xfrm>
          <a:prstGeom prst="rect">
            <a:avLst/>
          </a:prstGeom>
          <a:noFill/>
          <a:ln/>
        </p:spPr>
        <p:txBody>
          <a:bodyPr wrap="none" lIns="0" tIns="0" rIns="0" bIns="0" rtlCol="0" anchor="t"/>
          <a:lstStyle/>
          <a:p>
            <a:pPr algn="ctr" indent="0" marL="0">
              <a:lnSpc>
                <a:spcPts val="2900"/>
              </a:lnSpc>
              <a:buNone/>
            </a:pPr>
            <a:r>
              <a:rPr lang="en-US" sz="2300" dirty="0">
                <a:solidFill>
                  <a:srgbClr val="4C4C4D"/>
                </a:solidFill>
                <a:latin typeface="Crimson Pro Semi Bold" pitchFamily="34" charset="0"/>
                <a:ea typeface="Crimson Pro Semi Bold" pitchFamily="34" charset="-122"/>
                <a:cs typeface="Crimson Pro Semi Bold" pitchFamily="34" charset="-120"/>
              </a:rPr>
              <a:t>Taklit</a:t>
            </a:r>
            <a:endParaRPr lang="en-US" sz="230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06313" y="3524115"/>
            <a:ext cx="660806" cy="660806"/>
          </a:xfrm>
          <a:prstGeom prst="rect">
            <a:avLst/>
          </a:prstGeom>
        </p:spPr>
      </p:pic>
      <p:sp>
        <p:nvSpPr>
          <p:cNvPr id="10" name="Text 5"/>
          <p:cNvSpPr/>
          <p:nvPr/>
        </p:nvSpPr>
        <p:spPr>
          <a:xfrm>
            <a:off x="6404979" y="5935231"/>
            <a:ext cx="1929554" cy="371703"/>
          </a:xfrm>
          <a:prstGeom prst="rect">
            <a:avLst/>
          </a:prstGeom>
          <a:noFill/>
          <a:ln/>
        </p:spPr>
        <p:txBody>
          <a:bodyPr wrap="none" lIns="0" tIns="0" rIns="0" bIns="0" rtlCol="0" anchor="t"/>
          <a:lstStyle/>
          <a:p>
            <a:pPr algn="ctr" indent="0" marL="0">
              <a:lnSpc>
                <a:spcPts val="2900"/>
              </a:lnSpc>
              <a:buNone/>
            </a:pPr>
            <a:r>
              <a:rPr lang="en-US" sz="2300" dirty="0">
                <a:solidFill>
                  <a:srgbClr val="4C4C4D"/>
                </a:solidFill>
                <a:latin typeface="Crimson Pro Semi Bold" pitchFamily="34" charset="0"/>
                <a:ea typeface="Crimson Pro Semi Bold" pitchFamily="34" charset="-122"/>
                <a:cs typeface="Crimson Pro Semi Bold" pitchFamily="34" charset="-120"/>
              </a:rPr>
              <a:t>Yorum</a:t>
            </a:r>
            <a:endParaRPr lang="en-US" sz="23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74547" y="3524115"/>
            <a:ext cx="660806" cy="660806"/>
          </a:xfrm>
          <a:prstGeom prst="rect">
            <a:avLst/>
          </a:prstGeom>
        </p:spPr>
      </p:pic>
      <p:sp>
        <p:nvSpPr>
          <p:cNvPr id="12" name="Text 6"/>
          <p:cNvSpPr/>
          <p:nvPr/>
        </p:nvSpPr>
        <p:spPr>
          <a:xfrm>
            <a:off x="3933565" y="5935231"/>
            <a:ext cx="1929554" cy="371703"/>
          </a:xfrm>
          <a:prstGeom prst="rect">
            <a:avLst/>
          </a:prstGeom>
          <a:noFill/>
          <a:ln/>
        </p:spPr>
        <p:txBody>
          <a:bodyPr wrap="none" lIns="0" tIns="0" rIns="0" bIns="0" rtlCol="0" anchor="t"/>
          <a:lstStyle/>
          <a:p>
            <a:pPr algn="ctr" indent="0" marL="0">
              <a:lnSpc>
                <a:spcPts val="2900"/>
              </a:lnSpc>
              <a:buNone/>
            </a:pPr>
            <a:r>
              <a:rPr lang="en-US" sz="2300" dirty="0">
                <a:solidFill>
                  <a:srgbClr val="4C4C4D"/>
                </a:solidFill>
                <a:latin typeface="Crimson Pro Semi Bold" pitchFamily="34" charset="0"/>
                <a:ea typeface="Crimson Pro Semi Bold" pitchFamily="34" charset="-122"/>
                <a:cs typeface="Crimson Pro Semi Bold" pitchFamily="34" charset="-120"/>
              </a:rPr>
              <a:t>Gözlem</a:t>
            </a:r>
            <a:endParaRPr lang="en-US" sz="2300" dirty="0"/>
          </a:p>
        </p:txBody>
      </p:sp>
      <p:sp>
        <p:nvSpPr>
          <p:cNvPr id="13" name="Text 7"/>
          <p:cNvSpPr/>
          <p:nvPr/>
        </p:nvSpPr>
        <p:spPr>
          <a:xfrm>
            <a:off x="706993" y="7180898"/>
            <a:ext cx="13216414" cy="534829"/>
          </a:xfrm>
          <a:prstGeom prst="rect">
            <a:avLst/>
          </a:prstGeom>
          <a:noFill/>
          <a:ln/>
        </p:spPr>
        <p:txBody>
          <a:bodyPr wrap="square" lIns="0" tIns="0" rIns="0" bIns="0" rtlCol="0" anchor="t"/>
          <a:lstStyle/>
          <a:p>
            <a:pPr algn="l" indent="0" marL="0">
              <a:lnSpc>
                <a:spcPts val="2100"/>
              </a:lnSpc>
              <a:buNone/>
            </a:pPr>
            <a:r>
              <a:rPr lang="en-US" sz="1350" dirty="0">
                <a:solidFill>
                  <a:srgbClr val="4C4C4D"/>
                </a:solidFill>
                <a:latin typeface="Heebo" pitchFamily="34" charset="0"/>
                <a:ea typeface="Heebo" pitchFamily="34" charset="-122"/>
                <a:cs typeface="Heebo" pitchFamily="34" charset="-120"/>
              </a:rPr>
              <a:t>Önemli olan yalnızca gözlem değil, çocuğun davranışı nasıl yorumladığı ve ne kadar yetkin hissettiğidir. Bir ebeveynin diğerini vurmasını izlemek, çocuğun vurma olasılığını artırır ve bunu kabul edilebilir bir tepki olarak benimsemesine yol açabilir.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93790" y="1680924"/>
            <a:ext cx="901898" cy="373142"/>
          </a:xfrm>
          <a:prstGeom prst="roundRect">
            <a:avLst>
              <a:gd name="adj" fmla="val 6383"/>
            </a:avLst>
          </a:prstGeom>
          <a:solidFill>
            <a:srgbClr val="CCD7FF"/>
          </a:solidFill>
          <a:ln/>
        </p:spPr>
      </p:sp>
      <p:sp>
        <p:nvSpPr>
          <p:cNvPr id="3" name="Text 1"/>
          <p:cNvSpPr/>
          <p:nvPr/>
        </p:nvSpPr>
        <p:spPr>
          <a:xfrm>
            <a:off x="912852" y="1740456"/>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4</a:t>
            </a:r>
            <a:endParaRPr lang="en-US" sz="1250" dirty="0"/>
          </a:p>
        </p:txBody>
      </p:sp>
      <p:sp>
        <p:nvSpPr>
          <p:cNvPr id="4" name="Text 2"/>
          <p:cNvSpPr/>
          <p:nvPr/>
        </p:nvSpPr>
        <p:spPr>
          <a:xfrm>
            <a:off x="793790" y="2133362"/>
            <a:ext cx="6915388"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Ayna Nöronlar ve Otomatik Taklit</a:t>
            </a:r>
            <a:endParaRPr lang="en-US" sz="3900" dirty="0"/>
          </a:p>
        </p:txBody>
      </p:sp>
      <p:sp>
        <p:nvSpPr>
          <p:cNvPr id="5" name="Shape 3"/>
          <p:cNvSpPr/>
          <p:nvPr/>
        </p:nvSpPr>
        <p:spPr>
          <a:xfrm>
            <a:off x="650915" y="3051096"/>
            <a:ext cx="6565106" cy="3497580"/>
          </a:xfrm>
          <a:prstGeom prst="roundRect">
            <a:avLst>
              <a:gd name="adj" fmla="val 851"/>
            </a:avLst>
          </a:prstGeom>
          <a:solidFill>
            <a:srgbClr val="2150FE"/>
          </a:solidFill>
          <a:ln/>
        </p:spPr>
      </p:sp>
      <p:sp>
        <p:nvSpPr>
          <p:cNvPr id="6" name="Text 4"/>
          <p:cNvSpPr/>
          <p:nvPr/>
        </p:nvSpPr>
        <p:spPr>
          <a:xfrm>
            <a:off x="849273" y="32494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Ayna Nöronlar</a:t>
            </a:r>
            <a:endParaRPr lang="en-US" sz="1950" dirty="0"/>
          </a:p>
        </p:txBody>
      </p:sp>
      <p:sp>
        <p:nvSpPr>
          <p:cNvPr id="7" name="Text 5"/>
          <p:cNvSpPr/>
          <p:nvPr/>
        </p:nvSpPr>
        <p:spPr>
          <a:xfrm>
            <a:off x="849273" y="3757970"/>
            <a:ext cx="6168390" cy="127015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1990'ların ortasında, bir eylem gözlemlendiğinde veya gerçekleştirildiğinde ateşlenen "ayna nöronlarının" varlığı gösterildi (Gallese ve diğerleri; Rizzolatti). Bu, çocukların neden başkalarını taklit ettiğini açıklar.</a:t>
            </a:r>
            <a:endParaRPr lang="en-US" sz="1550" dirty="0"/>
          </a:p>
        </p:txBody>
      </p:sp>
      <p:sp>
        <p:nvSpPr>
          <p:cNvPr id="8" name="Text 6"/>
          <p:cNvSpPr/>
          <p:nvPr/>
        </p:nvSpPr>
        <p:spPr>
          <a:xfrm>
            <a:off x="7564874" y="32494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Doğuştan Taklit Eğilimi</a:t>
            </a:r>
            <a:endParaRPr lang="en-US" sz="1950" dirty="0"/>
          </a:p>
        </p:txBody>
      </p:sp>
      <p:sp>
        <p:nvSpPr>
          <p:cNvPr id="9" name="Text 7"/>
          <p:cNvSpPr/>
          <p:nvPr/>
        </p:nvSpPr>
        <p:spPr>
          <a:xfrm>
            <a:off x="7564874" y="375797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İnsan ve primat yavruları gözlemlediklerini taklit etme konusunda doğuştan eğilime sahiptir. Erken bebeklikte ifadeleri, yürüyebildiklerinde ise davranışları taklit ederler.</a:t>
            </a:r>
            <a:endParaRPr lang="en-US" sz="1550" dirty="0"/>
          </a:p>
        </p:txBody>
      </p:sp>
      <p:sp>
        <p:nvSpPr>
          <p:cNvPr id="10" name="Text 8"/>
          <p:cNvSpPr/>
          <p:nvPr/>
        </p:nvSpPr>
        <p:spPr>
          <a:xfrm>
            <a:off x="7564874" y="49089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Öfkenin Bulaşması</a:t>
            </a:r>
            <a:endParaRPr lang="en-US" sz="1950" dirty="0"/>
          </a:p>
        </p:txBody>
      </p:sp>
      <p:sp>
        <p:nvSpPr>
          <p:cNvPr id="11" name="Text 9"/>
          <p:cNvSpPr/>
          <p:nvPr/>
        </p:nvSpPr>
        <p:spPr>
          <a:xfrm>
            <a:off x="7564874" y="541746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Öfkeli ifadelerin otomatik olarak taklit edilmesi, izleyicide öfkeli duyguları harekete geçirebilir (Prinz; Zajonc ve diğerleri). Saldırgan davranışların anında "ayna" temsili yeterlidir.</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822008"/>
            <a:ext cx="901898" cy="373142"/>
          </a:xfrm>
          <a:prstGeom prst="roundRect">
            <a:avLst>
              <a:gd name="adj" fmla="val 6383"/>
            </a:avLst>
          </a:prstGeom>
          <a:solidFill>
            <a:srgbClr val="CCD7FF"/>
          </a:solidFill>
          <a:ln/>
        </p:spPr>
      </p:sp>
      <p:sp>
        <p:nvSpPr>
          <p:cNvPr id="3" name="Text 1"/>
          <p:cNvSpPr/>
          <p:nvPr/>
        </p:nvSpPr>
        <p:spPr>
          <a:xfrm>
            <a:off x="912852" y="881539"/>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5</a:t>
            </a:r>
            <a:endParaRPr lang="en-US" sz="1250" dirty="0"/>
          </a:p>
        </p:txBody>
      </p:sp>
      <p:sp>
        <p:nvSpPr>
          <p:cNvPr id="4" name="Text 2"/>
          <p:cNvSpPr/>
          <p:nvPr/>
        </p:nvSpPr>
        <p:spPr>
          <a:xfrm>
            <a:off x="793790" y="1274445"/>
            <a:ext cx="7616428"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Fizyolojik Uyarılmaya Dayalı Teoriler</a:t>
            </a:r>
            <a:endParaRPr lang="en-US" sz="3900" dirty="0"/>
          </a:p>
        </p:txBody>
      </p:sp>
      <p:sp>
        <p:nvSpPr>
          <p:cNvPr id="5" name="Text 3"/>
          <p:cNvSpPr/>
          <p:nvPr/>
        </p:nvSpPr>
        <p:spPr>
          <a:xfrm>
            <a:off x="793790" y="219217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Kışkırtma, sıcaklık ve medya şiddeti gibi saldırganlığı artıran uyaranlar aynı zamanda uyarılma seviyelerini de artırır. Uyarılmanın saldırganlığı artırmasının dört olası nedeni vardır:</a:t>
            </a:r>
            <a:endParaRPr lang="en-US" sz="1550" dirty="0"/>
          </a:p>
        </p:txBody>
      </p:sp>
      <p:sp>
        <p:nvSpPr>
          <p:cNvPr id="6" name="Shape 4"/>
          <p:cNvSpPr/>
          <p:nvPr/>
        </p:nvSpPr>
        <p:spPr>
          <a:xfrm>
            <a:off x="793790" y="3348157"/>
            <a:ext cx="6422231" cy="1781651"/>
          </a:xfrm>
          <a:prstGeom prst="roundRect">
            <a:avLst>
              <a:gd name="adj" fmla="val 6159"/>
            </a:avLst>
          </a:prstGeom>
          <a:solidFill>
            <a:srgbClr val="FFFFFF"/>
          </a:solidFill>
          <a:ln/>
        </p:spPr>
      </p:sp>
      <p:sp>
        <p:nvSpPr>
          <p:cNvPr id="7" name="Shape 5"/>
          <p:cNvSpPr/>
          <p:nvPr/>
        </p:nvSpPr>
        <p:spPr>
          <a:xfrm>
            <a:off x="793790" y="3325297"/>
            <a:ext cx="6422231" cy="91440"/>
          </a:xfrm>
          <a:prstGeom prst="roundRect">
            <a:avLst>
              <a:gd name="adj" fmla="val 32558"/>
            </a:avLst>
          </a:prstGeom>
          <a:solidFill>
            <a:srgbClr val="2150FE"/>
          </a:solidFill>
          <a:ln/>
        </p:spPr>
      </p:sp>
      <p:sp>
        <p:nvSpPr>
          <p:cNvPr id="8" name="Shape 6"/>
          <p:cNvSpPr/>
          <p:nvPr/>
        </p:nvSpPr>
        <p:spPr>
          <a:xfrm>
            <a:off x="3707249" y="3050500"/>
            <a:ext cx="595313" cy="595313"/>
          </a:xfrm>
          <a:prstGeom prst="roundRect">
            <a:avLst>
              <a:gd name="adj" fmla="val 153600"/>
            </a:avLst>
          </a:prstGeom>
          <a:solidFill>
            <a:srgbClr val="2150FE"/>
          </a:solidFill>
          <a:ln/>
        </p:spPr>
      </p:sp>
      <p:sp>
        <p:nvSpPr>
          <p:cNvPr id="9" name="Text 7"/>
          <p:cNvSpPr/>
          <p:nvPr/>
        </p:nvSpPr>
        <p:spPr>
          <a:xfrm>
            <a:off x="3885843" y="3199328"/>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Crimson Pro Semi Bold" pitchFamily="34" charset="0"/>
                <a:ea typeface="Crimson Pro Semi Bold" pitchFamily="34" charset="-122"/>
                <a:cs typeface="Crimson Pro Semi Bold" pitchFamily="34" charset="-120"/>
              </a:rPr>
              <a:t>1</a:t>
            </a:r>
            <a:endParaRPr lang="en-US" sz="1850" dirty="0"/>
          </a:p>
        </p:txBody>
      </p:sp>
      <p:sp>
        <p:nvSpPr>
          <p:cNvPr id="10" name="Text 8"/>
          <p:cNvSpPr/>
          <p:nvPr/>
        </p:nvSpPr>
        <p:spPr>
          <a:xfrm>
            <a:off x="1015008" y="384429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İtici Deneyim</a:t>
            </a:r>
            <a:endParaRPr lang="en-US" sz="1950" dirty="0"/>
          </a:p>
        </p:txBody>
      </p:sp>
      <p:sp>
        <p:nvSpPr>
          <p:cNvPr id="11" name="Text 9"/>
          <p:cNvSpPr/>
          <p:nvPr/>
        </p:nvSpPr>
        <p:spPr>
          <a:xfrm>
            <a:off x="1015008" y="4273510"/>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Yüksek uyarılma seviyeleri itici olarak deneyimlenir ve diğer itici uyaranlar gibi saldırganlığı uyarır.</a:t>
            </a:r>
            <a:endParaRPr lang="en-US" sz="1550" dirty="0"/>
          </a:p>
        </p:txBody>
      </p:sp>
      <p:sp>
        <p:nvSpPr>
          <p:cNvPr id="12" name="Shape 10"/>
          <p:cNvSpPr/>
          <p:nvPr/>
        </p:nvSpPr>
        <p:spPr>
          <a:xfrm>
            <a:off x="7414379" y="3348157"/>
            <a:ext cx="6422231" cy="1781651"/>
          </a:xfrm>
          <a:prstGeom prst="roundRect">
            <a:avLst>
              <a:gd name="adj" fmla="val 6159"/>
            </a:avLst>
          </a:prstGeom>
          <a:solidFill>
            <a:srgbClr val="FFFFFF"/>
          </a:solidFill>
          <a:ln/>
        </p:spPr>
      </p:sp>
      <p:sp>
        <p:nvSpPr>
          <p:cNvPr id="13" name="Shape 11"/>
          <p:cNvSpPr/>
          <p:nvPr/>
        </p:nvSpPr>
        <p:spPr>
          <a:xfrm>
            <a:off x="7414379" y="3325297"/>
            <a:ext cx="6422231" cy="91440"/>
          </a:xfrm>
          <a:prstGeom prst="roundRect">
            <a:avLst>
              <a:gd name="adj" fmla="val 32558"/>
            </a:avLst>
          </a:prstGeom>
          <a:solidFill>
            <a:srgbClr val="2150FE"/>
          </a:solidFill>
          <a:ln/>
        </p:spPr>
      </p:sp>
      <p:sp>
        <p:nvSpPr>
          <p:cNvPr id="14" name="Shape 12"/>
          <p:cNvSpPr/>
          <p:nvPr/>
        </p:nvSpPr>
        <p:spPr>
          <a:xfrm>
            <a:off x="10327838" y="3050500"/>
            <a:ext cx="595313" cy="595313"/>
          </a:xfrm>
          <a:prstGeom prst="roundRect">
            <a:avLst>
              <a:gd name="adj" fmla="val 153600"/>
            </a:avLst>
          </a:prstGeom>
          <a:solidFill>
            <a:srgbClr val="2150FE"/>
          </a:solidFill>
          <a:ln/>
        </p:spPr>
      </p:sp>
      <p:sp>
        <p:nvSpPr>
          <p:cNvPr id="15" name="Text 13"/>
          <p:cNvSpPr/>
          <p:nvPr/>
        </p:nvSpPr>
        <p:spPr>
          <a:xfrm>
            <a:off x="10506432" y="3199328"/>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Crimson Pro Semi Bold" pitchFamily="34" charset="0"/>
                <a:ea typeface="Crimson Pro Semi Bold" pitchFamily="34" charset="-122"/>
                <a:cs typeface="Crimson Pro Semi Bold" pitchFamily="34" charset="-120"/>
              </a:rPr>
              <a:t>2</a:t>
            </a:r>
            <a:endParaRPr lang="en-US" sz="1850" dirty="0"/>
          </a:p>
        </p:txBody>
      </p:sp>
      <p:sp>
        <p:nvSpPr>
          <p:cNvPr id="16" name="Text 14"/>
          <p:cNvSpPr/>
          <p:nvPr/>
        </p:nvSpPr>
        <p:spPr>
          <a:xfrm>
            <a:off x="7635597" y="384429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Dikkat Daralması</a:t>
            </a:r>
            <a:endParaRPr lang="en-US" sz="1950" dirty="0"/>
          </a:p>
        </p:txBody>
      </p:sp>
      <p:sp>
        <p:nvSpPr>
          <p:cNvPr id="17" name="Text 15"/>
          <p:cNvSpPr/>
          <p:nvPr/>
        </p:nvSpPr>
        <p:spPr>
          <a:xfrm>
            <a:off x="7635597" y="4273510"/>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Uyarılma dikkat aralığını daraltır. Saldırgan ipuçları belirginse, dikkat onlara odaklanır ve saldırganlık kolaylaşır.</a:t>
            </a:r>
            <a:endParaRPr lang="en-US" sz="1550" dirty="0"/>
          </a:p>
        </p:txBody>
      </p:sp>
      <p:sp>
        <p:nvSpPr>
          <p:cNvPr id="18" name="Shape 16"/>
          <p:cNvSpPr/>
          <p:nvPr/>
        </p:nvSpPr>
        <p:spPr>
          <a:xfrm>
            <a:off x="793790" y="5625822"/>
            <a:ext cx="6422231" cy="1781651"/>
          </a:xfrm>
          <a:prstGeom prst="roundRect">
            <a:avLst>
              <a:gd name="adj" fmla="val 6159"/>
            </a:avLst>
          </a:prstGeom>
          <a:solidFill>
            <a:srgbClr val="FFFFFF"/>
          </a:solidFill>
          <a:ln/>
        </p:spPr>
      </p:sp>
      <p:sp>
        <p:nvSpPr>
          <p:cNvPr id="19" name="Shape 17"/>
          <p:cNvSpPr/>
          <p:nvPr/>
        </p:nvSpPr>
        <p:spPr>
          <a:xfrm>
            <a:off x="793790" y="5602962"/>
            <a:ext cx="6422231" cy="91440"/>
          </a:xfrm>
          <a:prstGeom prst="roundRect">
            <a:avLst>
              <a:gd name="adj" fmla="val 32558"/>
            </a:avLst>
          </a:prstGeom>
          <a:solidFill>
            <a:srgbClr val="2150FE"/>
          </a:solidFill>
          <a:ln/>
        </p:spPr>
      </p:sp>
      <p:sp>
        <p:nvSpPr>
          <p:cNvPr id="20" name="Shape 18"/>
          <p:cNvSpPr/>
          <p:nvPr/>
        </p:nvSpPr>
        <p:spPr>
          <a:xfrm>
            <a:off x="3707249" y="5328166"/>
            <a:ext cx="595313" cy="595313"/>
          </a:xfrm>
          <a:prstGeom prst="roundRect">
            <a:avLst>
              <a:gd name="adj" fmla="val 153600"/>
            </a:avLst>
          </a:prstGeom>
          <a:solidFill>
            <a:srgbClr val="2150FE"/>
          </a:solidFill>
          <a:ln/>
        </p:spPr>
      </p:sp>
      <p:sp>
        <p:nvSpPr>
          <p:cNvPr id="21" name="Text 19"/>
          <p:cNvSpPr/>
          <p:nvPr/>
        </p:nvSpPr>
        <p:spPr>
          <a:xfrm>
            <a:off x="3885843" y="5476994"/>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Crimson Pro Semi Bold" pitchFamily="34" charset="0"/>
                <a:ea typeface="Crimson Pro Semi Bold" pitchFamily="34" charset="-122"/>
                <a:cs typeface="Crimson Pro Semi Bold" pitchFamily="34" charset="-120"/>
              </a:rPr>
              <a:t>3</a:t>
            </a:r>
            <a:endParaRPr lang="en-US" sz="1850" dirty="0"/>
          </a:p>
        </p:txBody>
      </p:sp>
      <p:sp>
        <p:nvSpPr>
          <p:cNvPr id="22" name="Text 20"/>
          <p:cNvSpPr/>
          <p:nvPr/>
        </p:nvSpPr>
        <p:spPr>
          <a:xfrm>
            <a:off x="1015008" y="612195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Baskın Tepki</a:t>
            </a:r>
            <a:endParaRPr lang="en-US" sz="1950" dirty="0"/>
          </a:p>
        </p:txBody>
      </p:sp>
      <p:sp>
        <p:nvSpPr>
          <p:cNvPr id="23" name="Text 21"/>
          <p:cNvSpPr/>
          <p:nvPr/>
        </p:nvSpPr>
        <p:spPr>
          <a:xfrm>
            <a:off x="1015008" y="6551176"/>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Uyarılma baskın tepkiyi artırır. Karakteristik olarak saldırgan kişiler, uyarıldıklarında daha da saldırgan davranır.</a:t>
            </a:r>
            <a:endParaRPr lang="en-US" sz="1550" dirty="0"/>
          </a:p>
        </p:txBody>
      </p:sp>
      <p:sp>
        <p:nvSpPr>
          <p:cNvPr id="24" name="Shape 22"/>
          <p:cNvSpPr/>
          <p:nvPr/>
        </p:nvSpPr>
        <p:spPr>
          <a:xfrm>
            <a:off x="7414379" y="5625822"/>
            <a:ext cx="6422231" cy="1781651"/>
          </a:xfrm>
          <a:prstGeom prst="roundRect">
            <a:avLst>
              <a:gd name="adj" fmla="val 6159"/>
            </a:avLst>
          </a:prstGeom>
          <a:solidFill>
            <a:srgbClr val="FFFFFF"/>
          </a:solidFill>
          <a:ln/>
        </p:spPr>
      </p:sp>
      <p:sp>
        <p:nvSpPr>
          <p:cNvPr id="25" name="Shape 23"/>
          <p:cNvSpPr/>
          <p:nvPr/>
        </p:nvSpPr>
        <p:spPr>
          <a:xfrm>
            <a:off x="7414379" y="5602962"/>
            <a:ext cx="6422231" cy="91440"/>
          </a:xfrm>
          <a:prstGeom prst="roundRect">
            <a:avLst>
              <a:gd name="adj" fmla="val 32558"/>
            </a:avLst>
          </a:prstGeom>
          <a:solidFill>
            <a:srgbClr val="2150FE"/>
          </a:solidFill>
          <a:ln/>
        </p:spPr>
      </p:sp>
      <p:sp>
        <p:nvSpPr>
          <p:cNvPr id="26" name="Shape 24"/>
          <p:cNvSpPr/>
          <p:nvPr/>
        </p:nvSpPr>
        <p:spPr>
          <a:xfrm>
            <a:off x="10327838" y="5328166"/>
            <a:ext cx="595313" cy="595313"/>
          </a:xfrm>
          <a:prstGeom prst="roundRect">
            <a:avLst>
              <a:gd name="adj" fmla="val 153600"/>
            </a:avLst>
          </a:prstGeom>
          <a:solidFill>
            <a:srgbClr val="2150FE"/>
          </a:solidFill>
          <a:ln/>
        </p:spPr>
      </p:sp>
      <p:sp>
        <p:nvSpPr>
          <p:cNvPr id="27" name="Text 25"/>
          <p:cNvSpPr/>
          <p:nvPr/>
        </p:nvSpPr>
        <p:spPr>
          <a:xfrm>
            <a:off x="10506432" y="5476994"/>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Crimson Pro Semi Bold" pitchFamily="34" charset="0"/>
                <a:ea typeface="Crimson Pro Semi Bold" pitchFamily="34" charset="-122"/>
                <a:cs typeface="Crimson Pro Semi Bold" pitchFamily="34" charset="-120"/>
              </a:rPr>
              <a:t>4</a:t>
            </a:r>
            <a:endParaRPr lang="en-US" sz="1850" dirty="0"/>
          </a:p>
        </p:txBody>
      </p:sp>
      <p:sp>
        <p:nvSpPr>
          <p:cNvPr id="28" name="Text 26"/>
          <p:cNvSpPr/>
          <p:nvPr/>
        </p:nvSpPr>
        <p:spPr>
          <a:xfrm>
            <a:off x="7635597" y="612195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Yanlış Etiketleme</a:t>
            </a:r>
            <a:endParaRPr lang="en-US" sz="1950" dirty="0"/>
          </a:p>
        </p:txBody>
      </p:sp>
      <p:sp>
        <p:nvSpPr>
          <p:cNvPr id="29" name="Text 27"/>
          <p:cNvSpPr/>
          <p:nvPr/>
        </p:nvSpPr>
        <p:spPr>
          <a:xfrm>
            <a:off x="7635597" y="6551176"/>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Uyarılma, kışkırtma içeren durumlarda öfke olarak yanlış etiketlenebilir ve öfke kaynaklı saldırgan davranışlara neden olabilir.</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2081451"/>
            <a:ext cx="901898" cy="373142"/>
          </a:xfrm>
          <a:prstGeom prst="roundRect">
            <a:avLst>
              <a:gd name="adj" fmla="val 6383"/>
            </a:avLst>
          </a:prstGeom>
          <a:solidFill>
            <a:srgbClr val="CCD7FF"/>
          </a:solidFill>
          <a:ln/>
        </p:spPr>
      </p:sp>
      <p:sp>
        <p:nvSpPr>
          <p:cNvPr id="3" name="Text 1"/>
          <p:cNvSpPr/>
          <p:nvPr/>
        </p:nvSpPr>
        <p:spPr>
          <a:xfrm>
            <a:off x="912852" y="2140982"/>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5</a:t>
            </a:r>
            <a:endParaRPr lang="en-US" sz="1250" dirty="0"/>
          </a:p>
        </p:txBody>
      </p:sp>
      <p:sp>
        <p:nvSpPr>
          <p:cNvPr id="4" name="Text 2"/>
          <p:cNvSpPr/>
          <p:nvPr/>
        </p:nvSpPr>
        <p:spPr>
          <a:xfrm>
            <a:off x="793790" y="2533888"/>
            <a:ext cx="5396984"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Uyarılma Transferi Teorisi</a:t>
            </a:r>
            <a:endParaRPr lang="en-US" sz="3900" dirty="0"/>
          </a:p>
        </p:txBody>
      </p:sp>
      <p:sp>
        <p:nvSpPr>
          <p:cNvPr id="5" name="Text 3"/>
          <p:cNvSpPr/>
          <p:nvPr/>
        </p:nvSpPr>
        <p:spPr>
          <a:xfrm>
            <a:off x="793790" y="345162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Dolf Zillmann'ın geliştirdiği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uyarılma-aktarım teorisi</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fizyolojik uyarılmanın yavaş yavaş dağıldığını varsayar.</a:t>
            </a:r>
            <a:endParaRPr lang="en-US" sz="1550" dirty="0"/>
          </a:p>
        </p:txBody>
      </p:sp>
      <p:sp>
        <p:nvSpPr>
          <p:cNvPr id="6" name="Shape 4"/>
          <p:cNvSpPr/>
          <p:nvPr/>
        </p:nvSpPr>
        <p:spPr>
          <a:xfrm>
            <a:off x="650915" y="3992404"/>
            <a:ext cx="6565106" cy="2155627"/>
          </a:xfrm>
          <a:prstGeom prst="roundRect">
            <a:avLst>
              <a:gd name="adj" fmla="val 1381"/>
            </a:avLst>
          </a:prstGeom>
          <a:solidFill>
            <a:srgbClr val="2150FE"/>
          </a:solidFill>
          <a:ln/>
        </p:spPr>
      </p:sp>
      <p:sp>
        <p:nvSpPr>
          <p:cNvPr id="7" name="Text 5"/>
          <p:cNvSpPr/>
          <p:nvPr/>
        </p:nvSpPr>
        <p:spPr>
          <a:xfrm>
            <a:off x="849273" y="419076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Transfer Mekanizması</a:t>
            </a:r>
            <a:endParaRPr lang="en-US" sz="1950" dirty="0"/>
          </a:p>
        </p:txBody>
      </p:sp>
      <p:sp>
        <p:nvSpPr>
          <p:cNvPr id="8" name="Text 6"/>
          <p:cNvSpPr/>
          <p:nvPr/>
        </p:nvSpPr>
        <p:spPr>
          <a:xfrm>
            <a:off x="849273" y="4699278"/>
            <a:ext cx="6168390" cy="95261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İki uyarıcı olay arasında kısa bir zaman dilimi varsa, ilk olayın neden olduğu uyarılmanın bir kısmı ikinci olaya aktarılabilir. İlk olaydan kaynaklanan uyarılma yanlışlıkla ikinci olaya atfedilir.</a:t>
            </a:r>
            <a:endParaRPr lang="en-US" sz="1550" dirty="0"/>
          </a:p>
        </p:txBody>
      </p:sp>
      <p:sp>
        <p:nvSpPr>
          <p:cNvPr id="9" name="Text 7"/>
          <p:cNvSpPr/>
          <p:nvPr/>
        </p:nvSpPr>
        <p:spPr>
          <a:xfrm>
            <a:off x="7564874" y="419076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Öfkenin Uzaması</a:t>
            </a:r>
            <a:endParaRPr lang="en-US" sz="1950" dirty="0"/>
          </a:p>
        </p:txBody>
      </p:sp>
      <p:sp>
        <p:nvSpPr>
          <p:cNvPr id="10" name="Text 8"/>
          <p:cNvSpPr/>
          <p:nvPr/>
        </p:nvSpPr>
        <p:spPr>
          <a:xfrm>
            <a:off x="7564874" y="4699278"/>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Kişi artan uyarılmasını öfkeye atfeder ve bunu düşünmeye devam ederse, öfke uzun sürelere yayılabilir. Uyarılma dağıldıktan sonra bile kişi, kendi ürettiği "öfke" etiketi devam ettiği sürece saldırganlığa hazır kalır.</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93790" y="1602700"/>
            <a:ext cx="901898" cy="373142"/>
          </a:xfrm>
          <a:prstGeom prst="roundRect">
            <a:avLst>
              <a:gd name="adj" fmla="val 6383"/>
            </a:avLst>
          </a:prstGeom>
          <a:solidFill>
            <a:srgbClr val="CCD7FF"/>
          </a:solidFill>
          <a:ln/>
        </p:spPr>
      </p:sp>
      <p:sp>
        <p:nvSpPr>
          <p:cNvPr id="3" name="Text 1"/>
          <p:cNvSpPr/>
          <p:nvPr/>
        </p:nvSpPr>
        <p:spPr>
          <a:xfrm>
            <a:off x="912852" y="1662232"/>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6</a:t>
            </a:r>
            <a:endParaRPr lang="en-US" sz="1250" dirty="0"/>
          </a:p>
        </p:txBody>
      </p:sp>
      <p:sp>
        <p:nvSpPr>
          <p:cNvPr id="4" name="Text 2"/>
          <p:cNvSpPr/>
          <p:nvPr/>
        </p:nvSpPr>
        <p:spPr>
          <a:xfrm>
            <a:off x="793790" y="2055138"/>
            <a:ext cx="8864560"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Sosyal-Bilişsel Bilgi İşleme: Senaryo Modeli</a:t>
            </a:r>
            <a:endParaRPr lang="en-US" sz="3900" dirty="0"/>
          </a:p>
        </p:txBody>
      </p:sp>
      <p:sp>
        <p:nvSpPr>
          <p:cNvPr id="5" name="Text 3"/>
          <p:cNvSpPr/>
          <p:nvPr/>
        </p:nvSpPr>
        <p:spPr>
          <a:xfrm>
            <a:off x="793790" y="297287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Huesmann ve meslektaşları tarafından geliştirilen model,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senaryolara</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odaklanır. Bellekte bir senaryo, durumları tanımlar ve davranışı yönlendirir.</a:t>
            </a:r>
            <a:endParaRPr lang="en-US" sz="1550" dirty="0"/>
          </a:p>
        </p:txBody>
      </p:sp>
      <p:pic>
        <p:nvPicPr>
          <p:cNvPr id="6" name="Image 0" descr="preencoded.png">    </p:cNvPr>
          <p:cNvPicPr>
            <a:picLocks noChangeAspect="1"/>
          </p:cNvPicPr>
          <p:nvPr/>
        </p:nvPicPr>
        <p:blipFill>
          <a:blip r:embed="rId1"/>
          <a:stretch>
            <a:fillRect/>
          </a:stretch>
        </p:blipFill>
        <p:spPr>
          <a:xfrm>
            <a:off x="793790" y="3513653"/>
            <a:ext cx="4347567" cy="793790"/>
          </a:xfrm>
          <a:prstGeom prst="rect">
            <a:avLst/>
          </a:prstGeom>
        </p:spPr>
      </p:pic>
      <p:sp>
        <p:nvSpPr>
          <p:cNvPr id="7" name="Text 4"/>
          <p:cNvSpPr/>
          <p:nvPr/>
        </p:nvSpPr>
        <p:spPr>
          <a:xfrm>
            <a:off x="992148" y="450580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Senaryo Öğrenme</a:t>
            </a:r>
            <a:endParaRPr lang="en-US" sz="1950" dirty="0"/>
          </a:p>
        </p:txBody>
      </p:sp>
      <p:sp>
        <p:nvSpPr>
          <p:cNvPr id="8" name="Text 5"/>
          <p:cNvSpPr/>
          <p:nvPr/>
        </p:nvSpPr>
        <p:spPr>
          <a:xfrm>
            <a:off x="992148" y="4935022"/>
            <a:ext cx="3950851"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Senaryolar doğrudan deneyimle veya ebeveyn, akran, medya karakterleri gözlemlenerek öğrenilir.</a:t>
            </a:r>
            <a:endParaRPr lang="en-US" sz="1550" dirty="0"/>
          </a:p>
        </p:txBody>
      </p:sp>
      <p:pic>
        <p:nvPicPr>
          <p:cNvPr id="9" name="Image 1" descr="preencoded.png">    </p:cNvPr>
          <p:cNvPicPr>
            <a:picLocks noChangeAspect="1"/>
          </p:cNvPicPr>
          <p:nvPr/>
        </p:nvPicPr>
        <p:blipFill>
          <a:blip r:embed="rId2"/>
          <a:stretch>
            <a:fillRect/>
          </a:stretch>
        </p:blipFill>
        <p:spPr>
          <a:xfrm>
            <a:off x="5141357" y="3513653"/>
            <a:ext cx="4347567" cy="793790"/>
          </a:xfrm>
          <a:prstGeom prst="rect">
            <a:avLst/>
          </a:prstGeom>
        </p:spPr>
      </p:pic>
      <p:sp>
        <p:nvSpPr>
          <p:cNvPr id="10" name="Text 6"/>
          <p:cNvSpPr/>
          <p:nvPr/>
        </p:nvSpPr>
        <p:spPr>
          <a:xfrm>
            <a:off x="5339715" y="450580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Geri Çağırma</a:t>
            </a:r>
            <a:endParaRPr lang="en-US" sz="1950" dirty="0"/>
          </a:p>
        </p:txBody>
      </p:sp>
      <p:sp>
        <p:nvSpPr>
          <p:cNvPr id="11" name="Text 7"/>
          <p:cNvSpPr/>
          <p:nvPr/>
        </p:nvSpPr>
        <p:spPr>
          <a:xfrm>
            <a:off x="5339715" y="4935022"/>
            <a:ext cx="3950851"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Kodlama sırasındaki ipuçlarıyla geri çağırma sırasındaki ipuçları benzeşirse senaryo hafızadan geri alınır.</a:t>
            </a:r>
            <a:endParaRPr lang="en-US" sz="1550" dirty="0"/>
          </a:p>
        </p:txBody>
      </p:sp>
      <p:pic>
        <p:nvPicPr>
          <p:cNvPr id="12" name="Image 2" descr="preencoded.png">    </p:cNvPr>
          <p:cNvPicPr>
            <a:picLocks noChangeAspect="1"/>
          </p:cNvPicPr>
          <p:nvPr/>
        </p:nvPicPr>
        <p:blipFill>
          <a:blip r:embed="rId3"/>
          <a:stretch>
            <a:fillRect/>
          </a:stretch>
        </p:blipFill>
        <p:spPr>
          <a:xfrm>
            <a:off x="9488924" y="3513653"/>
            <a:ext cx="4347567" cy="793790"/>
          </a:xfrm>
          <a:prstGeom prst="rect">
            <a:avLst/>
          </a:prstGeom>
        </p:spPr>
      </p:pic>
      <p:sp>
        <p:nvSpPr>
          <p:cNvPr id="13" name="Text 8"/>
          <p:cNvSpPr/>
          <p:nvPr/>
        </p:nvSpPr>
        <p:spPr>
          <a:xfrm>
            <a:off x="9687282" y="450580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Davranış Rehberi</a:t>
            </a:r>
            <a:endParaRPr lang="en-US" sz="1950" dirty="0"/>
          </a:p>
        </p:txBody>
      </p:sp>
      <p:sp>
        <p:nvSpPr>
          <p:cNvPr id="14" name="Text 9"/>
          <p:cNvSpPr/>
          <p:nvPr/>
        </p:nvSpPr>
        <p:spPr>
          <a:xfrm>
            <a:off x="9687282" y="4935022"/>
            <a:ext cx="3950851"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Çocuk çatışma durumuna girdiğinde, daha önce öğrendiği saldırgan senaryoyu davranış rehberi olarak kullanabilir.</a:t>
            </a:r>
            <a:endParaRPr lang="en-US" sz="1550" dirty="0"/>
          </a:p>
        </p:txBody>
      </p:sp>
      <p:sp>
        <p:nvSpPr>
          <p:cNvPr id="15" name="Text 10"/>
          <p:cNvSpPr/>
          <p:nvPr/>
        </p:nvSpPr>
        <p:spPr>
          <a:xfrm>
            <a:off x="793790" y="630924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Huesmann, çocukların medyada şiddet gördüklerinde saldırgan davranışlar için senaryolar öğrendiklerini öne sürmüştür.</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93790" y="1839635"/>
            <a:ext cx="901898" cy="373142"/>
          </a:xfrm>
          <a:prstGeom prst="roundRect">
            <a:avLst>
              <a:gd name="adj" fmla="val 6383"/>
            </a:avLst>
          </a:prstGeom>
          <a:solidFill>
            <a:srgbClr val="CCD7FF"/>
          </a:solidFill>
          <a:ln/>
        </p:spPr>
      </p:sp>
      <p:sp>
        <p:nvSpPr>
          <p:cNvPr id="3" name="Text 1"/>
          <p:cNvSpPr/>
          <p:nvPr/>
        </p:nvSpPr>
        <p:spPr>
          <a:xfrm>
            <a:off x="912852" y="1899166"/>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6</a:t>
            </a:r>
            <a:endParaRPr lang="en-US" sz="1250" dirty="0"/>
          </a:p>
        </p:txBody>
      </p:sp>
      <p:sp>
        <p:nvSpPr>
          <p:cNvPr id="4" name="Text 2"/>
          <p:cNvSpPr/>
          <p:nvPr/>
        </p:nvSpPr>
        <p:spPr>
          <a:xfrm>
            <a:off x="793790" y="2292072"/>
            <a:ext cx="821293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Düşmanca Atıf Önyargısı: Dodge Modeli</a:t>
            </a:r>
            <a:endParaRPr lang="en-US" sz="3900" dirty="0"/>
          </a:p>
        </p:txBody>
      </p:sp>
      <p:sp>
        <p:nvSpPr>
          <p:cNvPr id="5" name="Text 3"/>
          <p:cNvSpPr/>
          <p:nvPr/>
        </p:nvSpPr>
        <p:spPr>
          <a:xfrm>
            <a:off x="793790" y="340816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Atıf Nedir?</a:t>
            </a:r>
            <a:endParaRPr lang="en-US" sz="1950" dirty="0"/>
          </a:p>
        </p:txBody>
      </p:sp>
      <p:sp>
        <p:nvSpPr>
          <p:cNvPr id="6" name="Text 4"/>
          <p:cNvSpPr/>
          <p:nvPr/>
        </p:nvSpPr>
        <p:spPr>
          <a:xfrm>
            <a:off x="793790" y="391668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Atıflar, insanların başkalarının neden öyle davrandığına dair verdikleri açıklamalardır. Dodge ve meslektaşları, saldırgan insanların </a:t>
            </a:r>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düşmanca atıf önyargısına</a:t>
            </a:r>
            <a:pPr algn="l" indent="0" marL="0">
              <a:lnSpc>
                <a:spcPts val="2500"/>
              </a:lnSpc>
              <a:buNone/>
            </a:pPr>
            <a:r>
              <a:rPr lang="en-US" sz="1550" dirty="0">
                <a:solidFill>
                  <a:srgbClr val="4C4C4D"/>
                </a:solidFill>
                <a:latin typeface="Heebo" pitchFamily="34" charset="0"/>
                <a:ea typeface="Heebo" pitchFamily="34" charset="-122"/>
                <a:cs typeface="Heebo" pitchFamily="34" charset="-120"/>
              </a:rPr>
              <a:t> sahip olduğunu buldu.</a:t>
            </a:r>
            <a:endParaRPr lang="en-US" sz="1550" dirty="0"/>
          </a:p>
        </p:txBody>
      </p:sp>
      <p:sp>
        <p:nvSpPr>
          <p:cNvPr id="7" name="Text 5"/>
          <p:cNvSpPr/>
          <p:nvPr/>
        </p:nvSpPr>
        <p:spPr>
          <a:xfrm>
            <a:off x="793790" y="506765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52D47"/>
                </a:solidFill>
                <a:latin typeface="Crimson Pro Semi Bold" pitchFamily="34" charset="0"/>
                <a:ea typeface="Crimson Pro Semi Bold" pitchFamily="34" charset="-122"/>
                <a:cs typeface="Crimson Pro Semi Bold" pitchFamily="34" charset="-120"/>
              </a:rPr>
              <a:t>Örnek</a:t>
            </a:r>
            <a:endParaRPr lang="en-US" sz="1950" dirty="0"/>
          </a:p>
        </p:txBody>
      </p:sp>
      <p:sp>
        <p:nvSpPr>
          <p:cNvPr id="8" name="Text 6"/>
          <p:cNvSpPr/>
          <p:nvPr/>
        </p:nvSpPr>
        <p:spPr>
          <a:xfrm>
            <a:off x="793790" y="5576173"/>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Biri onlara çarparsa, bunu kasıtlı olarak zarar vermek için yaptığını düşünürler ve düşmanca tepki verirler.</a:t>
            </a:r>
            <a:endParaRPr lang="en-US" sz="1550" dirty="0"/>
          </a:p>
        </p:txBody>
      </p:sp>
      <p:sp>
        <p:nvSpPr>
          <p:cNvPr id="9" name="Shape 7"/>
          <p:cNvSpPr/>
          <p:nvPr/>
        </p:nvSpPr>
        <p:spPr>
          <a:xfrm>
            <a:off x="7421999" y="3209806"/>
            <a:ext cx="6565106" cy="3180040"/>
          </a:xfrm>
          <a:prstGeom prst="roundRect">
            <a:avLst>
              <a:gd name="adj" fmla="val 936"/>
            </a:avLst>
          </a:prstGeom>
          <a:solidFill>
            <a:srgbClr val="2150FE"/>
          </a:solidFill>
          <a:ln/>
        </p:spPr>
      </p:sp>
      <p:sp>
        <p:nvSpPr>
          <p:cNvPr id="10" name="Text 8"/>
          <p:cNvSpPr/>
          <p:nvPr/>
        </p:nvSpPr>
        <p:spPr>
          <a:xfrm>
            <a:off x="7620357" y="340816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Meta-Analitik Kanıt</a:t>
            </a:r>
            <a:endParaRPr lang="en-US" sz="1950" dirty="0"/>
          </a:p>
        </p:txBody>
      </p:sp>
      <p:sp>
        <p:nvSpPr>
          <p:cNvPr id="11" name="Text 9"/>
          <p:cNvSpPr/>
          <p:nvPr/>
        </p:nvSpPr>
        <p:spPr>
          <a:xfrm>
            <a:off x="7620357" y="3916680"/>
            <a:ext cx="6168390" cy="63507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Orobrio de Castro ve diğerleri: Düşmanca niyet atıfı ile saldırgan davranış arasında </a:t>
            </a:r>
            <a:pPr algn="l" indent="0" marL="0">
              <a:lnSpc>
                <a:spcPts val="2500"/>
              </a:lnSpc>
              <a:buNone/>
            </a:pPr>
            <a:r>
              <a:rPr lang="en-US" sz="1550" b="1" dirty="0">
                <a:solidFill>
                  <a:srgbClr val="FFFFFF"/>
                </a:solidFill>
                <a:latin typeface="Heebo" pitchFamily="34" charset="0"/>
                <a:ea typeface="Heebo" pitchFamily="34" charset="-122"/>
                <a:cs typeface="Heebo" pitchFamily="34" charset="-120"/>
              </a:rPr>
              <a:t>güçlü bir ilişki</a:t>
            </a:r>
            <a:pPr algn="l" indent="0" marL="0">
              <a:lnSpc>
                <a:spcPts val="2500"/>
              </a:lnSpc>
              <a:buNone/>
            </a:pPr>
            <a:r>
              <a:rPr lang="en-US" sz="1550" dirty="0">
                <a:solidFill>
                  <a:srgbClr val="FFFFFF"/>
                </a:solidFill>
                <a:latin typeface="Heebo" pitchFamily="34" charset="0"/>
                <a:ea typeface="Heebo" pitchFamily="34" charset="-122"/>
                <a:cs typeface="Heebo" pitchFamily="34" charset="-120"/>
              </a:rPr>
              <a:t> olduğu gösterildi.</a:t>
            </a:r>
            <a:endParaRPr lang="en-US" sz="1550" dirty="0"/>
          </a:p>
        </p:txBody>
      </p:sp>
      <p:sp>
        <p:nvSpPr>
          <p:cNvPr id="12" name="Text 10"/>
          <p:cNvSpPr/>
          <p:nvPr/>
        </p:nvSpPr>
        <p:spPr>
          <a:xfrm>
            <a:off x="7620357" y="4750117"/>
            <a:ext cx="2672239" cy="310158"/>
          </a:xfrm>
          <a:prstGeom prst="rect">
            <a:avLst/>
          </a:prstGeom>
          <a:noFill/>
          <a:ln/>
        </p:spPr>
        <p:txBody>
          <a:bodyPr wrap="none" lIns="0" tIns="0" rIns="0" bIns="0" rtlCol="0" anchor="t"/>
          <a:lstStyle/>
          <a:p>
            <a:pPr algn="l" indent="0" marL="0">
              <a:lnSpc>
                <a:spcPts val="2400"/>
              </a:lnSpc>
              <a:buNone/>
            </a:pPr>
            <a:r>
              <a:rPr lang="en-US" sz="1950" dirty="0">
                <a:solidFill>
                  <a:srgbClr val="FFFFFF"/>
                </a:solidFill>
                <a:latin typeface="Crimson Pro Semi Bold" pitchFamily="34" charset="0"/>
                <a:ea typeface="Crimson Pro Semi Bold" pitchFamily="34" charset="-122"/>
                <a:cs typeface="Crimson Pro Semi Bold" pitchFamily="34" charset="-120"/>
              </a:rPr>
              <a:t>İki Modelin Ortak Noktası</a:t>
            </a:r>
            <a:endParaRPr lang="en-US" sz="1950" dirty="0"/>
          </a:p>
        </p:txBody>
      </p:sp>
      <p:sp>
        <p:nvSpPr>
          <p:cNvPr id="13" name="Text 11"/>
          <p:cNvSpPr/>
          <p:nvPr/>
        </p:nvSpPr>
        <p:spPr>
          <a:xfrm>
            <a:off x="7620357" y="5258633"/>
            <a:ext cx="6168390" cy="952619"/>
          </a:xfrm>
          <a:prstGeom prst="rect">
            <a:avLst/>
          </a:prstGeom>
          <a:noFill/>
          <a:ln/>
        </p:spPr>
        <p:txBody>
          <a:bodyPr wrap="square" lIns="0" tIns="0" rIns="0" bIns="0" rtlCol="0" anchor="t"/>
          <a:lstStyle/>
          <a:p>
            <a:pPr algn="l" indent="0" marL="0">
              <a:lnSpc>
                <a:spcPts val="2500"/>
              </a:lnSpc>
              <a:buNone/>
            </a:pPr>
            <a:r>
              <a:rPr lang="en-US" sz="1550" dirty="0">
                <a:solidFill>
                  <a:srgbClr val="FFFFFF"/>
                </a:solidFill>
                <a:latin typeface="Heebo" pitchFamily="34" charset="0"/>
                <a:ea typeface="Heebo" pitchFamily="34" charset="-122"/>
                <a:cs typeface="Heebo" pitchFamily="34" charset="-120"/>
              </a:rPr>
              <a:t>Hem senaryo hem de atıf modeli, saldırganlığı bir </a:t>
            </a:r>
            <a:pPr algn="l" indent="0" marL="0">
              <a:lnSpc>
                <a:spcPts val="2500"/>
              </a:lnSpc>
              <a:buNone/>
            </a:pPr>
            <a:r>
              <a:rPr lang="en-US" sz="1550" b="1" dirty="0">
                <a:solidFill>
                  <a:srgbClr val="FFFFFF"/>
                </a:solidFill>
                <a:latin typeface="Heebo" pitchFamily="34" charset="0"/>
                <a:ea typeface="Heebo" pitchFamily="34" charset="-122"/>
                <a:cs typeface="Heebo" pitchFamily="34" charset="-120"/>
              </a:rPr>
              <a:t>sosyal problem çözme sürecinin</a:t>
            </a:r>
            <a:pPr algn="l" indent="0" marL="0">
              <a:lnSpc>
                <a:spcPts val="2500"/>
              </a:lnSpc>
              <a:buNone/>
            </a:pPr>
            <a:r>
              <a:rPr lang="en-US" sz="1550" dirty="0">
                <a:solidFill>
                  <a:srgbClr val="FFFFFF"/>
                </a:solidFill>
                <a:latin typeface="Heebo" pitchFamily="34" charset="0"/>
                <a:ea typeface="Heebo" pitchFamily="34" charset="-122"/>
                <a:cs typeface="Heebo" pitchFamily="34" charset="-120"/>
              </a:rPr>
              <a:t> sonucu olarak görür; durumsal faktörler değerlendirilir ve tepki genellikle bilinçsizce seçilir.</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1935123" y="390168"/>
            <a:ext cx="619720" cy="228957"/>
          </a:xfrm>
          <a:prstGeom prst="roundRect">
            <a:avLst>
              <a:gd name="adj" fmla="val 7152"/>
            </a:avLst>
          </a:prstGeom>
          <a:solidFill>
            <a:srgbClr val="CCD7FF"/>
          </a:solidFill>
          <a:ln/>
        </p:spPr>
      </p:sp>
      <p:sp>
        <p:nvSpPr>
          <p:cNvPr id="3" name="Text 1"/>
          <p:cNvSpPr/>
          <p:nvPr/>
        </p:nvSpPr>
        <p:spPr>
          <a:xfrm>
            <a:off x="2016919" y="431006"/>
            <a:ext cx="456128" cy="147280"/>
          </a:xfrm>
          <a:prstGeom prst="rect">
            <a:avLst/>
          </a:prstGeom>
          <a:noFill/>
          <a:ln/>
        </p:spPr>
        <p:txBody>
          <a:bodyPr wrap="none" lIns="0" tIns="0" rIns="0" bIns="0" rtlCol="0" anchor="t"/>
          <a:lstStyle/>
          <a:p>
            <a:pPr algn="l" indent="0" marL="0">
              <a:lnSpc>
                <a:spcPts val="1150"/>
              </a:lnSpc>
              <a:buNone/>
            </a:pPr>
            <a:r>
              <a:rPr lang="en-US" sz="850" dirty="0">
                <a:solidFill>
                  <a:srgbClr val="4C4C4D"/>
                </a:solidFill>
                <a:latin typeface="Heebo" pitchFamily="34" charset="0"/>
                <a:ea typeface="Heebo" pitchFamily="34" charset="-122"/>
                <a:cs typeface="Heebo" pitchFamily="34" charset="-120"/>
              </a:rPr>
              <a:t>BÖLÜM 7</a:t>
            </a:r>
            <a:endParaRPr lang="en-US" sz="850" dirty="0"/>
          </a:p>
        </p:txBody>
      </p:sp>
      <p:sp>
        <p:nvSpPr>
          <p:cNvPr id="4" name="Text 2"/>
          <p:cNvSpPr/>
          <p:nvPr/>
        </p:nvSpPr>
        <p:spPr>
          <a:xfrm>
            <a:off x="1935123" y="656630"/>
            <a:ext cx="4680109" cy="426363"/>
          </a:xfrm>
          <a:prstGeom prst="rect">
            <a:avLst/>
          </a:prstGeom>
          <a:noFill/>
          <a:ln/>
        </p:spPr>
        <p:txBody>
          <a:bodyPr wrap="none" lIns="0" tIns="0" rIns="0" bIns="0" rtlCol="0" anchor="t"/>
          <a:lstStyle/>
          <a:p>
            <a:pPr algn="l" indent="0" marL="0">
              <a:lnSpc>
                <a:spcPts val="3350"/>
              </a:lnSpc>
              <a:buNone/>
            </a:pPr>
            <a:r>
              <a:rPr lang="en-US" sz="2650" dirty="0">
                <a:solidFill>
                  <a:srgbClr val="152D47"/>
                </a:solidFill>
                <a:latin typeface="Crimson Pro Semi Bold" pitchFamily="34" charset="0"/>
                <a:ea typeface="Crimson Pro Semi Bold" pitchFamily="34" charset="-122"/>
                <a:cs typeface="Crimson Pro Semi Bold" pitchFamily="34" charset="-120"/>
              </a:rPr>
              <a:t>Genel Saldırganlık Modeli (GAM)</a:t>
            </a:r>
            <a:endParaRPr lang="en-US" sz="2650" dirty="0"/>
          </a:p>
        </p:txBody>
      </p:sp>
      <p:sp>
        <p:nvSpPr>
          <p:cNvPr id="5" name="Text 3"/>
          <p:cNvSpPr/>
          <p:nvPr/>
        </p:nvSpPr>
        <p:spPr>
          <a:xfrm>
            <a:off x="1935123" y="1223605"/>
            <a:ext cx="10760035" cy="184190"/>
          </a:xfrm>
          <a:prstGeom prst="rect">
            <a:avLst/>
          </a:prstGeom>
          <a:noFill/>
          <a:ln/>
        </p:spPr>
        <p:txBody>
          <a:bodyPr wrap="none" lIns="0" tIns="0" rIns="0" bIns="0" rtlCol="0" anchor="t"/>
          <a:lstStyle/>
          <a:p>
            <a:pPr algn="l" indent="0" marL="0">
              <a:lnSpc>
                <a:spcPts val="1450"/>
              </a:lnSpc>
              <a:buNone/>
            </a:pPr>
            <a:r>
              <a:rPr lang="en-US" sz="1050" dirty="0">
                <a:solidFill>
                  <a:srgbClr val="4C4C4D"/>
                </a:solidFill>
                <a:latin typeface="Heebo" pitchFamily="34" charset="0"/>
                <a:ea typeface="Heebo" pitchFamily="34" charset="-122"/>
                <a:cs typeface="Heebo" pitchFamily="34" charset="-120"/>
              </a:rPr>
              <a:t>Craig Anderson ve meslektaşları, diğer tüm teorileri kapsayan geniş bir model geliştirdi: </a:t>
            </a:r>
            <a:pPr algn="l" indent="0" marL="0">
              <a:lnSpc>
                <a:spcPts val="1450"/>
              </a:lnSpc>
              <a:buNone/>
            </a:pPr>
            <a:r>
              <a:rPr lang="en-US" sz="1050" b="1" dirty="0">
                <a:solidFill>
                  <a:srgbClr val="4C4C4D"/>
                </a:solidFill>
                <a:latin typeface="Heebo" pitchFamily="34" charset="0"/>
                <a:ea typeface="Heebo" pitchFamily="34" charset="-122"/>
                <a:cs typeface="Heebo" pitchFamily="34" charset="-120"/>
              </a:rPr>
              <a:t>Genel Saldırganlık Modeli (GAM)</a:t>
            </a:r>
            <a:pPr algn="l" indent="0" marL="0">
              <a:lnSpc>
                <a:spcPts val="1450"/>
              </a:lnSpc>
              <a:buNone/>
            </a:pPr>
            <a:r>
              <a:rPr lang="en-US" sz="1050" dirty="0">
                <a:solidFill>
                  <a:srgbClr val="4C4C4D"/>
                </a:solidFill>
                <a:latin typeface="Heebo" pitchFamily="34" charset="0"/>
                <a:ea typeface="Heebo" pitchFamily="34" charset="-122"/>
                <a:cs typeface="Heebo" pitchFamily="34" charset="-120"/>
              </a:rPr>
              <a:t>.</a:t>
            </a:r>
            <a:endParaRPr lang="en-US" sz="1050" dirty="0"/>
          </a:p>
        </p:txBody>
      </p:sp>
      <p:pic>
        <p:nvPicPr>
          <p:cNvPr id="6" name="Image 0" descr="preencoded.png">    </p:cNvPr>
          <p:cNvPicPr>
            <a:picLocks noChangeAspect="1"/>
          </p:cNvPicPr>
          <p:nvPr/>
        </p:nvPicPr>
        <p:blipFill>
          <a:blip r:embed="rId1"/>
          <a:stretch>
            <a:fillRect/>
          </a:stretch>
        </p:blipFill>
        <p:spPr>
          <a:xfrm>
            <a:off x="1935123" y="1513284"/>
            <a:ext cx="10485120" cy="5852160"/>
          </a:xfrm>
          <a:prstGeom prst="rect">
            <a:avLst/>
          </a:prstGeom>
        </p:spPr>
      </p:pic>
      <p:pic>
        <p:nvPicPr>
          <p:cNvPr id="7" name="Image 1" descr="preencoded.png">    </p:cNvPr>
          <p:cNvPicPr>
            <a:picLocks noChangeAspect="1"/>
          </p:cNvPicPr>
          <p:nvPr/>
        </p:nvPicPr>
        <p:blipFill>
          <a:blip r:embed="rId2"/>
          <a:stretch>
            <a:fillRect/>
          </a:stretch>
        </p:blipFill>
        <p:spPr>
          <a:xfrm>
            <a:off x="1935123" y="1513284"/>
            <a:ext cx="10485120" cy="5852160"/>
          </a:xfrm>
          <a:prstGeom prst="rect">
            <a:avLst/>
          </a:prstGeom>
        </p:spPr>
      </p:pic>
      <p:sp>
        <p:nvSpPr>
          <p:cNvPr id="8" name="Text 4"/>
          <p:cNvSpPr/>
          <p:nvPr/>
        </p:nvSpPr>
        <p:spPr>
          <a:xfrm>
            <a:off x="1935123" y="7470934"/>
            <a:ext cx="10760035" cy="368379"/>
          </a:xfrm>
          <a:prstGeom prst="rect">
            <a:avLst/>
          </a:prstGeom>
          <a:noFill/>
          <a:ln/>
        </p:spPr>
        <p:txBody>
          <a:bodyPr wrap="square" lIns="0" tIns="0" rIns="0" bIns="0" rtlCol="0" anchor="t"/>
          <a:lstStyle/>
          <a:p>
            <a:pPr algn="l" indent="0" marL="0">
              <a:lnSpc>
                <a:spcPts val="1450"/>
              </a:lnSpc>
              <a:buNone/>
            </a:pPr>
            <a:r>
              <a:rPr lang="en-US" sz="1050" dirty="0">
                <a:solidFill>
                  <a:srgbClr val="4C4C4D"/>
                </a:solidFill>
                <a:latin typeface="Heebo" pitchFamily="34" charset="0"/>
                <a:ea typeface="Heebo" pitchFamily="34" charset="-122"/>
                <a:cs typeface="Heebo" pitchFamily="34" charset="-120"/>
              </a:rPr>
              <a:t>Kişisel ve durumsal faktörler, saldırgan düşünceler, öfkeli hisler ve fizyolojik uyarılma gibi içsel durumları etkiler. Bu içsel durumlar birbirine bağlıdır ve kişinin saldırgan davranıp davranmayacağını belirleyen kararları şekillendirir.</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93790" y="1880711"/>
            <a:ext cx="901898" cy="373142"/>
          </a:xfrm>
          <a:prstGeom prst="roundRect">
            <a:avLst>
              <a:gd name="adj" fmla="val 6383"/>
            </a:avLst>
          </a:prstGeom>
          <a:solidFill>
            <a:srgbClr val="CCD7FF"/>
          </a:solidFill>
          <a:ln/>
        </p:spPr>
      </p:sp>
      <p:sp>
        <p:nvSpPr>
          <p:cNvPr id="3" name="Text 1"/>
          <p:cNvSpPr/>
          <p:nvPr/>
        </p:nvSpPr>
        <p:spPr>
          <a:xfrm>
            <a:off x="912852" y="1940243"/>
            <a:ext cx="663773"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BÖLÜM 7</a:t>
            </a:r>
            <a:endParaRPr lang="en-US" sz="1250" dirty="0"/>
          </a:p>
        </p:txBody>
      </p:sp>
      <p:sp>
        <p:nvSpPr>
          <p:cNvPr id="4" name="Text 2"/>
          <p:cNvSpPr/>
          <p:nvPr/>
        </p:nvSpPr>
        <p:spPr>
          <a:xfrm>
            <a:off x="793790" y="2333149"/>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GAM: Girdi Faktörleri</a:t>
            </a:r>
            <a:endParaRPr lang="en-US" sz="3900" dirty="0"/>
          </a:p>
        </p:txBody>
      </p:sp>
      <p:sp>
        <p:nvSpPr>
          <p:cNvPr id="5" name="Shape 3"/>
          <p:cNvSpPr/>
          <p:nvPr/>
        </p:nvSpPr>
        <p:spPr>
          <a:xfrm>
            <a:off x="793790" y="3250883"/>
            <a:ext cx="4215289" cy="3098006"/>
          </a:xfrm>
          <a:prstGeom prst="roundRect">
            <a:avLst>
              <a:gd name="adj" fmla="val 961"/>
            </a:avLst>
          </a:prstGeom>
          <a:solidFill>
            <a:srgbClr val="F2EEEE"/>
          </a:solidFill>
          <a:ln/>
        </p:spPr>
      </p:sp>
      <p:sp>
        <p:nvSpPr>
          <p:cNvPr id="6" name="Shape 4"/>
          <p:cNvSpPr/>
          <p:nvPr/>
        </p:nvSpPr>
        <p:spPr>
          <a:xfrm>
            <a:off x="992148" y="3449241"/>
            <a:ext cx="595313" cy="595313"/>
          </a:xfrm>
          <a:prstGeom prst="roundRect">
            <a:avLst>
              <a:gd name="adj" fmla="val 15358451"/>
            </a:avLst>
          </a:prstGeom>
          <a:solidFill>
            <a:srgbClr val="2150FE"/>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55859" y="3612833"/>
            <a:ext cx="267891" cy="267891"/>
          </a:xfrm>
          <a:prstGeom prst="rect">
            <a:avLst/>
          </a:prstGeom>
        </p:spPr>
      </p:pic>
      <p:sp>
        <p:nvSpPr>
          <p:cNvPr id="8" name="Text 5"/>
          <p:cNvSpPr/>
          <p:nvPr/>
        </p:nvSpPr>
        <p:spPr>
          <a:xfrm>
            <a:off x="992148" y="424291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Kişi Girdileri</a:t>
            </a:r>
            <a:endParaRPr lang="en-US" sz="1950" dirty="0"/>
          </a:p>
        </p:txBody>
      </p:sp>
      <p:sp>
        <p:nvSpPr>
          <p:cNvPr id="9" name="Text 6"/>
          <p:cNvSpPr/>
          <p:nvPr/>
        </p:nvSpPr>
        <p:spPr>
          <a:xfrm>
            <a:off x="992148" y="4672132"/>
            <a:ext cx="3818573" cy="147839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Biyolojik cinsiyet</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Genetik yatkınlıklar</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Kişilik özellikleri</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Tutumlar, inançlar ve değerler</a:t>
            </a:r>
            <a:endParaRPr lang="en-US" sz="1550" dirty="0"/>
          </a:p>
        </p:txBody>
      </p:sp>
      <p:sp>
        <p:nvSpPr>
          <p:cNvPr id="10" name="Shape 7"/>
          <p:cNvSpPr/>
          <p:nvPr/>
        </p:nvSpPr>
        <p:spPr>
          <a:xfrm>
            <a:off x="5207437" y="3250883"/>
            <a:ext cx="4215408" cy="3098006"/>
          </a:xfrm>
          <a:prstGeom prst="roundRect">
            <a:avLst>
              <a:gd name="adj" fmla="val 961"/>
            </a:avLst>
          </a:prstGeom>
          <a:solidFill>
            <a:srgbClr val="F2EEEE"/>
          </a:solidFill>
          <a:ln/>
        </p:spPr>
      </p:sp>
      <p:sp>
        <p:nvSpPr>
          <p:cNvPr id="11" name="Shape 8"/>
          <p:cNvSpPr/>
          <p:nvPr/>
        </p:nvSpPr>
        <p:spPr>
          <a:xfrm>
            <a:off x="5405795" y="3449241"/>
            <a:ext cx="595313" cy="595313"/>
          </a:xfrm>
          <a:prstGeom prst="roundRect">
            <a:avLst>
              <a:gd name="adj" fmla="val 15358451"/>
            </a:avLst>
          </a:prstGeom>
          <a:solidFill>
            <a:srgbClr val="2150FE"/>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9506" y="3612833"/>
            <a:ext cx="267891" cy="267891"/>
          </a:xfrm>
          <a:prstGeom prst="rect">
            <a:avLst/>
          </a:prstGeom>
        </p:spPr>
      </p:pic>
      <p:sp>
        <p:nvSpPr>
          <p:cNvPr id="13" name="Text 9"/>
          <p:cNvSpPr/>
          <p:nvPr/>
        </p:nvSpPr>
        <p:spPr>
          <a:xfrm>
            <a:off x="5405795" y="424291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Durum Girdileri</a:t>
            </a:r>
            <a:endParaRPr lang="en-US" sz="1950" dirty="0"/>
          </a:p>
        </p:txBody>
      </p:sp>
      <p:sp>
        <p:nvSpPr>
          <p:cNvPr id="14" name="Text 10"/>
          <p:cNvSpPr/>
          <p:nvPr/>
        </p:nvSpPr>
        <p:spPr>
          <a:xfrm>
            <a:off x="5405795" y="4672132"/>
            <a:ext cx="3818692" cy="1408986"/>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Saldırgan ipuçları</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Hoş olmayan durumlar</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Saldırganlığın dışsal nedenleri (para, takdir)</a:t>
            </a:r>
            <a:endParaRPr lang="en-US" sz="1550" dirty="0"/>
          </a:p>
        </p:txBody>
      </p:sp>
      <p:sp>
        <p:nvSpPr>
          <p:cNvPr id="15" name="Shape 11"/>
          <p:cNvSpPr/>
          <p:nvPr/>
        </p:nvSpPr>
        <p:spPr>
          <a:xfrm>
            <a:off x="9621203" y="3250883"/>
            <a:ext cx="4215289" cy="3098006"/>
          </a:xfrm>
          <a:prstGeom prst="roundRect">
            <a:avLst>
              <a:gd name="adj" fmla="val 961"/>
            </a:avLst>
          </a:prstGeom>
          <a:solidFill>
            <a:srgbClr val="F2EEEE"/>
          </a:solidFill>
          <a:ln/>
        </p:spPr>
      </p:sp>
      <p:sp>
        <p:nvSpPr>
          <p:cNvPr id="16" name="Shape 12"/>
          <p:cNvSpPr/>
          <p:nvPr/>
        </p:nvSpPr>
        <p:spPr>
          <a:xfrm>
            <a:off x="9819561" y="3449241"/>
            <a:ext cx="595313" cy="595313"/>
          </a:xfrm>
          <a:prstGeom prst="roundRect">
            <a:avLst>
              <a:gd name="adj" fmla="val 15358451"/>
            </a:avLst>
          </a:prstGeom>
          <a:solidFill>
            <a:srgbClr val="2150FE"/>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83272" y="3612833"/>
            <a:ext cx="267891" cy="267891"/>
          </a:xfrm>
          <a:prstGeom prst="rect">
            <a:avLst/>
          </a:prstGeom>
        </p:spPr>
      </p:pic>
      <p:sp>
        <p:nvSpPr>
          <p:cNvPr id="18" name="Text 13"/>
          <p:cNvSpPr/>
          <p:nvPr/>
        </p:nvSpPr>
        <p:spPr>
          <a:xfrm>
            <a:off x="9819561" y="424291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İçsel Durumlar</a:t>
            </a:r>
            <a:endParaRPr lang="en-US" sz="1950" dirty="0"/>
          </a:p>
        </p:txBody>
      </p:sp>
      <p:sp>
        <p:nvSpPr>
          <p:cNvPr id="19" name="Text 14"/>
          <p:cNvSpPr/>
          <p:nvPr/>
        </p:nvSpPr>
        <p:spPr>
          <a:xfrm>
            <a:off x="9819561" y="4672132"/>
            <a:ext cx="3818573" cy="147839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Saldırgan düşünceler</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Öfkeli hisler</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Fizyolojik uyarılma</a:t>
            </a:r>
            <a:endParaRPr lang="en-US" sz="1550" dirty="0"/>
          </a:p>
          <a:p>
            <a:pPr algn="l" marL="342900" indent="-342900">
              <a:lnSpc>
                <a:spcPts val="2500"/>
              </a:lnSpc>
              <a:buSzPct val="100000"/>
              <a:buChar char="•"/>
            </a:pPr>
            <a:r>
              <a:rPr lang="en-US" sz="1550" dirty="0">
                <a:solidFill>
                  <a:srgbClr val="4C4C4D"/>
                </a:solidFill>
                <a:latin typeface="Heebo" pitchFamily="34" charset="0"/>
                <a:ea typeface="Heebo" pitchFamily="34" charset="-122"/>
                <a:cs typeface="Heebo" pitchFamily="34" charset="-120"/>
              </a:rPr>
              <a:t>Beyin aktivitesi</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93790" y="1111806"/>
            <a:ext cx="629007" cy="373142"/>
          </a:xfrm>
          <a:prstGeom prst="roundRect">
            <a:avLst>
              <a:gd name="adj" fmla="val 6383"/>
            </a:avLst>
          </a:prstGeom>
          <a:solidFill>
            <a:srgbClr val="CCD7FF"/>
          </a:solidFill>
          <a:ln/>
        </p:spPr>
      </p:sp>
      <p:sp>
        <p:nvSpPr>
          <p:cNvPr id="3" name="Text 1"/>
          <p:cNvSpPr/>
          <p:nvPr/>
        </p:nvSpPr>
        <p:spPr>
          <a:xfrm>
            <a:off x="912852" y="1171337"/>
            <a:ext cx="390882" cy="254079"/>
          </a:xfrm>
          <a:prstGeom prst="rect">
            <a:avLst/>
          </a:prstGeom>
          <a:noFill/>
          <a:ln/>
        </p:spPr>
        <p:txBody>
          <a:bodyPr wrap="none" lIns="0" tIns="0" rIns="0" bIns="0" rtlCol="0" anchor="t"/>
          <a:lstStyle/>
          <a:p>
            <a:pPr algn="l" indent="0" marL="0">
              <a:lnSpc>
                <a:spcPts val="2000"/>
              </a:lnSpc>
              <a:buNone/>
            </a:pPr>
            <a:r>
              <a:rPr lang="en-US" sz="1250" dirty="0">
                <a:solidFill>
                  <a:srgbClr val="4C4C4D"/>
                </a:solidFill>
                <a:latin typeface="Heebo" pitchFamily="34" charset="0"/>
                <a:ea typeface="Heebo" pitchFamily="34" charset="-122"/>
                <a:cs typeface="Heebo" pitchFamily="34" charset="-120"/>
              </a:rPr>
              <a:t>ÖZET</a:t>
            </a:r>
            <a:endParaRPr lang="en-US" sz="1250" dirty="0"/>
          </a:p>
        </p:txBody>
      </p:sp>
      <p:sp>
        <p:nvSpPr>
          <p:cNvPr id="4" name="Text 2"/>
          <p:cNvSpPr/>
          <p:nvPr/>
        </p:nvSpPr>
        <p:spPr>
          <a:xfrm>
            <a:off x="793790" y="1564243"/>
            <a:ext cx="6394609" cy="620078"/>
          </a:xfrm>
          <a:prstGeom prst="rect">
            <a:avLst/>
          </a:prstGeom>
          <a:noFill/>
          <a:ln/>
        </p:spPr>
        <p:txBody>
          <a:bodyPr wrap="none" lIns="0" tIns="0" rIns="0" bIns="0" rtlCol="0" anchor="t"/>
          <a:lstStyle/>
          <a:p>
            <a:pPr algn="l"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Teorilerin Karşılaştırmalı Özeti</a:t>
            </a:r>
            <a:endParaRPr lang="en-US" sz="3900" dirty="0"/>
          </a:p>
        </p:txBody>
      </p:sp>
      <p:sp>
        <p:nvSpPr>
          <p:cNvPr id="5" name="Shape 3"/>
          <p:cNvSpPr/>
          <p:nvPr/>
        </p:nvSpPr>
        <p:spPr>
          <a:xfrm>
            <a:off x="793790" y="2481977"/>
            <a:ext cx="13042821" cy="4635818"/>
          </a:xfrm>
          <a:prstGeom prst="roundRect">
            <a:avLst>
              <a:gd name="adj" fmla="val 642"/>
            </a:avLst>
          </a:prstGeom>
          <a:noFill/>
          <a:ln w="7620">
            <a:solidFill>
              <a:srgbClr val="000000">
                <a:alpha val="8000"/>
              </a:srgbClr>
            </a:solidFill>
            <a:prstDash val="solid"/>
          </a:ln>
        </p:spPr>
      </p:sp>
      <p:sp>
        <p:nvSpPr>
          <p:cNvPr id="6" name="Text 4"/>
          <p:cNvSpPr/>
          <p:nvPr/>
        </p:nvSpPr>
        <p:spPr>
          <a:xfrm>
            <a:off x="1001197" y="2616279"/>
            <a:ext cx="3941088"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Kuram</a:t>
            </a:r>
            <a:endParaRPr lang="en-US" sz="1550" dirty="0"/>
          </a:p>
        </p:txBody>
      </p:sp>
      <p:sp>
        <p:nvSpPr>
          <p:cNvPr id="7" name="Text 5"/>
          <p:cNvSpPr/>
          <p:nvPr/>
        </p:nvSpPr>
        <p:spPr>
          <a:xfrm>
            <a:off x="5346621" y="2616279"/>
            <a:ext cx="3937278"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Temel Açıklama</a:t>
            </a:r>
            <a:endParaRPr lang="en-US" sz="1550" dirty="0"/>
          </a:p>
        </p:txBody>
      </p:sp>
      <p:sp>
        <p:nvSpPr>
          <p:cNvPr id="8" name="Text 6"/>
          <p:cNvSpPr/>
          <p:nvPr/>
        </p:nvSpPr>
        <p:spPr>
          <a:xfrm>
            <a:off x="9688235" y="2616279"/>
            <a:ext cx="3941088" cy="317540"/>
          </a:xfrm>
          <a:prstGeom prst="rect">
            <a:avLst/>
          </a:prstGeom>
          <a:noFill/>
          <a:ln/>
        </p:spPr>
        <p:txBody>
          <a:bodyPr wrap="none" lIns="0" tIns="0" rIns="0" bIns="0" rtlCol="0" anchor="t"/>
          <a:lstStyle/>
          <a:p>
            <a:pPr algn="l" indent="0" marL="0">
              <a:lnSpc>
                <a:spcPts val="2500"/>
              </a:lnSpc>
              <a:buNone/>
            </a:pPr>
            <a:r>
              <a:rPr lang="en-US" sz="1550" b="1" dirty="0">
                <a:solidFill>
                  <a:srgbClr val="4C4C4D"/>
                </a:solidFill>
                <a:latin typeface="Heebo" pitchFamily="34" charset="0"/>
                <a:ea typeface="Heebo" pitchFamily="34" charset="-122"/>
                <a:cs typeface="Heebo" pitchFamily="34" charset="-120"/>
              </a:rPr>
              <a:t>Saldırganlığın Kaynağı</a:t>
            </a:r>
            <a:endParaRPr lang="en-US" sz="1550" dirty="0"/>
          </a:p>
        </p:txBody>
      </p:sp>
      <p:sp>
        <p:nvSpPr>
          <p:cNvPr id="9" name="Text 7"/>
          <p:cNvSpPr/>
          <p:nvPr/>
        </p:nvSpPr>
        <p:spPr>
          <a:xfrm>
            <a:off x="1001197" y="3194804"/>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Freud (Psikanaliz)</a:t>
            </a:r>
            <a:endParaRPr lang="en-US" sz="1550" dirty="0"/>
          </a:p>
        </p:txBody>
      </p:sp>
      <p:sp>
        <p:nvSpPr>
          <p:cNvPr id="10" name="Text 8"/>
          <p:cNvSpPr/>
          <p:nvPr/>
        </p:nvSpPr>
        <p:spPr>
          <a:xfrm>
            <a:off x="5346621" y="3194804"/>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Eros ve Thanatos çatışması</a:t>
            </a:r>
            <a:endParaRPr lang="en-US" sz="1550" dirty="0"/>
          </a:p>
        </p:txBody>
      </p:sp>
      <p:sp>
        <p:nvSpPr>
          <p:cNvPr id="11" name="Text 9"/>
          <p:cNvSpPr/>
          <p:nvPr/>
        </p:nvSpPr>
        <p:spPr>
          <a:xfrm>
            <a:off x="9688235" y="3194804"/>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Doğuştan, kaçınılmaz</a:t>
            </a:r>
            <a:endParaRPr lang="en-US" sz="1550" dirty="0"/>
          </a:p>
        </p:txBody>
      </p:sp>
      <p:sp>
        <p:nvSpPr>
          <p:cNvPr id="12" name="Text 10"/>
          <p:cNvSpPr/>
          <p:nvPr/>
        </p:nvSpPr>
        <p:spPr>
          <a:xfrm>
            <a:off x="1001197" y="3773329"/>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Etoloji</a:t>
            </a:r>
            <a:endParaRPr lang="en-US" sz="1550" dirty="0"/>
          </a:p>
        </p:txBody>
      </p:sp>
      <p:sp>
        <p:nvSpPr>
          <p:cNvPr id="13" name="Text 11"/>
          <p:cNvSpPr/>
          <p:nvPr/>
        </p:nvSpPr>
        <p:spPr>
          <a:xfrm>
            <a:off x="5346621" y="3773329"/>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Evrimsel adaptasyon</a:t>
            </a:r>
            <a:endParaRPr lang="en-US" sz="1550" dirty="0"/>
          </a:p>
        </p:txBody>
      </p:sp>
      <p:sp>
        <p:nvSpPr>
          <p:cNvPr id="14" name="Text 12"/>
          <p:cNvSpPr/>
          <p:nvPr/>
        </p:nvSpPr>
        <p:spPr>
          <a:xfrm>
            <a:off x="9688235" y="3773329"/>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İçgüdüsel, uyum sağlayıcı</a:t>
            </a:r>
            <a:endParaRPr lang="en-US" sz="1550" dirty="0"/>
          </a:p>
        </p:txBody>
      </p:sp>
      <p:sp>
        <p:nvSpPr>
          <p:cNvPr id="15" name="Text 13"/>
          <p:cNvSpPr/>
          <p:nvPr/>
        </p:nvSpPr>
        <p:spPr>
          <a:xfrm>
            <a:off x="1001197" y="4351853"/>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Hayal Kırıklığı-Saldırganlık</a:t>
            </a:r>
            <a:endParaRPr lang="en-US" sz="1550" dirty="0"/>
          </a:p>
        </p:txBody>
      </p:sp>
      <p:sp>
        <p:nvSpPr>
          <p:cNvPr id="16" name="Text 14"/>
          <p:cNvSpPr/>
          <p:nvPr/>
        </p:nvSpPr>
        <p:spPr>
          <a:xfrm>
            <a:off x="5346621" y="4351853"/>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Engellenen hedef → saldırganlık</a:t>
            </a:r>
            <a:endParaRPr lang="en-US" sz="1550" dirty="0"/>
          </a:p>
        </p:txBody>
      </p:sp>
      <p:sp>
        <p:nvSpPr>
          <p:cNvPr id="17" name="Text 15"/>
          <p:cNvSpPr/>
          <p:nvPr/>
        </p:nvSpPr>
        <p:spPr>
          <a:xfrm>
            <a:off x="9688235" y="4351853"/>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Durumsal, tetikleyici</a:t>
            </a:r>
            <a:endParaRPr lang="en-US" sz="1550" dirty="0"/>
          </a:p>
        </p:txBody>
      </p:sp>
      <p:sp>
        <p:nvSpPr>
          <p:cNvPr id="18" name="Text 16"/>
          <p:cNvSpPr/>
          <p:nvPr/>
        </p:nvSpPr>
        <p:spPr>
          <a:xfrm>
            <a:off x="1001197" y="4930378"/>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Öğrenme Teorisi</a:t>
            </a:r>
            <a:endParaRPr lang="en-US" sz="1550" dirty="0"/>
          </a:p>
        </p:txBody>
      </p:sp>
      <p:sp>
        <p:nvSpPr>
          <p:cNvPr id="19" name="Text 17"/>
          <p:cNvSpPr/>
          <p:nvPr/>
        </p:nvSpPr>
        <p:spPr>
          <a:xfrm>
            <a:off x="5346621" y="4930378"/>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Gözlem ve taklit</a:t>
            </a:r>
            <a:endParaRPr lang="en-US" sz="1550" dirty="0"/>
          </a:p>
        </p:txBody>
      </p:sp>
      <p:sp>
        <p:nvSpPr>
          <p:cNvPr id="20" name="Text 18"/>
          <p:cNvSpPr/>
          <p:nvPr/>
        </p:nvSpPr>
        <p:spPr>
          <a:xfrm>
            <a:off x="9688235" y="4930378"/>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Öğrenilmiş davranış</a:t>
            </a:r>
            <a:endParaRPr lang="en-US" sz="1550" dirty="0"/>
          </a:p>
        </p:txBody>
      </p:sp>
      <p:sp>
        <p:nvSpPr>
          <p:cNvPr id="21" name="Text 19"/>
          <p:cNvSpPr/>
          <p:nvPr/>
        </p:nvSpPr>
        <p:spPr>
          <a:xfrm>
            <a:off x="1001197" y="5508903"/>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Fizyolojik Uyarılma</a:t>
            </a:r>
            <a:endParaRPr lang="en-US" sz="1550" dirty="0"/>
          </a:p>
        </p:txBody>
      </p:sp>
      <p:sp>
        <p:nvSpPr>
          <p:cNvPr id="22" name="Text 20"/>
          <p:cNvSpPr/>
          <p:nvPr/>
        </p:nvSpPr>
        <p:spPr>
          <a:xfrm>
            <a:off x="5346621" y="5508903"/>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Uyarılma transferi</a:t>
            </a:r>
            <a:endParaRPr lang="en-US" sz="1550" dirty="0"/>
          </a:p>
        </p:txBody>
      </p:sp>
      <p:sp>
        <p:nvSpPr>
          <p:cNvPr id="23" name="Text 21"/>
          <p:cNvSpPr/>
          <p:nvPr/>
        </p:nvSpPr>
        <p:spPr>
          <a:xfrm>
            <a:off x="9688235" y="5508903"/>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Biyolojik-durumsal</a:t>
            </a:r>
            <a:endParaRPr lang="en-US" sz="1550" dirty="0"/>
          </a:p>
        </p:txBody>
      </p:sp>
      <p:sp>
        <p:nvSpPr>
          <p:cNvPr id="24" name="Text 22"/>
          <p:cNvSpPr/>
          <p:nvPr/>
        </p:nvSpPr>
        <p:spPr>
          <a:xfrm>
            <a:off x="1001197" y="6087428"/>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Sosyal-Bilişsel</a:t>
            </a:r>
            <a:endParaRPr lang="en-US" sz="1550" dirty="0"/>
          </a:p>
        </p:txBody>
      </p:sp>
      <p:sp>
        <p:nvSpPr>
          <p:cNvPr id="25" name="Text 23"/>
          <p:cNvSpPr/>
          <p:nvPr/>
        </p:nvSpPr>
        <p:spPr>
          <a:xfrm>
            <a:off x="5346621" y="6087428"/>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Senaryo ve atıf önyargısı</a:t>
            </a:r>
            <a:endParaRPr lang="en-US" sz="1550" dirty="0"/>
          </a:p>
        </p:txBody>
      </p:sp>
      <p:sp>
        <p:nvSpPr>
          <p:cNvPr id="26" name="Text 24"/>
          <p:cNvSpPr/>
          <p:nvPr/>
        </p:nvSpPr>
        <p:spPr>
          <a:xfrm>
            <a:off x="9688235" y="6087428"/>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Bilişsel işleme</a:t>
            </a:r>
            <a:endParaRPr lang="en-US" sz="1550" dirty="0"/>
          </a:p>
        </p:txBody>
      </p:sp>
      <p:sp>
        <p:nvSpPr>
          <p:cNvPr id="27" name="Text 25"/>
          <p:cNvSpPr/>
          <p:nvPr/>
        </p:nvSpPr>
        <p:spPr>
          <a:xfrm>
            <a:off x="1001197" y="6665952"/>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GAM</a:t>
            </a:r>
            <a:endParaRPr lang="en-US" sz="1550" dirty="0"/>
          </a:p>
        </p:txBody>
      </p:sp>
      <p:sp>
        <p:nvSpPr>
          <p:cNvPr id="28" name="Text 26"/>
          <p:cNvSpPr/>
          <p:nvPr/>
        </p:nvSpPr>
        <p:spPr>
          <a:xfrm>
            <a:off x="5346621" y="6665952"/>
            <a:ext cx="393727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Tüm faktörlerin entegrasyonu</a:t>
            </a:r>
            <a:endParaRPr lang="en-US" sz="1550" dirty="0"/>
          </a:p>
        </p:txBody>
      </p:sp>
      <p:sp>
        <p:nvSpPr>
          <p:cNvPr id="29" name="Text 27"/>
          <p:cNvSpPr/>
          <p:nvPr/>
        </p:nvSpPr>
        <p:spPr>
          <a:xfrm>
            <a:off x="9688235" y="6665952"/>
            <a:ext cx="3941088" cy="317540"/>
          </a:xfrm>
          <a:prstGeom prst="rect">
            <a:avLst/>
          </a:prstGeom>
          <a:noFill/>
          <a:ln/>
        </p:spPr>
        <p:txBody>
          <a:bodyPr wrap="non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Çok boyutlu</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834295" y="1742123"/>
            <a:ext cx="4961811" cy="620078"/>
          </a:xfrm>
          <a:prstGeom prst="rect">
            <a:avLst/>
          </a:prstGeom>
          <a:noFill/>
          <a:ln/>
        </p:spPr>
        <p:txBody>
          <a:bodyPr wrap="none" lIns="0" tIns="0" rIns="0" bIns="0" rtlCol="0" anchor="t"/>
          <a:lstStyle/>
          <a:p>
            <a:pPr algn="ctr" indent="0" marL="0">
              <a:lnSpc>
                <a:spcPts val="4850"/>
              </a:lnSpc>
              <a:buNone/>
            </a:pPr>
            <a:r>
              <a:rPr lang="en-US" sz="3900" dirty="0">
                <a:solidFill>
                  <a:srgbClr val="152D47"/>
                </a:solidFill>
                <a:latin typeface="Crimson Pro Semi Bold" pitchFamily="34" charset="0"/>
                <a:ea typeface="Crimson Pro Semi Bold" pitchFamily="34" charset="-122"/>
                <a:cs typeface="Crimson Pro Semi Bold" pitchFamily="34" charset="-120"/>
              </a:rPr>
              <a:t>Temel Çıkarımlar</a:t>
            </a:r>
            <a:endParaRPr lang="en-US" sz="3900" dirty="0"/>
          </a:p>
        </p:txBody>
      </p:sp>
      <p:sp>
        <p:nvSpPr>
          <p:cNvPr id="3" name="Shape 1"/>
          <p:cNvSpPr/>
          <p:nvPr/>
        </p:nvSpPr>
        <p:spPr>
          <a:xfrm>
            <a:off x="793790" y="2759035"/>
            <a:ext cx="446484" cy="446484"/>
          </a:xfrm>
          <a:prstGeom prst="roundRect">
            <a:avLst>
              <a:gd name="adj" fmla="val 6668"/>
            </a:avLst>
          </a:prstGeom>
          <a:solidFill>
            <a:srgbClr val="F2EEEE"/>
          </a:solidFill>
          <a:ln/>
        </p:spPr>
      </p:sp>
      <p:sp>
        <p:nvSpPr>
          <p:cNvPr id="4" name="Text 2"/>
          <p:cNvSpPr/>
          <p:nvPr/>
        </p:nvSpPr>
        <p:spPr>
          <a:xfrm>
            <a:off x="1438632" y="2827258"/>
            <a:ext cx="2931081"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Saldırganlık Çok Boyutludur</a:t>
            </a:r>
            <a:endParaRPr lang="en-US" sz="1950" dirty="0"/>
          </a:p>
        </p:txBody>
      </p:sp>
      <p:sp>
        <p:nvSpPr>
          <p:cNvPr id="5" name="Text 3"/>
          <p:cNvSpPr/>
          <p:nvPr/>
        </p:nvSpPr>
        <p:spPr>
          <a:xfrm>
            <a:off x="1438632" y="3256478"/>
            <a:ext cx="5752505"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Hiçbir tek kuram saldırganlığı tam olarak açıklayamaz; biyolojik, psikolojik ve sosyal faktörler bir arada rol oynar.</a:t>
            </a:r>
            <a:endParaRPr lang="en-US" sz="1550" dirty="0"/>
          </a:p>
        </p:txBody>
      </p:sp>
      <p:sp>
        <p:nvSpPr>
          <p:cNvPr id="6" name="Shape 4"/>
          <p:cNvSpPr/>
          <p:nvPr/>
        </p:nvSpPr>
        <p:spPr>
          <a:xfrm>
            <a:off x="7439144" y="2759035"/>
            <a:ext cx="446484" cy="446484"/>
          </a:xfrm>
          <a:prstGeom prst="roundRect">
            <a:avLst>
              <a:gd name="adj" fmla="val 6668"/>
            </a:avLst>
          </a:prstGeom>
          <a:solidFill>
            <a:srgbClr val="F2EEEE"/>
          </a:solidFill>
          <a:ln/>
        </p:spPr>
      </p:sp>
      <p:sp>
        <p:nvSpPr>
          <p:cNvPr id="7" name="Text 5"/>
          <p:cNvSpPr/>
          <p:nvPr/>
        </p:nvSpPr>
        <p:spPr>
          <a:xfrm>
            <a:off x="8083987" y="282725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Bağlam Belirleyicidir</a:t>
            </a:r>
            <a:endParaRPr lang="en-US" sz="1950" dirty="0"/>
          </a:p>
        </p:txBody>
      </p:sp>
      <p:sp>
        <p:nvSpPr>
          <p:cNvPr id="8" name="Text 6"/>
          <p:cNvSpPr/>
          <p:nvPr/>
        </p:nvSpPr>
        <p:spPr>
          <a:xfrm>
            <a:off x="8083987" y="3256478"/>
            <a:ext cx="5752624"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Saldırganlığın ortaya çıkması, kişisel özelliklerin yanı sıra durumsal ipuçlarına, yorumlara ve uyarılma düzeylerine bağlıdır.</a:t>
            </a:r>
            <a:endParaRPr lang="en-US" sz="1550" dirty="0"/>
          </a:p>
        </p:txBody>
      </p:sp>
      <p:sp>
        <p:nvSpPr>
          <p:cNvPr id="9" name="Shape 7"/>
          <p:cNvSpPr/>
          <p:nvPr/>
        </p:nvSpPr>
        <p:spPr>
          <a:xfrm>
            <a:off x="793790" y="4288393"/>
            <a:ext cx="446484" cy="446484"/>
          </a:xfrm>
          <a:prstGeom prst="roundRect">
            <a:avLst>
              <a:gd name="adj" fmla="val 6668"/>
            </a:avLst>
          </a:prstGeom>
          <a:solidFill>
            <a:srgbClr val="F2EEEE"/>
          </a:solidFill>
          <a:ln/>
        </p:spPr>
      </p:sp>
      <p:sp>
        <p:nvSpPr>
          <p:cNvPr id="10" name="Text 8"/>
          <p:cNvSpPr/>
          <p:nvPr/>
        </p:nvSpPr>
        <p:spPr>
          <a:xfrm>
            <a:off x="1438632" y="4356616"/>
            <a:ext cx="2673668"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Öğrenme Kritik Rol Oynar</a:t>
            </a:r>
            <a:endParaRPr lang="en-US" sz="1950" dirty="0"/>
          </a:p>
        </p:txBody>
      </p:sp>
      <p:sp>
        <p:nvSpPr>
          <p:cNvPr id="11" name="Text 9"/>
          <p:cNvSpPr/>
          <p:nvPr/>
        </p:nvSpPr>
        <p:spPr>
          <a:xfrm>
            <a:off x="1438632" y="4785836"/>
            <a:ext cx="5752505"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Medya şiddeti, aile içi şiddet ve sosyal modeller, saldırgan senaryoların ve atıf önyargılarının gelişimini doğrudan etkiler.</a:t>
            </a:r>
            <a:endParaRPr lang="en-US" sz="1550" dirty="0"/>
          </a:p>
        </p:txBody>
      </p:sp>
      <p:sp>
        <p:nvSpPr>
          <p:cNvPr id="12" name="Shape 10"/>
          <p:cNvSpPr/>
          <p:nvPr/>
        </p:nvSpPr>
        <p:spPr>
          <a:xfrm>
            <a:off x="7439144" y="4288393"/>
            <a:ext cx="446484" cy="446484"/>
          </a:xfrm>
          <a:prstGeom prst="roundRect">
            <a:avLst>
              <a:gd name="adj" fmla="val 6668"/>
            </a:avLst>
          </a:prstGeom>
          <a:solidFill>
            <a:srgbClr val="F2EEEE"/>
          </a:solidFill>
          <a:ln/>
        </p:spPr>
      </p:sp>
      <p:sp>
        <p:nvSpPr>
          <p:cNvPr id="13" name="Text 11"/>
          <p:cNvSpPr/>
          <p:nvPr/>
        </p:nvSpPr>
        <p:spPr>
          <a:xfrm>
            <a:off x="8083987" y="4356616"/>
            <a:ext cx="2609731" cy="310158"/>
          </a:xfrm>
          <a:prstGeom prst="rect">
            <a:avLst/>
          </a:prstGeom>
          <a:noFill/>
          <a:ln/>
        </p:spPr>
        <p:txBody>
          <a:bodyPr wrap="none" lIns="0" tIns="0" rIns="0" bIns="0" rtlCol="0" anchor="t"/>
          <a:lstStyle/>
          <a:p>
            <a:pPr algn="l" indent="0" marL="0">
              <a:lnSpc>
                <a:spcPts val="2400"/>
              </a:lnSpc>
              <a:buNone/>
            </a:pPr>
            <a:r>
              <a:rPr lang="en-US" sz="1950" dirty="0">
                <a:solidFill>
                  <a:srgbClr val="4C4C4D"/>
                </a:solidFill>
                <a:latin typeface="Crimson Pro Semi Bold" pitchFamily="34" charset="0"/>
                <a:ea typeface="Crimson Pro Semi Bold" pitchFamily="34" charset="-122"/>
                <a:cs typeface="Crimson Pro Semi Bold" pitchFamily="34" charset="-120"/>
              </a:rPr>
              <a:t>Uzun Vadede Maliyetlidir</a:t>
            </a:r>
            <a:endParaRPr lang="en-US" sz="1950" dirty="0"/>
          </a:p>
        </p:txBody>
      </p:sp>
      <p:sp>
        <p:nvSpPr>
          <p:cNvPr id="14" name="Text 12"/>
          <p:cNvSpPr/>
          <p:nvPr/>
        </p:nvSpPr>
        <p:spPr>
          <a:xfrm>
            <a:off x="8083987" y="4785836"/>
            <a:ext cx="5752624" cy="635079"/>
          </a:xfrm>
          <a:prstGeom prst="rect">
            <a:avLst/>
          </a:prstGeom>
          <a:noFill/>
          <a:ln/>
        </p:spPr>
        <p:txBody>
          <a:bodyPr wrap="square" lIns="0" tIns="0" rIns="0" bIns="0" rtlCol="0" anchor="t"/>
          <a:lstStyle/>
          <a:p>
            <a:pPr algn="l" indent="0" marL="0">
              <a:lnSpc>
                <a:spcPts val="2500"/>
              </a:lnSpc>
              <a:buNone/>
            </a:pPr>
            <a:r>
              <a:rPr lang="en-US" sz="1550" dirty="0">
                <a:solidFill>
                  <a:srgbClr val="4C4C4D"/>
                </a:solidFill>
                <a:latin typeface="Heebo" pitchFamily="34" charset="0"/>
                <a:ea typeface="Heebo" pitchFamily="34" charset="-122"/>
                <a:cs typeface="Heebo" pitchFamily="34" charset="-120"/>
              </a:rPr>
              <a:t>Saldırgan insanlar kısa vadede istediklerini elde etseler de uzun vadede ilişkiler zarar görür ve misilleme kaçınılmaz olur.</a:t>
            </a:r>
            <a:endParaRPr lang="en-US" sz="1550" dirty="0"/>
          </a:p>
        </p:txBody>
      </p:sp>
      <p:sp>
        <p:nvSpPr>
          <p:cNvPr id="15" name="Shape 13"/>
          <p:cNvSpPr/>
          <p:nvPr/>
        </p:nvSpPr>
        <p:spPr>
          <a:xfrm>
            <a:off x="793790" y="5644158"/>
            <a:ext cx="13042821" cy="843201"/>
          </a:xfrm>
          <a:prstGeom prst="roundRect">
            <a:avLst>
              <a:gd name="adj" fmla="val 3531"/>
            </a:avLst>
          </a:prstGeom>
          <a:solidFill>
            <a:srgbClr val="B6FCB8"/>
          </a:solidFill>
          <a:ln/>
        </p:spPr>
      </p:sp>
      <p:pic>
        <p:nvPicPr>
          <p:cNvPr id="16" name="Image 0" descr="preencoded.png">    </p:cNvPr>
          <p:cNvPicPr>
            <a:picLocks noChangeAspect="1"/>
          </p:cNvPicPr>
          <p:nvPr/>
        </p:nvPicPr>
        <p:blipFill>
          <a:blip r:embed="rId1"/>
          <a:stretch>
            <a:fillRect/>
          </a:stretch>
        </p:blipFill>
        <p:spPr>
          <a:xfrm>
            <a:off x="992148" y="5931813"/>
            <a:ext cx="248007" cy="198358"/>
          </a:xfrm>
          <a:prstGeom prst="rect">
            <a:avLst/>
          </a:prstGeom>
        </p:spPr>
      </p:pic>
      <p:sp>
        <p:nvSpPr>
          <p:cNvPr id="17" name="Text 14"/>
          <p:cNvSpPr/>
          <p:nvPr/>
        </p:nvSpPr>
        <p:spPr>
          <a:xfrm>
            <a:off x="1438513" y="5892046"/>
            <a:ext cx="1219973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Heebo" pitchFamily="34" charset="0"/>
                <a:ea typeface="Heebo" pitchFamily="34" charset="-122"/>
                <a:cs typeface="Heebo" pitchFamily="34" charset="-120"/>
              </a:rPr>
              <a:t>Genel Saldırganlık Modeli (GAM), tüm bu teorileri bütünleştirerek saldırganlığı anlamak ve önlemek için en kapsamlı çerçeveyi sunmaktadır.</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2026-04-16T05:33:37Z</dcterms:created>
  <dcterms:modified xsi:type="dcterms:W3CDTF">2026-04-16T05:33:37Z</dcterms:modified>
</cp:coreProperties>
</file>