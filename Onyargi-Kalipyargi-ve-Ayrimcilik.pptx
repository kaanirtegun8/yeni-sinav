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8229600" cx="14630400"/>
  <p:notesSz cx="8229600" cy="14630400"/>
  <p:defaultTextStyle>
    <a:defPPr lvl="0">
      <a:defRPr lang="tr-TR"/>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2817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455420"/>
            <a:ext cx="7556421" cy="1417558"/>
          </a:xfrm>
          <a:prstGeom prst="rect">
            <a:avLst/>
          </a:prstGeom>
          <a:noFill/>
          <a:ln/>
        </p:spPr>
        <p:txBody>
          <a:bodyPr wrap="squar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Önyargı, Kalıpyargı ve Ayrımcılık</a:t>
            </a:r>
            <a:endParaRPr lang="en-US" sz="4450" dirty="0"/>
          </a:p>
        </p:txBody>
      </p:sp>
      <p:sp>
        <p:nvSpPr>
          <p:cNvPr id="4" name="Text 1"/>
          <p:cNvSpPr/>
          <p:nvPr/>
        </p:nvSpPr>
        <p:spPr>
          <a:xfrm>
            <a:off x="6280190" y="3213140"/>
            <a:ext cx="7556421" cy="362903"/>
          </a:xfrm>
          <a:prstGeom prst="rect">
            <a:avLst/>
          </a:prstGeom>
          <a:noFill/>
          <a:ln/>
        </p:spPr>
        <p:txBody>
          <a:bodyPr wrap="non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Önyargı (prejudice) ve kalıpyargı (stereotype) </a:t>
            </a:r>
            <a:endParaRPr lang="en-US" sz="1750" dirty="0"/>
          </a:p>
        </p:txBody>
      </p:sp>
      <p:sp>
        <p:nvSpPr>
          <p:cNvPr id="5" name="Text 2"/>
          <p:cNvSpPr/>
          <p:nvPr/>
        </p:nvSpPr>
        <p:spPr>
          <a:xfrm>
            <a:off x="6280190" y="3831193"/>
            <a:ext cx="7556421" cy="725805"/>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Önyargı bir sosyal sınıfa (yaş, cinsiyet vb.) dayanarak oluşturulan bir gruba ve bu grubun üyelerine karşı olumsuz bir değerlendirme eğilimi</a:t>
            </a:r>
            <a:endParaRPr lang="en-US" sz="1750" dirty="0"/>
          </a:p>
        </p:txBody>
      </p:sp>
      <p:sp>
        <p:nvSpPr>
          <p:cNvPr id="6" name="Text 3"/>
          <p:cNvSpPr/>
          <p:nvPr/>
        </p:nvSpPr>
        <p:spPr>
          <a:xfrm>
            <a:off x="6280190" y="4812149"/>
            <a:ext cx="7556421" cy="725805"/>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Kalıpyargı aynı sosyal sınıfta yer alan bireyleri tipik ve/veya ayırt edici niteliklerle ilişkilendiren genellemeler </a:t>
            </a:r>
            <a:endParaRPr lang="en-US" sz="1750" dirty="0"/>
          </a:p>
        </p:txBody>
      </p:sp>
      <p:sp>
        <p:nvSpPr>
          <p:cNvPr id="7" name="Text 4"/>
          <p:cNvSpPr/>
          <p:nvPr/>
        </p:nvSpPr>
        <p:spPr>
          <a:xfrm>
            <a:off x="6280190" y="5793105"/>
            <a:ext cx="7556421" cy="362903"/>
          </a:xfrm>
          <a:prstGeom prst="rect">
            <a:avLst/>
          </a:prstGeom>
          <a:noFill/>
          <a:ln/>
        </p:spPr>
        <p:txBody>
          <a:bodyPr wrap="non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Kalıpyargı+güçlü durum= Önyargı——— Ayrımcılık</a:t>
            </a:r>
            <a:endParaRPr lang="en-US" sz="1750" dirty="0"/>
          </a:p>
        </p:txBody>
      </p:sp>
      <p:sp>
        <p:nvSpPr>
          <p:cNvPr id="8" name="Text 5"/>
          <p:cNvSpPr/>
          <p:nvPr/>
        </p:nvSpPr>
        <p:spPr>
          <a:xfrm>
            <a:off x="6280190" y="6411158"/>
            <a:ext cx="7556421" cy="362903"/>
          </a:xfrm>
          <a:prstGeom prst="rect">
            <a:avLst/>
          </a:prstGeom>
          <a:noFill/>
          <a:ln/>
        </p:spPr>
        <p:txBody>
          <a:bodyPr wrap="non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 </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722590"/>
            <a:ext cx="7436525" cy="708779"/>
          </a:xfrm>
          <a:prstGeom prst="rect">
            <a:avLst/>
          </a:prstGeom>
          <a:noFill/>
          <a:ln/>
        </p:spPr>
        <p:txBody>
          <a:bodyPr wrap="non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Kalıpyargı ve Önyargı İlişkisi</a:t>
            </a:r>
            <a:endParaRPr lang="en-US" sz="4450" dirty="0"/>
          </a:p>
        </p:txBody>
      </p:sp>
      <p:pic>
        <p:nvPicPr>
          <p:cNvPr id="4" name="Image 1" descr="preencoded.png"/>
          <p:cNvPicPr>
            <a:picLocks noChangeAspect="1"/>
          </p:cNvPicPr>
          <p:nvPr/>
        </p:nvPicPr>
        <p:blipFill>
          <a:blip r:embed="rId4"/>
          <a:stretch>
            <a:fillRect/>
          </a:stretch>
        </p:blipFill>
        <p:spPr>
          <a:xfrm>
            <a:off x="6280190" y="1771531"/>
            <a:ext cx="1134070" cy="2032754"/>
          </a:xfrm>
          <a:prstGeom prst="rect">
            <a:avLst/>
          </a:prstGeom>
        </p:spPr>
      </p:pic>
      <p:sp>
        <p:nvSpPr>
          <p:cNvPr id="5" name="Text 1"/>
          <p:cNvSpPr/>
          <p:nvPr/>
        </p:nvSpPr>
        <p:spPr>
          <a:xfrm>
            <a:off x="7754422" y="199834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Kalıpyargı</a:t>
            </a:r>
            <a:endParaRPr lang="en-US" sz="2200" dirty="0"/>
          </a:p>
        </p:txBody>
      </p:sp>
      <p:sp>
        <p:nvSpPr>
          <p:cNvPr id="6" name="Text 2"/>
          <p:cNvSpPr/>
          <p:nvPr/>
        </p:nvSpPr>
        <p:spPr>
          <a:xfrm>
            <a:off x="7754422" y="2488763"/>
            <a:ext cx="6082189" cy="1088708"/>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Bir insan grubu kişisel özelliklere işaret eden bir sıfatla tanımlandığında bu aşırı genellemeye dayalı, temelsiz, irrasyonel bir kalıpyargıyı ifade eder.</a:t>
            </a:r>
            <a:endParaRPr lang="en-US" sz="1750" dirty="0"/>
          </a:p>
        </p:txBody>
      </p:sp>
      <p:pic>
        <p:nvPicPr>
          <p:cNvPr id="7" name="Image 2" descr="preencoded.png"/>
          <p:cNvPicPr>
            <a:picLocks noChangeAspect="1"/>
          </p:cNvPicPr>
          <p:nvPr/>
        </p:nvPicPr>
        <p:blipFill>
          <a:blip r:embed="rId5"/>
          <a:stretch>
            <a:fillRect/>
          </a:stretch>
        </p:blipFill>
        <p:spPr>
          <a:xfrm>
            <a:off x="6280190" y="3804285"/>
            <a:ext cx="1134070" cy="2032754"/>
          </a:xfrm>
          <a:prstGeom prst="rect">
            <a:avLst/>
          </a:prstGeom>
        </p:spPr>
      </p:pic>
      <p:sp>
        <p:nvSpPr>
          <p:cNvPr id="8" name="Text 3"/>
          <p:cNvSpPr/>
          <p:nvPr/>
        </p:nvSpPr>
        <p:spPr>
          <a:xfrm>
            <a:off x="7754422" y="403109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Önyargı</a:t>
            </a:r>
            <a:endParaRPr lang="en-US" sz="2200" dirty="0"/>
          </a:p>
        </p:txBody>
      </p:sp>
      <p:sp>
        <p:nvSpPr>
          <p:cNvPr id="9" name="Text 4"/>
          <p:cNvSpPr/>
          <p:nvPr/>
        </p:nvSpPr>
        <p:spPr>
          <a:xfrm>
            <a:off x="7754422" y="4521517"/>
            <a:ext cx="6082189" cy="1088708"/>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Kalıpyargıya duruma ve zamana göre olumlu (hoşnutluk, sempati vb.) ya da olumsuz duygular (antipati, nefret, tiksinme, korku vb.) eşlik ettiğinde önyargılar oluşabilir.</a:t>
            </a:r>
            <a:endParaRPr lang="en-US" sz="1750" dirty="0"/>
          </a:p>
        </p:txBody>
      </p:sp>
      <p:pic>
        <p:nvPicPr>
          <p:cNvPr id="10" name="Image 3" descr="preencoded.png"/>
          <p:cNvPicPr>
            <a:picLocks noChangeAspect="1"/>
          </p:cNvPicPr>
          <p:nvPr/>
        </p:nvPicPr>
        <p:blipFill>
          <a:blip r:embed="rId6"/>
          <a:stretch>
            <a:fillRect/>
          </a:stretch>
        </p:blipFill>
        <p:spPr>
          <a:xfrm>
            <a:off x="6280190" y="5837039"/>
            <a:ext cx="1134070" cy="1669852"/>
          </a:xfrm>
          <a:prstGeom prst="rect">
            <a:avLst/>
          </a:prstGeom>
        </p:spPr>
      </p:pic>
      <p:sp>
        <p:nvSpPr>
          <p:cNvPr id="11" name="Text 5"/>
          <p:cNvSpPr/>
          <p:nvPr/>
        </p:nvSpPr>
        <p:spPr>
          <a:xfrm>
            <a:off x="7754422" y="606385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Ayrımcılık</a:t>
            </a:r>
            <a:endParaRPr lang="en-US" sz="2200" dirty="0"/>
          </a:p>
        </p:txBody>
      </p:sp>
      <p:sp>
        <p:nvSpPr>
          <p:cNvPr id="12" name="Text 6"/>
          <p:cNvSpPr/>
          <p:nvPr/>
        </p:nvSpPr>
        <p:spPr>
          <a:xfrm>
            <a:off x="7754422" y="6554272"/>
            <a:ext cx="6082189" cy="725805"/>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Önyargılar bazı durumlarda çeşitli ayrımcı davranışlara yol açabilir. </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31771"/>
            <a:ext cx="5670590" cy="708779"/>
          </a:xfrm>
          <a:prstGeom prst="rect">
            <a:avLst/>
          </a:prstGeom>
          <a:noFill/>
          <a:ln/>
        </p:spPr>
        <p:txBody>
          <a:bodyPr wrap="non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Kalıpyargı Nedir?</a:t>
            </a:r>
            <a:endParaRPr lang="en-US" sz="4450" dirty="0"/>
          </a:p>
        </p:txBody>
      </p:sp>
      <p:sp>
        <p:nvSpPr>
          <p:cNvPr id="4" name="Shape 1"/>
          <p:cNvSpPr/>
          <p:nvPr/>
        </p:nvSpPr>
        <p:spPr>
          <a:xfrm>
            <a:off x="793790" y="1880711"/>
            <a:ext cx="3664863" cy="3620453"/>
          </a:xfrm>
          <a:prstGeom prst="roundRect">
            <a:avLst>
              <a:gd name="adj" fmla="val 940"/>
            </a:avLst>
          </a:prstGeom>
          <a:solidFill>
            <a:srgbClr val="F2EEEE"/>
          </a:solidFill>
          <a:ln/>
        </p:spPr>
      </p:sp>
      <p:sp>
        <p:nvSpPr>
          <p:cNvPr id="5" name="Text 2"/>
          <p:cNvSpPr/>
          <p:nvPr/>
        </p:nvSpPr>
        <p:spPr>
          <a:xfrm>
            <a:off x="1020604" y="2107525"/>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Tanım</a:t>
            </a:r>
            <a:endParaRPr lang="en-US" sz="2200" dirty="0"/>
          </a:p>
        </p:txBody>
      </p:sp>
      <p:sp>
        <p:nvSpPr>
          <p:cNvPr id="6" name="Text 3"/>
          <p:cNvSpPr/>
          <p:nvPr/>
        </p:nvSpPr>
        <p:spPr>
          <a:xfrm>
            <a:off x="1020604" y="2597944"/>
            <a:ext cx="3211235" cy="1451610"/>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Belirli bir grupla ilgili düşündüğümüzde aklımıza gelen belirli bir resim (Lippman, 1922). </a:t>
            </a:r>
            <a:endParaRPr lang="en-US" sz="1750" dirty="0"/>
          </a:p>
        </p:txBody>
      </p:sp>
      <p:sp>
        <p:nvSpPr>
          <p:cNvPr id="7" name="Text 4"/>
          <p:cNvSpPr/>
          <p:nvPr/>
        </p:nvSpPr>
        <p:spPr>
          <a:xfrm>
            <a:off x="1020604" y="4185642"/>
            <a:ext cx="3211235" cy="108870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Bir gruptaki her bir grup üyesi için beklenen davranış kalıplarını belirler.</a:t>
            </a:r>
            <a:endParaRPr lang="en-US" sz="1750" dirty="0"/>
          </a:p>
        </p:txBody>
      </p:sp>
      <p:sp>
        <p:nvSpPr>
          <p:cNvPr id="8" name="Shape 5"/>
          <p:cNvSpPr/>
          <p:nvPr/>
        </p:nvSpPr>
        <p:spPr>
          <a:xfrm>
            <a:off x="4685467" y="1880711"/>
            <a:ext cx="3664863" cy="3620453"/>
          </a:xfrm>
          <a:prstGeom prst="roundRect">
            <a:avLst>
              <a:gd name="adj" fmla="val 940"/>
            </a:avLst>
          </a:prstGeom>
          <a:solidFill>
            <a:srgbClr val="F2EEEE"/>
          </a:solidFill>
          <a:ln/>
        </p:spPr>
      </p:sp>
      <p:sp>
        <p:nvSpPr>
          <p:cNvPr id="9" name="Text 6"/>
          <p:cNvSpPr/>
          <p:nvPr/>
        </p:nvSpPr>
        <p:spPr>
          <a:xfrm>
            <a:off x="4912281" y="2107525"/>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Özellikler</a:t>
            </a:r>
            <a:endParaRPr lang="en-US" sz="2200" dirty="0"/>
          </a:p>
        </p:txBody>
      </p:sp>
      <p:sp>
        <p:nvSpPr>
          <p:cNvPr id="10" name="Text 7"/>
          <p:cNvSpPr/>
          <p:nvPr/>
        </p:nvSpPr>
        <p:spPr>
          <a:xfrm>
            <a:off x="4912281" y="2597944"/>
            <a:ext cx="3211235" cy="108870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Kalıpyargılar genellemelerdir. Dünyayı basit hale getirmek için genelleştiririz. </a:t>
            </a:r>
            <a:endParaRPr lang="en-US" sz="1750" dirty="0"/>
          </a:p>
        </p:txBody>
      </p:sp>
      <p:sp>
        <p:nvSpPr>
          <p:cNvPr id="11" name="Shape 8"/>
          <p:cNvSpPr/>
          <p:nvPr/>
        </p:nvSpPr>
        <p:spPr>
          <a:xfrm>
            <a:off x="793790" y="5727978"/>
            <a:ext cx="7556421" cy="1669852"/>
          </a:xfrm>
          <a:prstGeom prst="roundRect">
            <a:avLst>
              <a:gd name="adj" fmla="val 2038"/>
            </a:avLst>
          </a:prstGeom>
          <a:solidFill>
            <a:srgbClr val="F2EEEE"/>
          </a:solidFill>
          <a:ln/>
        </p:spPr>
      </p:sp>
      <p:sp>
        <p:nvSpPr>
          <p:cNvPr id="12" name="Text 9"/>
          <p:cNvSpPr/>
          <p:nvPr/>
        </p:nvSpPr>
        <p:spPr>
          <a:xfrm>
            <a:off x="1020604" y="5954792"/>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Etki</a:t>
            </a:r>
            <a:endParaRPr lang="en-US" sz="2200" dirty="0"/>
          </a:p>
        </p:txBody>
      </p:sp>
      <p:sp>
        <p:nvSpPr>
          <p:cNvPr id="13" name="Text 10"/>
          <p:cNvSpPr/>
          <p:nvPr/>
        </p:nvSpPr>
        <p:spPr>
          <a:xfrm>
            <a:off x="1020604" y="6445210"/>
            <a:ext cx="7102793" cy="725805"/>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Kalıpyargılar her zaman olumsuz değildir. Olumsuz kalıpyargılar ise önyargının oluşumuna zemin hazırlar.</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95682"/>
            <a:ext cx="6423898" cy="708779"/>
          </a:xfrm>
          <a:prstGeom prst="rect">
            <a:avLst/>
          </a:prstGeom>
          <a:noFill/>
          <a:ln/>
        </p:spPr>
        <p:txBody>
          <a:bodyPr wrap="non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Kalıpyargıların Temelleri</a:t>
            </a:r>
            <a:endParaRPr lang="en-US" sz="4450" dirty="0"/>
          </a:p>
        </p:txBody>
      </p:sp>
      <p:sp>
        <p:nvSpPr>
          <p:cNvPr id="3" name="Text 1"/>
          <p:cNvSpPr/>
          <p:nvPr/>
        </p:nvSpPr>
        <p:spPr>
          <a:xfrm>
            <a:off x="1857256" y="1858089"/>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Sosyal Sınıflandırma</a:t>
            </a:r>
            <a:endParaRPr lang="en-US" sz="2200" dirty="0"/>
          </a:p>
        </p:txBody>
      </p:sp>
      <p:sp>
        <p:nvSpPr>
          <p:cNvPr id="4" name="Text 2"/>
          <p:cNvSpPr/>
          <p:nvPr/>
        </p:nvSpPr>
        <p:spPr>
          <a:xfrm>
            <a:off x="793790" y="2348508"/>
            <a:ext cx="3898702" cy="2177415"/>
          </a:xfrm>
          <a:prstGeom prst="rect">
            <a:avLst/>
          </a:prstGeom>
          <a:noFill/>
          <a:ln/>
        </p:spPr>
        <p:txBody>
          <a:bodyPr wrap="square" lIns="0" tIns="0" rIns="0" bIns="0" rtlCol="0" anchor="t"/>
          <a:lstStyle/>
          <a:p>
            <a:pPr marL="0" indent="0" algn="r">
              <a:lnSpc>
                <a:spcPts val="2850"/>
              </a:lnSpc>
              <a:buNone/>
            </a:pPr>
            <a:r>
              <a:rPr lang="en-US" sz="1750" dirty="0">
                <a:solidFill>
                  <a:srgbClr val="464646"/>
                </a:solidFill>
                <a:latin typeface="Inter Medium" pitchFamily="34" charset="0"/>
                <a:ea typeface="Inter Medium" pitchFamily="34" charset="-122"/>
                <a:cs typeface="Inter Medium" pitchFamily="34" charset="-120"/>
              </a:rPr>
              <a:t>Cinsiyet, etnik köken, ırk, yaş, dini inanç gibi ayırt edici özellikler üzerinden insanları gruplama süreci kişinin kendi grubu ve diğer gruplar hakkında edindiği bilgileri düzenleme işlevi görür.</a:t>
            </a:r>
            <a:endParaRPr lang="en-US" sz="1750" dirty="0"/>
          </a:p>
        </p:txBody>
      </p:sp>
      <p:pic>
        <p:nvPicPr>
          <p:cNvPr id="5" name="Image 0" descr="preencoded.png"/>
          <p:cNvPicPr>
            <a:picLocks noChangeAspect="1"/>
          </p:cNvPicPr>
          <p:nvPr/>
        </p:nvPicPr>
        <p:blipFill>
          <a:blip r:embed="rId3"/>
          <a:stretch>
            <a:fillRect/>
          </a:stretch>
        </p:blipFill>
        <p:spPr>
          <a:xfrm>
            <a:off x="5032653" y="2413516"/>
            <a:ext cx="4564975" cy="4564975"/>
          </a:xfrm>
          <a:prstGeom prst="rect">
            <a:avLst/>
          </a:prstGeom>
        </p:spPr>
      </p:pic>
      <p:sp>
        <p:nvSpPr>
          <p:cNvPr id="6" name="Text 3"/>
          <p:cNvSpPr/>
          <p:nvPr/>
        </p:nvSpPr>
        <p:spPr>
          <a:xfrm>
            <a:off x="6346984" y="3161943"/>
            <a:ext cx="98703"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1</a:t>
            </a:r>
            <a:endParaRPr lang="en-US" sz="2200" dirty="0"/>
          </a:p>
        </p:txBody>
      </p:sp>
      <p:sp>
        <p:nvSpPr>
          <p:cNvPr id="7" name="Text 4"/>
          <p:cNvSpPr/>
          <p:nvPr/>
        </p:nvSpPr>
        <p:spPr>
          <a:xfrm>
            <a:off x="9937790" y="2039541"/>
            <a:ext cx="3650694"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Beklenen Davranış Kalıpları</a:t>
            </a:r>
            <a:endParaRPr lang="en-US" sz="2200" dirty="0"/>
          </a:p>
        </p:txBody>
      </p:sp>
      <p:sp>
        <p:nvSpPr>
          <p:cNvPr id="8" name="Text 5"/>
          <p:cNvSpPr/>
          <p:nvPr/>
        </p:nvSpPr>
        <p:spPr>
          <a:xfrm>
            <a:off x="9937790" y="2529959"/>
            <a:ext cx="3898821" cy="1814513"/>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Kalıpyargılar aynı zamanda bir sınıflamaya maruz bırakılan her bir grubun üyeleri için toplumsal olarak beklenen ve uygun görülen bazı davranış kalıpları ortaya koyar.</a:t>
            </a:r>
            <a:endParaRPr lang="en-US" sz="1750" dirty="0"/>
          </a:p>
        </p:txBody>
      </p:sp>
      <p:pic>
        <p:nvPicPr>
          <p:cNvPr id="9" name="Image 1" descr="preencoded.png"/>
          <p:cNvPicPr>
            <a:picLocks noChangeAspect="1"/>
          </p:cNvPicPr>
          <p:nvPr/>
        </p:nvPicPr>
        <p:blipFill>
          <a:blip r:embed="rId4"/>
          <a:stretch>
            <a:fillRect/>
          </a:stretch>
        </p:blipFill>
        <p:spPr>
          <a:xfrm>
            <a:off x="5032653" y="2413516"/>
            <a:ext cx="4564975" cy="4564975"/>
          </a:xfrm>
          <a:prstGeom prst="rect">
            <a:avLst/>
          </a:prstGeom>
        </p:spPr>
      </p:pic>
      <p:sp>
        <p:nvSpPr>
          <p:cNvPr id="10" name="Text 6"/>
          <p:cNvSpPr/>
          <p:nvPr/>
        </p:nvSpPr>
        <p:spPr>
          <a:xfrm>
            <a:off x="8540472" y="3550444"/>
            <a:ext cx="163592"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2</a:t>
            </a:r>
            <a:endParaRPr lang="en-US" sz="2200" dirty="0"/>
          </a:p>
        </p:txBody>
      </p:sp>
      <p:sp>
        <p:nvSpPr>
          <p:cNvPr id="11" name="Text 7"/>
          <p:cNvSpPr/>
          <p:nvPr/>
        </p:nvSpPr>
        <p:spPr>
          <a:xfrm>
            <a:off x="9937790" y="486608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Sosyal Normlar</a:t>
            </a:r>
            <a:endParaRPr lang="en-US" sz="2200" dirty="0"/>
          </a:p>
        </p:txBody>
      </p:sp>
      <p:sp>
        <p:nvSpPr>
          <p:cNvPr id="12" name="Text 8"/>
          <p:cNvSpPr/>
          <p:nvPr/>
        </p:nvSpPr>
        <p:spPr>
          <a:xfrm>
            <a:off x="9937790" y="5356503"/>
            <a:ext cx="3898821" cy="2177415"/>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Belli bir kültürde toplumsal olarak paylaşılan bu davranış kalıplarını içeren sosyal normlar ve bu normlara uymama durumunda karşılaşılacak olan yaptırımlar vardır.</a:t>
            </a:r>
            <a:endParaRPr lang="en-US" sz="1750" dirty="0"/>
          </a:p>
        </p:txBody>
      </p:sp>
      <p:pic>
        <p:nvPicPr>
          <p:cNvPr id="13" name="Image 2" descr="preencoded.png"/>
          <p:cNvPicPr>
            <a:picLocks noChangeAspect="1"/>
          </p:cNvPicPr>
          <p:nvPr/>
        </p:nvPicPr>
        <p:blipFill>
          <a:blip r:embed="rId5"/>
          <a:stretch>
            <a:fillRect/>
          </a:stretch>
        </p:blipFill>
        <p:spPr>
          <a:xfrm>
            <a:off x="5032653" y="2413516"/>
            <a:ext cx="4564975" cy="4564975"/>
          </a:xfrm>
          <a:prstGeom prst="rect">
            <a:avLst/>
          </a:prstGeom>
        </p:spPr>
      </p:pic>
      <p:sp>
        <p:nvSpPr>
          <p:cNvPr id="14" name="Text 9"/>
          <p:cNvSpPr/>
          <p:nvPr/>
        </p:nvSpPr>
        <p:spPr>
          <a:xfrm>
            <a:off x="8148876" y="5776317"/>
            <a:ext cx="169783"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3</a:t>
            </a:r>
            <a:endParaRPr lang="en-US" sz="2200" dirty="0"/>
          </a:p>
        </p:txBody>
      </p:sp>
      <p:sp>
        <p:nvSpPr>
          <p:cNvPr id="15" name="Text 10"/>
          <p:cNvSpPr/>
          <p:nvPr/>
        </p:nvSpPr>
        <p:spPr>
          <a:xfrm>
            <a:off x="1096804" y="5047536"/>
            <a:ext cx="3595688" cy="354330"/>
          </a:xfrm>
          <a:prstGeom prst="rect">
            <a:avLst/>
          </a:prstGeom>
          <a:noFill/>
          <a:ln/>
        </p:spPr>
        <p:txBody>
          <a:bodyPr wrap="none" lIns="0" tIns="0" rIns="0" bIns="0" rtlCol="0" anchor="t"/>
          <a:lstStyle/>
          <a:p>
            <a:pPr marL="0" indent="0" algn="r">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Kalıpyargıların Güçlenmesi</a:t>
            </a:r>
            <a:endParaRPr lang="en-US" sz="2200" dirty="0"/>
          </a:p>
        </p:txBody>
      </p:sp>
      <p:sp>
        <p:nvSpPr>
          <p:cNvPr id="16" name="Text 11"/>
          <p:cNvSpPr/>
          <p:nvPr/>
        </p:nvSpPr>
        <p:spPr>
          <a:xfrm>
            <a:off x="793790" y="5537954"/>
            <a:ext cx="3898702" cy="1814513"/>
          </a:xfrm>
          <a:prstGeom prst="rect">
            <a:avLst/>
          </a:prstGeom>
          <a:noFill/>
          <a:ln/>
        </p:spPr>
        <p:txBody>
          <a:bodyPr wrap="square" lIns="0" tIns="0" rIns="0" bIns="0" rtlCol="0" anchor="t"/>
          <a:lstStyle/>
          <a:p>
            <a:pPr marL="0" indent="0" algn="r">
              <a:lnSpc>
                <a:spcPts val="2850"/>
              </a:lnSpc>
              <a:buNone/>
            </a:pPr>
            <a:r>
              <a:rPr lang="en-US" sz="1750" dirty="0">
                <a:solidFill>
                  <a:srgbClr val="464646"/>
                </a:solidFill>
                <a:latin typeface="Inter Medium" pitchFamily="34" charset="0"/>
                <a:ea typeface="Inter Medium" pitchFamily="34" charset="-122"/>
                <a:cs typeface="Inter Medium" pitchFamily="34" charset="-120"/>
              </a:rPr>
              <a:t>İsteyerek veya istemeyerek bu beklentilere uygun davranan grup üyeleri kalıpyargıyı haklı çıkarır ve bu şekilde kalıpyargılar daha da güçlenerek kalıcı bir hale gelir.</a:t>
            </a:r>
            <a:endParaRPr lang="en-US" sz="1750" dirty="0"/>
          </a:p>
        </p:txBody>
      </p:sp>
      <p:pic>
        <p:nvPicPr>
          <p:cNvPr id="17" name="Image 3" descr="preencoded.png"/>
          <p:cNvPicPr>
            <a:picLocks noChangeAspect="1"/>
          </p:cNvPicPr>
          <p:nvPr/>
        </p:nvPicPr>
        <p:blipFill>
          <a:blip r:embed="rId6"/>
          <a:stretch>
            <a:fillRect/>
          </a:stretch>
        </p:blipFill>
        <p:spPr>
          <a:xfrm>
            <a:off x="5032653" y="2413516"/>
            <a:ext cx="4564975" cy="4564975"/>
          </a:xfrm>
          <a:prstGeom prst="rect">
            <a:avLst/>
          </a:prstGeom>
        </p:spPr>
      </p:pic>
      <p:sp>
        <p:nvSpPr>
          <p:cNvPr id="18" name="Text 12"/>
          <p:cNvSpPr/>
          <p:nvPr/>
        </p:nvSpPr>
        <p:spPr>
          <a:xfrm>
            <a:off x="5917406" y="5387816"/>
            <a:ext cx="180856"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4</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87586"/>
            <a:ext cx="5670590" cy="708779"/>
          </a:xfrm>
          <a:prstGeom prst="rect">
            <a:avLst/>
          </a:prstGeom>
          <a:noFill/>
          <a:ln/>
        </p:spPr>
        <p:txBody>
          <a:bodyPr wrap="non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Kalıpyargı Türleri</a:t>
            </a:r>
            <a:endParaRPr lang="en-US" sz="4450" dirty="0"/>
          </a:p>
        </p:txBody>
      </p:sp>
      <p:sp>
        <p:nvSpPr>
          <p:cNvPr id="3" name="Text 1"/>
          <p:cNvSpPr/>
          <p:nvPr/>
        </p:nvSpPr>
        <p:spPr>
          <a:xfrm>
            <a:off x="793790" y="1963341"/>
            <a:ext cx="2835235" cy="354330"/>
          </a:xfrm>
          <a:prstGeom prst="rect">
            <a:avLst/>
          </a:prstGeom>
          <a:noFill/>
          <a:ln/>
        </p:spPr>
        <p:txBody>
          <a:bodyPr wrap="none" lIns="0" tIns="0" rIns="0" bIns="0" rtlCol="0" anchor="t"/>
          <a:lstStyle/>
          <a:p>
            <a:pPr marL="0" indent="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Cinsiyete Dayalı</a:t>
            </a:r>
            <a:endParaRPr lang="en-US" sz="2200" dirty="0"/>
          </a:p>
        </p:txBody>
      </p:sp>
      <p:sp>
        <p:nvSpPr>
          <p:cNvPr id="4" name="Text 2"/>
          <p:cNvSpPr/>
          <p:nvPr/>
        </p:nvSpPr>
        <p:spPr>
          <a:xfrm>
            <a:off x="793790" y="2544485"/>
            <a:ext cx="2845594" cy="254031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Cinsiyete dair kalıpyargılar bir erkek ve kadının neleri yapıp neleri yapamayacağı ve neleri yapıp neleri yapmaması gerektiği hakkında varsayımları içerir.</a:t>
            </a:r>
            <a:endParaRPr lang="en-US" sz="1750" dirty="0"/>
          </a:p>
        </p:txBody>
      </p:sp>
      <p:pic>
        <p:nvPicPr>
          <p:cNvPr id="5" name="Image 0" descr="preencoded.png"/>
          <p:cNvPicPr>
            <a:picLocks noChangeAspect="1"/>
          </p:cNvPicPr>
          <p:nvPr/>
        </p:nvPicPr>
        <p:blipFill>
          <a:blip r:embed="rId3"/>
          <a:stretch>
            <a:fillRect/>
          </a:stretch>
        </p:blipFill>
        <p:spPr>
          <a:xfrm>
            <a:off x="793790" y="5339953"/>
            <a:ext cx="2845594" cy="1946910"/>
          </a:xfrm>
          <a:prstGeom prst="rect">
            <a:avLst/>
          </a:prstGeom>
        </p:spPr>
      </p:pic>
      <p:sp>
        <p:nvSpPr>
          <p:cNvPr id="6" name="Text 3"/>
          <p:cNvSpPr/>
          <p:nvPr/>
        </p:nvSpPr>
        <p:spPr>
          <a:xfrm>
            <a:off x="4200406" y="1963341"/>
            <a:ext cx="2845594" cy="708660"/>
          </a:xfrm>
          <a:prstGeom prst="rect">
            <a:avLst/>
          </a:prstGeom>
          <a:noFill/>
          <a:ln/>
        </p:spPr>
        <p:txBody>
          <a:bodyPr wrap="square" lIns="0" tIns="0" rIns="0" bIns="0" rtlCol="0" anchor="t"/>
          <a:lstStyle/>
          <a:p>
            <a:pPr marL="0" indent="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Irk ve Etnik Kökene Dayalı</a:t>
            </a:r>
            <a:endParaRPr lang="en-US" sz="2200" dirty="0"/>
          </a:p>
        </p:txBody>
      </p:sp>
      <p:sp>
        <p:nvSpPr>
          <p:cNvPr id="7" name="Text 4"/>
          <p:cNvSpPr/>
          <p:nvPr/>
        </p:nvSpPr>
        <p:spPr>
          <a:xfrm>
            <a:off x="4200406" y="2898815"/>
            <a:ext cx="2845594" cy="1814513"/>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Irk ve etnik kökene dayalı kalıpyargılar belirli bir ırka veya etnik kökene dair belirli nitelikler içermektedir.</a:t>
            </a:r>
            <a:endParaRPr lang="en-US" sz="1750" dirty="0"/>
          </a:p>
        </p:txBody>
      </p:sp>
      <p:pic>
        <p:nvPicPr>
          <p:cNvPr id="8" name="Image 1" descr="preencoded.png"/>
          <p:cNvPicPr>
            <a:picLocks noChangeAspect="1"/>
          </p:cNvPicPr>
          <p:nvPr/>
        </p:nvPicPr>
        <p:blipFill>
          <a:blip r:embed="rId4"/>
          <a:stretch>
            <a:fillRect/>
          </a:stretch>
        </p:blipFill>
        <p:spPr>
          <a:xfrm>
            <a:off x="4200406" y="4968478"/>
            <a:ext cx="2845594" cy="1946910"/>
          </a:xfrm>
          <a:prstGeom prst="rect">
            <a:avLst/>
          </a:prstGeom>
        </p:spPr>
      </p:pic>
      <p:sp>
        <p:nvSpPr>
          <p:cNvPr id="9" name="Text 5"/>
          <p:cNvSpPr/>
          <p:nvPr/>
        </p:nvSpPr>
        <p:spPr>
          <a:xfrm>
            <a:off x="7607022" y="1963341"/>
            <a:ext cx="2835235" cy="354330"/>
          </a:xfrm>
          <a:prstGeom prst="rect">
            <a:avLst/>
          </a:prstGeom>
          <a:noFill/>
          <a:ln/>
        </p:spPr>
        <p:txBody>
          <a:bodyPr wrap="none" lIns="0" tIns="0" rIns="0" bIns="0" rtlCol="0" anchor="t"/>
          <a:lstStyle/>
          <a:p>
            <a:pPr marL="0" indent="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Yaşa Dayalı</a:t>
            </a:r>
            <a:endParaRPr lang="en-US" sz="2200" dirty="0"/>
          </a:p>
        </p:txBody>
      </p:sp>
      <p:sp>
        <p:nvSpPr>
          <p:cNvPr id="10" name="Text 6"/>
          <p:cNvSpPr/>
          <p:nvPr/>
        </p:nvSpPr>
        <p:spPr>
          <a:xfrm>
            <a:off x="7607022" y="2544485"/>
            <a:ext cx="2845594" cy="2177415"/>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Yaşa dayalı kalıpyargılar belirli yaş gruplarının özellikleri ve o yaş dönemlerinin özelliklerine göre beklenen davranış kalıpyargılarını içerir.</a:t>
            </a:r>
            <a:endParaRPr lang="en-US" sz="1750" dirty="0"/>
          </a:p>
        </p:txBody>
      </p:sp>
      <p:pic>
        <p:nvPicPr>
          <p:cNvPr id="11" name="Image 2" descr="preencoded.png"/>
          <p:cNvPicPr>
            <a:picLocks noChangeAspect="1"/>
          </p:cNvPicPr>
          <p:nvPr/>
        </p:nvPicPr>
        <p:blipFill>
          <a:blip r:embed="rId5"/>
          <a:stretch>
            <a:fillRect/>
          </a:stretch>
        </p:blipFill>
        <p:spPr>
          <a:xfrm>
            <a:off x="7607022" y="4977051"/>
            <a:ext cx="2845594" cy="1946910"/>
          </a:xfrm>
          <a:prstGeom prst="rect">
            <a:avLst/>
          </a:prstGeom>
        </p:spPr>
      </p:pic>
      <p:sp>
        <p:nvSpPr>
          <p:cNvPr id="12" name="Text 7"/>
          <p:cNvSpPr/>
          <p:nvPr/>
        </p:nvSpPr>
        <p:spPr>
          <a:xfrm>
            <a:off x="11013638" y="1963341"/>
            <a:ext cx="2835235" cy="354330"/>
          </a:xfrm>
          <a:prstGeom prst="rect">
            <a:avLst/>
          </a:prstGeom>
          <a:noFill/>
          <a:ln/>
        </p:spPr>
        <p:txBody>
          <a:bodyPr wrap="none" lIns="0" tIns="0" rIns="0" bIns="0" rtlCol="0" anchor="t"/>
          <a:lstStyle/>
          <a:p>
            <a:pPr marL="0" indent="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Engellilere Yönelik</a:t>
            </a:r>
            <a:endParaRPr lang="en-US" sz="2200" dirty="0"/>
          </a:p>
        </p:txBody>
      </p:sp>
      <p:sp>
        <p:nvSpPr>
          <p:cNvPr id="13" name="Text 8"/>
          <p:cNvSpPr/>
          <p:nvPr/>
        </p:nvSpPr>
        <p:spPr>
          <a:xfrm>
            <a:off x="11013638" y="2544485"/>
            <a:ext cx="2845594" cy="2177415"/>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Engellilere yönelip bir kalıpyargı bu kişilerin durumlarına ve yapıp edebileceklerine yönelik yanlış bilgileri içerebilmektedir.</a:t>
            </a:r>
            <a:endParaRPr lang="en-US" sz="1750" dirty="0"/>
          </a:p>
        </p:txBody>
      </p:sp>
      <p:pic>
        <p:nvPicPr>
          <p:cNvPr id="14" name="Image 3" descr="preencoded.png"/>
          <p:cNvPicPr>
            <a:picLocks noChangeAspect="1"/>
          </p:cNvPicPr>
          <p:nvPr/>
        </p:nvPicPr>
        <p:blipFill>
          <a:blip r:embed="rId6"/>
          <a:stretch>
            <a:fillRect/>
          </a:stretch>
        </p:blipFill>
        <p:spPr>
          <a:xfrm>
            <a:off x="11013638" y="4977051"/>
            <a:ext cx="2845594" cy="19469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24019"/>
            <a:ext cx="5670590" cy="708779"/>
          </a:xfrm>
          <a:prstGeom prst="rect">
            <a:avLst/>
          </a:prstGeom>
          <a:noFill/>
          <a:ln/>
        </p:spPr>
        <p:txBody>
          <a:bodyPr wrap="non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Önyargı Nedir?</a:t>
            </a:r>
            <a:endParaRPr lang="en-US" sz="4450" dirty="0"/>
          </a:p>
        </p:txBody>
      </p:sp>
      <p:sp>
        <p:nvSpPr>
          <p:cNvPr id="3" name="Shape 1"/>
          <p:cNvSpPr/>
          <p:nvPr/>
        </p:nvSpPr>
        <p:spPr>
          <a:xfrm>
            <a:off x="793790" y="2141577"/>
            <a:ext cx="510302" cy="510302"/>
          </a:xfrm>
          <a:prstGeom prst="roundRect">
            <a:avLst>
              <a:gd name="adj" fmla="val 6667"/>
            </a:avLst>
          </a:prstGeom>
          <a:solidFill>
            <a:srgbClr val="F2EEEE"/>
          </a:solidFill>
          <a:ln/>
        </p:spPr>
      </p:sp>
      <p:sp>
        <p:nvSpPr>
          <p:cNvPr id="4" name="Text 2"/>
          <p:cNvSpPr/>
          <p:nvPr/>
        </p:nvSpPr>
        <p:spPr>
          <a:xfrm>
            <a:off x="989648" y="2226588"/>
            <a:ext cx="118467" cy="340281"/>
          </a:xfrm>
          <a:prstGeom prst="rect">
            <a:avLst/>
          </a:prstGeom>
          <a:noFill/>
          <a:ln/>
        </p:spPr>
        <p:txBody>
          <a:bodyPr wrap="none" lIns="0" tIns="0" rIns="0" bIns="0" rtlCol="0" anchor="t"/>
          <a:lstStyle/>
          <a:p>
            <a:pPr marL="0" indent="0" algn="ctr">
              <a:lnSpc>
                <a:spcPts val="2650"/>
              </a:lnSpc>
              <a:buNone/>
            </a:pPr>
            <a:r>
              <a:rPr lang="en-US" sz="2650" dirty="0">
                <a:solidFill>
                  <a:srgbClr val="464646"/>
                </a:solidFill>
                <a:latin typeface="DM Sans Semi Bold" pitchFamily="34" charset="0"/>
                <a:ea typeface="DM Sans Semi Bold" pitchFamily="34" charset="-122"/>
                <a:cs typeface="DM Sans Semi Bold" pitchFamily="34" charset="-120"/>
              </a:rPr>
              <a:t>1</a:t>
            </a:r>
            <a:endParaRPr lang="en-US" sz="2650" dirty="0"/>
          </a:p>
        </p:txBody>
      </p:sp>
      <p:sp>
        <p:nvSpPr>
          <p:cNvPr id="5" name="Text 3"/>
          <p:cNvSpPr/>
          <p:nvPr/>
        </p:nvSpPr>
        <p:spPr>
          <a:xfrm>
            <a:off x="1530906" y="2141577"/>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Tanım</a:t>
            </a:r>
            <a:endParaRPr lang="en-US" sz="2200" dirty="0"/>
          </a:p>
        </p:txBody>
      </p:sp>
      <p:sp>
        <p:nvSpPr>
          <p:cNvPr id="6" name="Text 4"/>
          <p:cNvSpPr/>
          <p:nvPr/>
        </p:nvSpPr>
        <p:spPr>
          <a:xfrm>
            <a:off x="1530906" y="2631996"/>
            <a:ext cx="5670947" cy="725805"/>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Gordon Allport 'Önyargının Doğası' "hatalı ve katı bir genellemeye dayalı antipatidir" </a:t>
            </a:r>
            <a:endParaRPr lang="en-US" sz="1750" dirty="0"/>
          </a:p>
        </p:txBody>
      </p:sp>
      <p:sp>
        <p:nvSpPr>
          <p:cNvPr id="7" name="Text 5"/>
          <p:cNvSpPr/>
          <p:nvPr/>
        </p:nvSpPr>
        <p:spPr>
          <a:xfrm>
            <a:off x="1530906" y="3493889"/>
            <a:ext cx="5670947" cy="108870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Eksik veya hatalı bir değerlendirme sonucunda bir gruba ya da onun üyelerine yönelik genellikle olumsuz olan bir tutum.</a:t>
            </a:r>
            <a:endParaRPr lang="en-US" sz="1750" dirty="0"/>
          </a:p>
        </p:txBody>
      </p:sp>
      <p:sp>
        <p:nvSpPr>
          <p:cNvPr id="8" name="Shape 6"/>
          <p:cNvSpPr/>
          <p:nvPr/>
        </p:nvSpPr>
        <p:spPr>
          <a:xfrm>
            <a:off x="7428667" y="2141577"/>
            <a:ext cx="510302" cy="510302"/>
          </a:xfrm>
          <a:prstGeom prst="roundRect">
            <a:avLst>
              <a:gd name="adj" fmla="val 6667"/>
            </a:avLst>
          </a:prstGeom>
          <a:solidFill>
            <a:srgbClr val="F2EEEE"/>
          </a:solidFill>
          <a:ln/>
        </p:spPr>
      </p:sp>
      <p:sp>
        <p:nvSpPr>
          <p:cNvPr id="9" name="Text 7"/>
          <p:cNvSpPr/>
          <p:nvPr/>
        </p:nvSpPr>
        <p:spPr>
          <a:xfrm>
            <a:off x="7585591" y="2226588"/>
            <a:ext cx="196334" cy="340281"/>
          </a:xfrm>
          <a:prstGeom prst="rect">
            <a:avLst/>
          </a:prstGeom>
          <a:noFill/>
          <a:ln/>
        </p:spPr>
        <p:txBody>
          <a:bodyPr wrap="none" lIns="0" tIns="0" rIns="0" bIns="0" rtlCol="0" anchor="t"/>
          <a:lstStyle/>
          <a:p>
            <a:pPr marL="0" indent="0" algn="ctr">
              <a:lnSpc>
                <a:spcPts val="2650"/>
              </a:lnSpc>
              <a:buNone/>
            </a:pPr>
            <a:r>
              <a:rPr lang="en-US" sz="2650" dirty="0">
                <a:solidFill>
                  <a:srgbClr val="464646"/>
                </a:solidFill>
                <a:latin typeface="DM Sans Semi Bold" pitchFamily="34" charset="0"/>
                <a:ea typeface="DM Sans Semi Bold" pitchFamily="34" charset="-122"/>
                <a:cs typeface="DM Sans Semi Bold" pitchFamily="34" charset="-120"/>
              </a:rPr>
              <a:t>2</a:t>
            </a:r>
            <a:endParaRPr lang="en-US" sz="2650" dirty="0"/>
          </a:p>
        </p:txBody>
      </p:sp>
      <p:sp>
        <p:nvSpPr>
          <p:cNvPr id="10" name="Text 8"/>
          <p:cNvSpPr/>
          <p:nvPr/>
        </p:nvSpPr>
        <p:spPr>
          <a:xfrm>
            <a:off x="8165783" y="2141577"/>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Özellikler</a:t>
            </a:r>
            <a:endParaRPr lang="en-US" sz="2200" dirty="0"/>
          </a:p>
        </p:txBody>
      </p:sp>
      <p:sp>
        <p:nvSpPr>
          <p:cNvPr id="11" name="Text 9"/>
          <p:cNvSpPr/>
          <p:nvPr/>
        </p:nvSpPr>
        <p:spPr>
          <a:xfrm>
            <a:off x="8165783" y="2631996"/>
            <a:ext cx="5670947" cy="108870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Önyargılar genellikle olumsuz olarak değerlendirilse de sempatik duygular eşliğinde oluşan olumlu önyargılar da var. </a:t>
            </a:r>
            <a:endParaRPr lang="en-US" sz="1750" dirty="0"/>
          </a:p>
        </p:txBody>
      </p:sp>
      <p:sp>
        <p:nvSpPr>
          <p:cNvPr id="12" name="Text 10"/>
          <p:cNvSpPr/>
          <p:nvPr/>
        </p:nvSpPr>
        <p:spPr>
          <a:xfrm>
            <a:off x="8165783" y="3856792"/>
            <a:ext cx="5670947" cy="362903"/>
          </a:xfrm>
          <a:prstGeom prst="rect">
            <a:avLst/>
          </a:prstGeom>
          <a:noFill/>
          <a:ln/>
        </p:spPr>
        <p:txBody>
          <a:bodyPr wrap="non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Önyargı bir tutumdur ve genellikle olumsuzdur.</a:t>
            </a:r>
            <a:endParaRPr lang="en-US" sz="1750" dirty="0"/>
          </a:p>
        </p:txBody>
      </p:sp>
      <p:sp>
        <p:nvSpPr>
          <p:cNvPr id="13" name="Shape 11"/>
          <p:cNvSpPr/>
          <p:nvPr/>
        </p:nvSpPr>
        <p:spPr>
          <a:xfrm>
            <a:off x="793790" y="5064562"/>
            <a:ext cx="510302" cy="510302"/>
          </a:xfrm>
          <a:prstGeom prst="roundRect">
            <a:avLst>
              <a:gd name="adj" fmla="val 6667"/>
            </a:avLst>
          </a:prstGeom>
          <a:solidFill>
            <a:srgbClr val="F2EEEE"/>
          </a:solidFill>
          <a:ln/>
        </p:spPr>
      </p:sp>
      <p:sp>
        <p:nvSpPr>
          <p:cNvPr id="14" name="Text 12"/>
          <p:cNvSpPr/>
          <p:nvPr/>
        </p:nvSpPr>
        <p:spPr>
          <a:xfrm>
            <a:off x="947023" y="5149572"/>
            <a:ext cx="203835" cy="340281"/>
          </a:xfrm>
          <a:prstGeom prst="rect">
            <a:avLst/>
          </a:prstGeom>
          <a:noFill/>
          <a:ln/>
        </p:spPr>
        <p:txBody>
          <a:bodyPr wrap="none" lIns="0" tIns="0" rIns="0" bIns="0" rtlCol="0" anchor="t"/>
          <a:lstStyle/>
          <a:p>
            <a:pPr marL="0" indent="0" algn="ctr">
              <a:lnSpc>
                <a:spcPts val="2650"/>
              </a:lnSpc>
              <a:buNone/>
            </a:pPr>
            <a:r>
              <a:rPr lang="en-US" sz="2650" dirty="0">
                <a:solidFill>
                  <a:srgbClr val="464646"/>
                </a:solidFill>
                <a:latin typeface="DM Sans Semi Bold" pitchFamily="34" charset="0"/>
                <a:ea typeface="DM Sans Semi Bold" pitchFamily="34" charset="-122"/>
                <a:cs typeface="DM Sans Semi Bold" pitchFamily="34" charset="-120"/>
              </a:rPr>
              <a:t>3</a:t>
            </a:r>
            <a:endParaRPr lang="en-US" sz="2650" dirty="0"/>
          </a:p>
        </p:txBody>
      </p:sp>
      <p:sp>
        <p:nvSpPr>
          <p:cNvPr id="15" name="Text 13"/>
          <p:cNvSpPr/>
          <p:nvPr/>
        </p:nvSpPr>
        <p:spPr>
          <a:xfrm>
            <a:off x="1530906" y="5064562"/>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Örnekler</a:t>
            </a:r>
            <a:endParaRPr lang="en-US" sz="2200" dirty="0"/>
          </a:p>
        </p:txBody>
      </p:sp>
      <p:sp>
        <p:nvSpPr>
          <p:cNvPr id="16" name="Text 14"/>
          <p:cNvSpPr/>
          <p:nvPr/>
        </p:nvSpPr>
        <p:spPr>
          <a:xfrm>
            <a:off x="1530906" y="5554980"/>
            <a:ext cx="5670947" cy="108870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Birleşik Krallığın güneyinde yaşayan insanlar aynı ülkenin kuzeyinde yaşayan insanları kaba ve taşralı olarak değerlendirmesi.</a:t>
            </a:r>
            <a:endParaRPr lang="en-US" sz="1750" dirty="0"/>
          </a:p>
        </p:txBody>
      </p:sp>
      <p:sp>
        <p:nvSpPr>
          <p:cNvPr id="17" name="Text 15"/>
          <p:cNvSpPr/>
          <p:nvPr/>
        </p:nvSpPr>
        <p:spPr>
          <a:xfrm>
            <a:off x="1530906" y="6779776"/>
            <a:ext cx="5670947" cy="725805"/>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Arapların terörist, Amerikalıların ırkçı olduğunu düşünmek.</a:t>
            </a:r>
            <a:endParaRPr lang="en-US" sz="1750" dirty="0"/>
          </a:p>
        </p:txBody>
      </p:sp>
      <p:sp>
        <p:nvSpPr>
          <p:cNvPr id="18" name="Shape 16"/>
          <p:cNvSpPr/>
          <p:nvPr/>
        </p:nvSpPr>
        <p:spPr>
          <a:xfrm>
            <a:off x="7428667" y="5064562"/>
            <a:ext cx="510302" cy="510302"/>
          </a:xfrm>
          <a:prstGeom prst="roundRect">
            <a:avLst>
              <a:gd name="adj" fmla="val 6667"/>
            </a:avLst>
          </a:prstGeom>
          <a:solidFill>
            <a:srgbClr val="F2EEEE"/>
          </a:solidFill>
          <a:ln/>
        </p:spPr>
      </p:sp>
      <p:sp>
        <p:nvSpPr>
          <p:cNvPr id="19" name="Text 17"/>
          <p:cNvSpPr/>
          <p:nvPr/>
        </p:nvSpPr>
        <p:spPr>
          <a:xfrm>
            <a:off x="7575233" y="5149572"/>
            <a:ext cx="217051" cy="340281"/>
          </a:xfrm>
          <a:prstGeom prst="rect">
            <a:avLst/>
          </a:prstGeom>
          <a:noFill/>
          <a:ln/>
        </p:spPr>
        <p:txBody>
          <a:bodyPr wrap="none" lIns="0" tIns="0" rIns="0" bIns="0" rtlCol="0" anchor="t"/>
          <a:lstStyle/>
          <a:p>
            <a:pPr marL="0" indent="0" algn="ctr">
              <a:lnSpc>
                <a:spcPts val="2650"/>
              </a:lnSpc>
              <a:buNone/>
            </a:pPr>
            <a:r>
              <a:rPr lang="en-US" sz="2650" dirty="0">
                <a:solidFill>
                  <a:srgbClr val="464646"/>
                </a:solidFill>
                <a:latin typeface="DM Sans Semi Bold" pitchFamily="34" charset="0"/>
                <a:ea typeface="DM Sans Semi Bold" pitchFamily="34" charset="-122"/>
                <a:cs typeface="DM Sans Semi Bold" pitchFamily="34" charset="-120"/>
              </a:rPr>
              <a:t>4</a:t>
            </a:r>
            <a:endParaRPr lang="en-US" sz="2650" dirty="0"/>
          </a:p>
        </p:txBody>
      </p:sp>
      <p:sp>
        <p:nvSpPr>
          <p:cNvPr id="20" name="Text 18"/>
          <p:cNvSpPr/>
          <p:nvPr/>
        </p:nvSpPr>
        <p:spPr>
          <a:xfrm>
            <a:off x="8165783" y="5064562"/>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Sonuçlar</a:t>
            </a:r>
            <a:endParaRPr lang="en-US" sz="2200" dirty="0"/>
          </a:p>
        </p:txBody>
      </p:sp>
      <p:sp>
        <p:nvSpPr>
          <p:cNvPr id="21" name="Text 19"/>
          <p:cNvSpPr/>
          <p:nvPr/>
        </p:nvSpPr>
        <p:spPr>
          <a:xfrm>
            <a:off x="8165783" y="5554980"/>
            <a:ext cx="5670947" cy="1814513"/>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Önyargılı bir insan kendinden farklı insanları sevmeyebilir, onların rahatsız edici ve tehlikeli olduğuna inanabilir. Bir sonraki adımda ise bu inanç ve tutumlar davranışsal bir boyuta geçerek çeşitli ayrımcılıklar yaratabilir.</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4252" y="571381"/>
            <a:ext cx="4887873" cy="610910"/>
          </a:xfrm>
          <a:prstGeom prst="rect">
            <a:avLst/>
          </a:prstGeom>
          <a:noFill/>
          <a:ln/>
        </p:spPr>
        <p:txBody>
          <a:bodyPr wrap="none" lIns="0" tIns="0" rIns="0" bIns="0" rtlCol="0" anchor="t"/>
          <a:lstStyle/>
          <a:p>
            <a:pPr marL="0" indent="0">
              <a:lnSpc>
                <a:spcPts val="4800"/>
              </a:lnSpc>
              <a:buNone/>
            </a:pPr>
            <a:r>
              <a:rPr lang="en-US" sz="3800" dirty="0">
                <a:solidFill>
                  <a:srgbClr val="030303"/>
                </a:solidFill>
                <a:latin typeface="DM Sans Semi Bold" pitchFamily="34" charset="0"/>
                <a:ea typeface="DM Sans Semi Bold" pitchFamily="34" charset="-122"/>
                <a:cs typeface="DM Sans Semi Bold" pitchFamily="34" charset="-120"/>
              </a:rPr>
              <a:t>Önyargı Türleri</a:t>
            </a:r>
            <a:endParaRPr lang="en-US" sz="3800" dirty="0"/>
          </a:p>
        </p:txBody>
      </p:sp>
      <p:sp>
        <p:nvSpPr>
          <p:cNvPr id="3" name="Shape 1"/>
          <p:cNvSpPr/>
          <p:nvPr/>
        </p:nvSpPr>
        <p:spPr>
          <a:xfrm>
            <a:off x="7303770" y="1573292"/>
            <a:ext cx="22860" cy="6084808"/>
          </a:xfrm>
          <a:prstGeom prst="roundRect">
            <a:avLst>
              <a:gd name="adj" fmla="val 128293"/>
            </a:avLst>
          </a:prstGeom>
          <a:solidFill>
            <a:srgbClr val="D8D4D4"/>
          </a:solidFill>
          <a:ln/>
        </p:spPr>
      </p:sp>
      <p:sp>
        <p:nvSpPr>
          <p:cNvPr id="4" name="Shape 2"/>
          <p:cNvSpPr/>
          <p:nvPr/>
        </p:nvSpPr>
        <p:spPr>
          <a:xfrm>
            <a:off x="6433899" y="2001679"/>
            <a:ext cx="684252" cy="22860"/>
          </a:xfrm>
          <a:prstGeom prst="roundRect">
            <a:avLst>
              <a:gd name="adj" fmla="val 128293"/>
            </a:avLst>
          </a:prstGeom>
          <a:solidFill>
            <a:srgbClr val="D8D4D4"/>
          </a:solidFill>
          <a:ln/>
        </p:spPr>
      </p:sp>
      <p:sp>
        <p:nvSpPr>
          <p:cNvPr id="5" name="Shape 3"/>
          <p:cNvSpPr/>
          <p:nvPr/>
        </p:nvSpPr>
        <p:spPr>
          <a:xfrm>
            <a:off x="7095292" y="1793200"/>
            <a:ext cx="439817" cy="439817"/>
          </a:xfrm>
          <a:prstGeom prst="roundRect">
            <a:avLst>
              <a:gd name="adj" fmla="val 6668"/>
            </a:avLst>
          </a:prstGeom>
          <a:solidFill>
            <a:srgbClr val="F2EEEE"/>
          </a:solidFill>
          <a:ln/>
        </p:spPr>
      </p:sp>
      <p:sp>
        <p:nvSpPr>
          <p:cNvPr id="6" name="Text 4"/>
          <p:cNvSpPr/>
          <p:nvPr/>
        </p:nvSpPr>
        <p:spPr>
          <a:xfrm>
            <a:off x="7264122" y="1866424"/>
            <a:ext cx="102037" cy="293251"/>
          </a:xfrm>
          <a:prstGeom prst="rect">
            <a:avLst/>
          </a:prstGeom>
          <a:noFill/>
          <a:ln/>
        </p:spPr>
        <p:txBody>
          <a:bodyPr wrap="none" lIns="0" tIns="0" rIns="0" bIns="0" rtlCol="0" anchor="t"/>
          <a:lstStyle/>
          <a:p>
            <a:pPr marL="0" indent="0" algn="ctr">
              <a:lnSpc>
                <a:spcPts val="2300"/>
              </a:lnSpc>
              <a:buNone/>
            </a:pPr>
            <a:r>
              <a:rPr lang="en-US" sz="2300" dirty="0">
                <a:solidFill>
                  <a:srgbClr val="464646"/>
                </a:solidFill>
                <a:latin typeface="DM Sans Semi Bold" pitchFamily="34" charset="0"/>
                <a:ea typeface="DM Sans Semi Bold" pitchFamily="34" charset="-122"/>
                <a:cs typeface="DM Sans Semi Bold" pitchFamily="34" charset="-120"/>
              </a:rPr>
              <a:t>1</a:t>
            </a:r>
            <a:endParaRPr lang="en-US" sz="2300" dirty="0"/>
          </a:p>
        </p:txBody>
      </p:sp>
      <p:sp>
        <p:nvSpPr>
          <p:cNvPr id="7" name="Text 5"/>
          <p:cNvSpPr/>
          <p:nvPr/>
        </p:nvSpPr>
        <p:spPr>
          <a:xfrm>
            <a:off x="3103364" y="1768793"/>
            <a:ext cx="3136583" cy="305514"/>
          </a:xfrm>
          <a:prstGeom prst="rect">
            <a:avLst/>
          </a:prstGeom>
          <a:noFill/>
          <a:ln/>
        </p:spPr>
        <p:txBody>
          <a:bodyPr wrap="none" lIns="0" tIns="0" rIns="0" bIns="0" rtlCol="0" anchor="t"/>
          <a:lstStyle/>
          <a:p>
            <a:pPr marL="0" indent="0" algn="r">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Cinsiyete Dayalı Önyargılar</a:t>
            </a:r>
            <a:endParaRPr lang="en-US" sz="1900" dirty="0"/>
          </a:p>
        </p:txBody>
      </p:sp>
      <p:sp>
        <p:nvSpPr>
          <p:cNvPr id="8" name="Text 6"/>
          <p:cNvSpPr/>
          <p:nvPr/>
        </p:nvSpPr>
        <p:spPr>
          <a:xfrm>
            <a:off x="684252" y="2191583"/>
            <a:ext cx="5555694" cy="1251109"/>
          </a:xfrm>
          <a:prstGeom prst="rect">
            <a:avLst/>
          </a:prstGeom>
          <a:noFill/>
          <a:ln/>
        </p:spPr>
        <p:txBody>
          <a:bodyPr wrap="square" lIns="0" tIns="0" rIns="0" bIns="0" rtlCol="0" anchor="t"/>
          <a:lstStyle/>
          <a:p>
            <a:pPr marL="0" indent="0" algn="r">
              <a:lnSpc>
                <a:spcPts val="2450"/>
              </a:lnSpc>
              <a:buNone/>
            </a:pPr>
            <a:r>
              <a:rPr lang="en-US" sz="1500" dirty="0">
                <a:solidFill>
                  <a:srgbClr val="464646"/>
                </a:solidFill>
                <a:latin typeface="Inter Medium" pitchFamily="34" charset="0"/>
                <a:ea typeface="Inter Medium" pitchFamily="34" charset="-122"/>
                <a:cs typeface="Inter Medium" pitchFamily="34" charset="-120"/>
              </a:rPr>
              <a:t>20. Yüzyılın başlarına kadar kadınlar, cinsiyete dayalı önyargılar sebebiyle ayrımcılığa uğramış ve istedikleri meslekleri icra edememiş, siyasal haklarını kullanamamış yani kamusal hayata katılamamıştır.</a:t>
            </a:r>
            <a:endParaRPr lang="en-US" sz="1500" dirty="0"/>
          </a:p>
        </p:txBody>
      </p:sp>
      <p:sp>
        <p:nvSpPr>
          <p:cNvPr id="9" name="Shape 7"/>
          <p:cNvSpPr/>
          <p:nvPr/>
        </p:nvSpPr>
        <p:spPr>
          <a:xfrm>
            <a:off x="7512248" y="2979182"/>
            <a:ext cx="684252" cy="22860"/>
          </a:xfrm>
          <a:prstGeom prst="roundRect">
            <a:avLst>
              <a:gd name="adj" fmla="val 128293"/>
            </a:avLst>
          </a:prstGeom>
          <a:solidFill>
            <a:srgbClr val="D8D4D4"/>
          </a:solidFill>
          <a:ln/>
        </p:spPr>
      </p:sp>
      <p:sp>
        <p:nvSpPr>
          <p:cNvPr id="10" name="Shape 8"/>
          <p:cNvSpPr/>
          <p:nvPr/>
        </p:nvSpPr>
        <p:spPr>
          <a:xfrm>
            <a:off x="7095292" y="2770703"/>
            <a:ext cx="439817" cy="439817"/>
          </a:xfrm>
          <a:prstGeom prst="roundRect">
            <a:avLst>
              <a:gd name="adj" fmla="val 6668"/>
            </a:avLst>
          </a:prstGeom>
          <a:solidFill>
            <a:srgbClr val="F2EEEE"/>
          </a:solidFill>
          <a:ln/>
        </p:spPr>
      </p:sp>
      <p:sp>
        <p:nvSpPr>
          <p:cNvPr id="11" name="Text 9"/>
          <p:cNvSpPr/>
          <p:nvPr/>
        </p:nvSpPr>
        <p:spPr>
          <a:xfrm>
            <a:off x="7230547" y="2843927"/>
            <a:ext cx="169188" cy="293251"/>
          </a:xfrm>
          <a:prstGeom prst="rect">
            <a:avLst/>
          </a:prstGeom>
          <a:noFill/>
          <a:ln/>
        </p:spPr>
        <p:txBody>
          <a:bodyPr wrap="none" lIns="0" tIns="0" rIns="0" bIns="0" rtlCol="0" anchor="t"/>
          <a:lstStyle/>
          <a:p>
            <a:pPr marL="0" indent="0" algn="ctr">
              <a:lnSpc>
                <a:spcPts val="2300"/>
              </a:lnSpc>
              <a:buNone/>
            </a:pPr>
            <a:r>
              <a:rPr lang="en-US" sz="2300" dirty="0">
                <a:solidFill>
                  <a:srgbClr val="464646"/>
                </a:solidFill>
                <a:latin typeface="DM Sans Semi Bold" pitchFamily="34" charset="0"/>
                <a:ea typeface="DM Sans Semi Bold" pitchFamily="34" charset="-122"/>
                <a:cs typeface="DM Sans Semi Bold" pitchFamily="34" charset="-120"/>
              </a:rPr>
              <a:t>2</a:t>
            </a:r>
            <a:endParaRPr lang="en-US" sz="2300" dirty="0"/>
          </a:p>
        </p:txBody>
      </p:sp>
      <p:sp>
        <p:nvSpPr>
          <p:cNvPr id="12" name="Text 10"/>
          <p:cNvSpPr/>
          <p:nvPr/>
        </p:nvSpPr>
        <p:spPr>
          <a:xfrm>
            <a:off x="8390453" y="2746296"/>
            <a:ext cx="4230648" cy="305514"/>
          </a:xfrm>
          <a:prstGeom prst="rect">
            <a:avLst/>
          </a:prstGeom>
          <a:noFill/>
          <a:ln/>
        </p:spPr>
        <p:txBody>
          <a:bodyPr wrap="none" lIns="0" tIns="0" rIns="0" bIns="0" rtlCol="0" anchor="t"/>
          <a:lstStyle/>
          <a:p>
            <a:pPr marL="0" indent="0" algn="l">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Irk ve Etnik Kökene Dayalı Önyargılar</a:t>
            </a:r>
            <a:endParaRPr lang="en-US" sz="1900" dirty="0"/>
          </a:p>
        </p:txBody>
      </p:sp>
      <p:sp>
        <p:nvSpPr>
          <p:cNvPr id="13" name="Text 11"/>
          <p:cNvSpPr/>
          <p:nvPr/>
        </p:nvSpPr>
        <p:spPr>
          <a:xfrm>
            <a:off x="8390453" y="3169087"/>
            <a:ext cx="5555694" cy="1876663"/>
          </a:xfrm>
          <a:prstGeom prst="rect">
            <a:avLst/>
          </a:prstGeom>
          <a:noFill/>
          <a:ln/>
        </p:spPr>
        <p:txBody>
          <a:bodyPr wrap="square" lIns="0" tIns="0" rIns="0" bIns="0" rtlCol="0" anchor="t"/>
          <a:lstStyle/>
          <a:p>
            <a:pPr marL="0" indent="0" algn="l">
              <a:lnSpc>
                <a:spcPts val="2450"/>
              </a:lnSpc>
              <a:buNone/>
            </a:pPr>
            <a:r>
              <a:rPr lang="en-US" sz="1500" dirty="0">
                <a:solidFill>
                  <a:srgbClr val="464646"/>
                </a:solidFill>
                <a:latin typeface="Inter Medium" pitchFamily="34" charset="0"/>
                <a:ea typeface="Inter Medium" pitchFamily="34" charset="-122"/>
                <a:cs typeface="Inter Medium" pitchFamily="34" charset="-120"/>
              </a:rPr>
              <a:t>Belirli bir ırka (beyazlar, siyahlar, Asyalılar vb.) veya etnik kökene (Alevi, Çerkez, Hispanik vb.) ait bireylerle ilgili kalıpyargılara dayanan önyargılar. Batılılar tarihte zaman zaman beyazları zeki, üstün bir ırk olarak; siyahları ise şiddete eğilimli, zeka seviyesi düşük gibi olumsuz özelliklere sahip bir ırk olarak tanımladılar.</a:t>
            </a:r>
            <a:endParaRPr lang="en-US" sz="1500" dirty="0"/>
          </a:p>
        </p:txBody>
      </p:sp>
      <p:sp>
        <p:nvSpPr>
          <p:cNvPr id="14" name="Shape 12"/>
          <p:cNvSpPr/>
          <p:nvPr/>
        </p:nvSpPr>
        <p:spPr>
          <a:xfrm>
            <a:off x="6433899" y="4422100"/>
            <a:ext cx="684252" cy="22860"/>
          </a:xfrm>
          <a:prstGeom prst="roundRect">
            <a:avLst>
              <a:gd name="adj" fmla="val 128293"/>
            </a:avLst>
          </a:prstGeom>
          <a:solidFill>
            <a:srgbClr val="D8D4D4"/>
          </a:solidFill>
          <a:ln/>
        </p:spPr>
      </p:sp>
      <p:sp>
        <p:nvSpPr>
          <p:cNvPr id="15" name="Shape 13"/>
          <p:cNvSpPr/>
          <p:nvPr/>
        </p:nvSpPr>
        <p:spPr>
          <a:xfrm>
            <a:off x="7095292" y="4213622"/>
            <a:ext cx="439817" cy="439817"/>
          </a:xfrm>
          <a:prstGeom prst="roundRect">
            <a:avLst>
              <a:gd name="adj" fmla="val 6668"/>
            </a:avLst>
          </a:prstGeom>
          <a:solidFill>
            <a:srgbClr val="F2EEEE"/>
          </a:solidFill>
          <a:ln/>
        </p:spPr>
      </p:sp>
      <p:sp>
        <p:nvSpPr>
          <p:cNvPr id="16" name="Text 14"/>
          <p:cNvSpPr/>
          <p:nvPr/>
        </p:nvSpPr>
        <p:spPr>
          <a:xfrm>
            <a:off x="7227332" y="4286845"/>
            <a:ext cx="175617" cy="293251"/>
          </a:xfrm>
          <a:prstGeom prst="rect">
            <a:avLst/>
          </a:prstGeom>
          <a:noFill/>
          <a:ln/>
        </p:spPr>
        <p:txBody>
          <a:bodyPr wrap="none" lIns="0" tIns="0" rIns="0" bIns="0" rtlCol="0" anchor="t"/>
          <a:lstStyle/>
          <a:p>
            <a:pPr marL="0" indent="0" algn="ctr">
              <a:lnSpc>
                <a:spcPts val="2300"/>
              </a:lnSpc>
              <a:buNone/>
            </a:pPr>
            <a:r>
              <a:rPr lang="en-US" sz="2300" dirty="0">
                <a:solidFill>
                  <a:srgbClr val="464646"/>
                </a:solidFill>
                <a:latin typeface="DM Sans Semi Bold" pitchFamily="34" charset="0"/>
                <a:ea typeface="DM Sans Semi Bold" pitchFamily="34" charset="-122"/>
                <a:cs typeface="DM Sans Semi Bold" pitchFamily="34" charset="-120"/>
              </a:rPr>
              <a:t>3</a:t>
            </a:r>
            <a:endParaRPr lang="en-US" sz="2300" dirty="0"/>
          </a:p>
        </p:txBody>
      </p:sp>
      <p:sp>
        <p:nvSpPr>
          <p:cNvPr id="17" name="Text 15"/>
          <p:cNvSpPr/>
          <p:nvPr/>
        </p:nvSpPr>
        <p:spPr>
          <a:xfrm>
            <a:off x="3666768" y="4189214"/>
            <a:ext cx="2573179" cy="305514"/>
          </a:xfrm>
          <a:prstGeom prst="rect">
            <a:avLst/>
          </a:prstGeom>
          <a:noFill/>
          <a:ln/>
        </p:spPr>
        <p:txBody>
          <a:bodyPr wrap="none" lIns="0" tIns="0" rIns="0" bIns="0" rtlCol="0" anchor="t"/>
          <a:lstStyle/>
          <a:p>
            <a:pPr marL="0" indent="0" algn="r">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Yaşa Dayalı Önyargılar</a:t>
            </a:r>
            <a:endParaRPr lang="en-US" sz="1900" dirty="0"/>
          </a:p>
        </p:txBody>
      </p:sp>
      <p:sp>
        <p:nvSpPr>
          <p:cNvPr id="18" name="Text 16"/>
          <p:cNvSpPr/>
          <p:nvPr/>
        </p:nvSpPr>
        <p:spPr>
          <a:xfrm>
            <a:off x="684252" y="4612005"/>
            <a:ext cx="5555694" cy="1876663"/>
          </a:xfrm>
          <a:prstGeom prst="rect">
            <a:avLst/>
          </a:prstGeom>
          <a:noFill/>
          <a:ln/>
        </p:spPr>
        <p:txBody>
          <a:bodyPr wrap="square" lIns="0" tIns="0" rIns="0" bIns="0" rtlCol="0" anchor="t"/>
          <a:lstStyle/>
          <a:p>
            <a:pPr marL="0" indent="0" algn="r">
              <a:lnSpc>
                <a:spcPts val="2450"/>
              </a:lnSpc>
              <a:buNone/>
            </a:pPr>
            <a:r>
              <a:rPr lang="en-US" sz="1500" dirty="0">
                <a:solidFill>
                  <a:srgbClr val="464646"/>
                </a:solidFill>
                <a:latin typeface="Inter Medium" pitchFamily="34" charset="0"/>
                <a:ea typeface="Inter Medium" pitchFamily="34" charset="-122"/>
                <a:cs typeface="Inter Medium" pitchFamily="34" charset="-120"/>
              </a:rPr>
              <a:t>Yaşçılık (ageism) olarak adlandırılan yaş ayrımcılığı, yaşlı insanların bilişlerini ve yeteneklerini kaybettiği; genç insanların yaşları nedeniyle birçok konuda yetersiz ve beceriksiz olduğu şeklindeki kalıpyargılara dayanır ve bunlar da çeşitli genç ve yaşlı bireylere yönelik önyargılara temel oluşturur.</a:t>
            </a:r>
            <a:endParaRPr lang="en-US" sz="1500" dirty="0"/>
          </a:p>
        </p:txBody>
      </p:sp>
      <p:sp>
        <p:nvSpPr>
          <p:cNvPr id="19" name="Shape 17"/>
          <p:cNvSpPr/>
          <p:nvPr/>
        </p:nvSpPr>
        <p:spPr>
          <a:xfrm>
            <a:off x="7512248" y="5865138"/>
            <a:ext cx="684252" cy="22860"/>
          </a:xfrm>
          <a:prstGeom prst="roundRect">
            <a:avLst>
              <a:gd name="adj" fmla="val 128293"/>
            </a:avLst>
          </a:prstGeom>
          <a:solidFill>
            <a:srgbClr val="D8D4D4"/>
          </a:solidFill>
          <a:ln/>
        </p:spPr>
      </p:sp>
      <p:sp>
        <p:nvSpPr>
          <p:cNvPr id="20" name="Shape 18"/>
          <p:cNvSpPr/>
          <p:nvPr/>
        </p:nvSpPr>
        <p:spPr>
          <a:xfrm>
            <a:off x="7095292" y="5656659"/>
            <a:ext cx="439817" cy="439817"/>
          </a:xfrm>
          <a:prstGeom prst="roundRect">
            <a:avLst>
              <a:gd name="adj" fmla="val 6668"/>
            </a:avLst>
          </a:prstGeom>
          <a:solidFill>
            <a:srgbClr val="F2EEEE"/>
          </a:solidFill>
          <a:ln/>
        </p:spPr>
      </p:sp>
      <p:sp>
        <p:nvSpPr>
          <p:cNvPr id="21" name="Text 19"/>
          <p:cNvSpPr/>
          <p:nvPr/>
        </p:nvSpPr>
        <p:spPr>
          <a:xfrm>
            <a:off x="7221617" y="5729883"/>
            <a:ext cx="187047" cy="293251"/>
          </a:xfrm>
          <a:prstGeom prst="rect">
            <a:avLst/>
          </a:prstGeom>
          <a:noFill/>
          <a:ln/>
        </p:spPr>
        <p:txBody>
          <a:bodyPr wrap="none" lIns="0" tIns="0" rIns="0" bIns="0" rtlCol="0" anchor="t"/>
          <a:lstStyle/>
          <a:p>
            <a:pPr marL="0" indent="0" algn="ctr">
              <a:lnSpc>
                <a:spcPts val="2300"/>
              </a:lnSpc>
              <a:buNone/>
            </a:pPr>
            <a:r>
              <a:rPr lang="en-US" sz="2300" dirty="0">
                <a:solidFill>
                  <a:srgbClr val="464646"/>
                </a:solidFill>
                <a:latin typeface="DM Sans Semi Bold" pitchFamily="34" charset="0"/>
                <a:ea typeface="DM Sans Semi Bold" pitchFamily="34" charset="-122"/>
                <a:cs typeface="DM Sans Semi Bold" pitchFamily="34" charset="-120"/>
              </a:rPr>
              <a:t>4</a:t>
            </a:r>
            <a:endParaRPr lang="en-US" sz="2300" dirty="0"/>
          </a:p>
        </p:txBody>
      </p:sp>
      <p:sp>
        <p:nvSpPr>
          <p:cNvPr id="22" name="Text 20"/>
          <p:cNvSpPr/>
          <p:nvPr/>
        </p:nvSpPr>
        <p:spPr>
          <a:xfrm>
            <a:off x="8390453" y="5632252"/>
            <a:ext cx="3327916" cy="305514"/>
          </a:xfrm>
          <a:prstGeom prst="rect">
            <a:avLst/>
          </a:prstGeom>
          <a:noFill/>
          <a:ln/>
        </p:spPr>
        <p:txBody>
          <a:bodyPr wrap="none" lIns="0" tIns="0" rIns="0" bIns="0" rtlCol="0" anchor="t"/>
          <a:lstStyle/>
          <a:p>
            <a:pPr marL="0" indent="0" algn="l">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Engelliliğe Yönelik Önyargılar</a:t>
            </a:r>
            <a:endParaRPr lang="en-US" sz="1900" dirty="0"/>
          </a:p>
        </p:txBody>
      </p:sp>
      <p:sp>
        <p:nvSpPr>
          <p:cNvPr id="23" name="Text 21"/>
          <p:cNvSpPr/>
          <p:nvPr/>
        </p:nvSpPr>
        <p:spPr>
          <a:xfrm>
            <a:off x="8390453" y="6055043"/>
            <a:ext cx="5555694" cy="938332"/>
          </a:xfrm>
          <a:prstGeom prst="rect">
            <a:avLst/>
          </a:prstGeom>
          <a:noFill/>
          <a:ln/>
        </p:spPr>
        <p:txBody>
          <a:bodyPr wrap="square" lIns="0" tIns="0" rIns="0" bIns="0" rtlCol="0" anchor="t"/>
          <a:lstStyle/>
          <a:p>
            <a:pPr marL="0" indent="0" algn="l">
              <a:lnSpc>
                <a:spcPts val="2450"/>
              </a:lnSpc>
              <a:buNone/>
            </a:pPr>
            <a:r>
              <a:rPr lang="en-US" sz="1500" dirty="0">
                <a:solidFill>
                  <a:srgbClr val="464646"/>
                </a:solidFill>
                <a:latin typeface="Inter Medium" pitchFamily="34" charset="0"/>
                <a:ea typeface="Inter Medium" pitchFamily="34" charset="-122"/>
                <a:cs typeface="Inter Medium" pitchFamily="34" charset="-120"/>
              </a:rPr>
              <a:t>Eksik ve yanlış bilgiler, tecrit ve ayrım bu kalıpyargıların birçoğunun gerçek olarak algılanmasına ve çeşitli önyargılara yol açmıştır.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87241" y="619006"/>
            <a:ext cx="5839897" cy="702826"/>
          </a:xfrm>
          <a:prstGeom prst="rect">
            <a:avLst/>
          </a:prstGeom>
          <a:noFill/>
          <a:ln/>
        </p:spPr>
        <p:txBody>
          <a:bodyPr wrap="none" lIns="0" tIns="0" rIns="0" bIns="0" rtlCol="0" anchor="t"/>
          <a:lstStyle/>
          <a:p>
            <a:pPr marL="0" indent="0">
              <a:lnSpc>
                <a:spcPts val="5500"/>
              </a:lnSpc>
              <a:buNone/>
            </a:pPr>
            <a:r>
              <a:rPr lang="en-US" sz="4400" dirty="0">
                <a:solidFill>
                  <a:srgbClr val="030303"/>
                </a:solidFill>
                <a:latin typeface="DM Sans Semi Bold" pitchFamily="34" charset="0"/>
                <a:ea typeface="DM Sans Semi Bold" pitchFamily="34" charset="-122"/>
                <a:cs typeface="DM Sans Semi Bold" pitchFamily="34" charset="-120"/>
              </a:rPr>
              <a:t>Önyargının Kaynakları</a:t>
            </a:r>
            <a:endParaRPr lang="en-US" sz="4400" dirty="0"/>
          </a:p>
        </p:txBody>
      </p:sp>
      <p:sp>
        <p:nvSpPr>
          <p:cNvPr id="3" name="Text 1"/>
          <p:cNvSpPr/>
          <p:nvPr/>
        </p:nvSpPr>
        <p:spPr>
          <a:xfrm>
            <a:off x="787241" y="1771650"/>
            <a:ext cx="13055918" cy="359807"/>
          </a:xfrm>
          <a:prstGeom prst="rect">
            <a:avLst/>
          </a:prstGeom>
          <a:noFill/>
          <a:ln/>
        </p:spPr>
        <p:txBody>
          <a:bodyPr wrap="none" lIns="0" tIns="0" rIns="0" bIns="0" rtlCol="0" anchor="t"/>
          <a:lstStyle/>
          <a:p>
            <a:pPr marL="0" indent="0">
              <a:lnSpc>
                <a:spcPts val="2800"/>
              </a:lnSpc>
              <a:buNone/>
            </a:pPr>
            <a:r>
              <a:rPr lang="en-US" sz="1750" dirty="0">
                <a:solidFill>
                  <a:srgbClr val="464646"/>
                </a:solidFill>
                <a:latin typeface="Inter Medium" pitchFamily="34" charset="0"/>
                <a:ea typeface="Inter Medium" pitchFamily="34" charset="-122"/>
                <a:cs typeface="Inter Medium" pitchFamily="34" charset="-120"/>
              </a:rPr>
              <a:t>Çok boyutlu bir kavram, çeşitli kaynaklardan ortaya çıkabilir, devam ettirilebilir ve güçlenebilir. </a:t>
            </a:r>
            <a:endParaRPr lang="en-US" sz="1750" dirty="0"/>
          </a:p>
        </p:txBody>
      </p:sp>
      <p:pic>
        <p:nvPicPr>
          <p:cNvPr id="4" name="Image 0" descr="preencoded.png"/>
          <p:cNvPicPr>
            <a:picLocks noChangeAspect="1"/>
          </p:cNvPicPr>
          <p:nvPr/>
        </p:nvPicPr>
        <p:blipFill>
          <a:blip r:embed="rId3"/>
          <a:stretch>
            <a:fillRect/>
          </a:stretch>
        </p:blipFill>
        <p:spPr>
          <a:xfrm>
            <a:off x="2974062" y="2384465"/>
            <a:ext cx="2154198" cy="1295995"/>
          </a:xfrm>
          <a:prstGeom prst="rect">
            <a:avLst/>
          </a:prstGeom>
        </p:spPr>
      </p:pic>
      <p:sp>
        <p:nvSpPr>
          <p:cNvPr id="5" name="Text 2"/>
          <p:cNvSpPr/>
          <p:nvPr/>
        </p:nvSpPr>
        <p:spPr>
          <a:xfrm>
            <a:off x="4002167" y="2968109"/>
            <a:ext cx="97869" cy="449937"/>
          </a:xfrm>
          <a:prstGeom prst="rect">
            <a:avLst/>
          </a:prstGeom>
          <a:noFill/>
          <a:ln/>
        </p:spPr>
        <p:txBody>
          <a:bodyPr wrap="none" lIns="0" tIns="0" rIns="0" bIns="0" rtlCol="0" anchor="t"/>
          <a:lstStyle/>
          <a:p>
            <a:pPr marL="0" indent="0" algn="ctr">
              <a:lnSpc>
                <a:spcPts val="3500"/>
              </a:lnSpc>
              <a:buNone/>
            </a:pPr>
            <a:r>
              <a:rPr lang="en-US" sz="2200" dirty="0">
                <a:solidFill>
                  <a:srgbClr val="464646"/>
                </a:solidFill>
                <a:latin typeface="DM Sans Semi Bold" pitchFamily="34" charset="0"/>
                <a:ea typeface="DM Sans Semi Bold" pitchFamily="34" charset="-122"/>
                <a:cs typeface="DM Sans Semi Bold" pitchFamily="34" charset="-120"/>
              </a:rPr>
              <a:t>1</a:t>
            </a:r>
            <a:endParaRPr lang="en-US" sz="2200" dirty="0"/>
          </a:p>
        </p:txBody>
      </p:sp>
      <p:sp>
        <p:nvSpPr>
          <p:cNvPr id="6" name="Text 3"/>
          <p:cNvSpPr/>
          <p:nvPr/>
        </p:nvSpPr>
        <p:spPr>
          <a:xfrm>
            <a:off x="5353169" y="2609374"/>
            <a:ext cx="2811899" cy="351472"/>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Sosyal Kaynaklar</a:t>
            </a:r>
            <a:endParaRPr lang="en-US" sz="2200" dirty="0"/>
          </a:p>
        </p:txBody>
      </p:sp>
      <p:sp>
        <p:nvSpPr>
          <p:cNvPr id="7" name="Text 4"/>
          <p:cNvSpPr/>
          <p:nvPr/>
        </p:nvSpPr>
        <p:spPr>
          <a:xfrm>
            <a:off x="5353169" y="3095744"/>
            <a:ext cx="4714518" cy="359807"/>
          </a:xfrm>
          <a:prstGeom prst="rect">
            <a:avLst/>
          </a:prstGeom>
          <a:noFill/>
          <a:ln/>
        </p:spPr>
        <p:txBody>
          <a:bodyPr wrap="none" lIns="0" tIns="0" rIns="0" bIns="0" rtlCol="0" anchor="t"/>
          <a:lstStyle/>
          <a:p>
            <a:pPr marL="0" indent="0" algn="l">
              <a:lnSpc>
                <a:spcPts val="2800"/>
              </a:lnSpc>
              <a:buNone/>
            </a:pPr>
            <a:r>
              <a:rPr lang="en-US" sz="1750" dirty="0">
                <a:solidFill>
                  <a:srgbClr val="464646"/>
                </a:solidFill>
                <a:latin typeface="Inter Medium" pitchFamily="34" charset="0"/>
                <a:ea typeface="Inter Medium" pitchFamily="34" charset="-122"/>
                <a:cs typeface="Inter Medium" pitchFamily="34" charset="-120"/>
              </a:rPr>
              <a:t>Statü farklılıkları, sosyalleşme, aile değerleri</a:t>
            </a:r>
            <a:endParaRPr lang="en-US" sz="1750" dirty="0"/>
          </a:p>
        </p:txBody>
      </p:sp>
      <p:sp>
        <p:nvSpPr>
          <p:cNvPr id="8" name="Shape 5"/>
          <p:cNvSpPr/>
          <p:nvPr/>
        </p:nvSpPr>
        <p:spPr>
          <a:xfrm>
            <a:off x="5184457" y="3693319"/>
            <a:ext cx="8602504" cy="15240"/>
          </a:xfrm>
          <a:prstGeom prst="roundRect">
            <a:avLst>
              <a:gd name="adj" fmla="val 221411"/>
            </a:avLst>
          </a:prstGeom>
          <a:solidFill>
            <a:srgbClr val="D8D4D4"/>
          </a:solidFill>
          <a:ln/>
        </p:spPr>
      </p:sp>
      <p:pic>
        <p:nvPicPr>
          <p:cNvPr id="9" name="Image 1" descr="preencoded.png"/>
          <p:cNvPicPr>
            <a:picLocks noChangeAspect="1"/>
          </p:cNvPicPr>
          <p:nvPr/>
        </p:nvPicPr>
        <p:blipFill>
          <a:blip r:embed="rId4"/>
          <a:stretch>
            <a:fillRect/>
          </a:stretch>
        </p:blipFill>
        <p:spPr>
          <a:xfrm>
            <a:off x="1896904" y="3736658"/>
            <a:ext cx="4308396" cy="1295995"/>
          </a:xfrm>
          <a:prstGeom prst="rect">
            <a:avLst/>
          </a:prstGeom>
        </p:spPr>
      </p:pic>
      <p:sp>
        <p:nvSpPr>
          <p:cNvPr id="10" name="Text 6"/>
          <p:cNvSpPr/>
          <p:nvPr/>
        </p:nvSpPr>
        <p:spPr>
          <a:xfrm>
            <a:off x="3969901" y="4159687"/>
            <a:ext cx="162282" cy="449937"/>
          </a:xfrm>
          <a:prstGeom prst="rect">
            <a:avLst/>
          </a:prstGeom>
          <a:noFill/>
          <a:ln/>
        </p:spPr>
        <p:txBody>
          <a:bodyPr wrap="none" lIns="0" tIns="0" rIns="0" bIns="0" rtlCol="0" anchor="t"/>
          <a:lstStyle/>
          <a:p>
            <a:pPr marL="0" indent="0" algn="ctr">
              <a:lnSpc>
                <a:spcPts val="3500"/>
              </a:lnSpc>
              <a:buNone/>
            </a:pPr>
            <a:r>
              <a:rPr lang="en-US" sz="2200" dirty="0">
                <a:solidFill>
                  <a:srgbClr val="464646"/>
                </a:solidFill>
                <a:latin typeface="DM Sans Semi Bold" pitchFamily="34" charset="0"/>
                <a:ea typeface="DM Sans Semi Bold" pitchFamily="34" charset="-122"/>
                <a:cs typeface="DM Sans Semi Bold" pitchFamily="34" charset="-120"/>
              </a:rPr>
              <a:t>2</a:t>
            </a:r>
            <a:endParaRPr lang="en-US" sz="2200" dirty="0"/>
          </a:p>
        </p:txBody>
      </p:sp>
      <p:sp>
        <p:nvSpPr>
          <p:cNvPr id="11" name="Text 7"/>
          <p:cNvSpPr/>
          <p:nvPr/>
        </p:nvSpPr>
        <p:spPr>
          <a:xfrm>
            <a:off x="6430208" y="3961567"/>
            <a:ext cx="3174325" cy="351472"/>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Motivasyonel Kaynaklar</a:t>
            </a:r>
            <a:endParaRPr lang="en-US" sz="2200" dirty="0"/>
          </a:p>
        </p:txBody>
      </p:sp>
      <p:sp>
        <p:nvSpPr>
          <p:cNvPr id="12" name="Text 8"/>
          <p:cNvSpPr/>
          <p:nvPr/>
        </p:nvSpPr>
        <p:spPr>
          <a:xfrm>
            <a:off x="6430208" y="4447937"/>
            <a:ext cx="4328160" cy="359807"/>
          </a:xfrm>
          <a:prstGeom prst="rect">
            <a:avLst/>
          </a:prstGeom>
          <a:noFill/>
          <a:ln/>
        </p:spPr>
        <p:txBody>
          <a:bodyPr wrap="none" lIns="0" tIns="0" rIns="0" bIns="0" rtlCol="0" anchor="t"/>
          <a:lstStyle/>
          <a:p>
            <a:pPr marL="0" indent="0" algn="l">
              <a:lnSpc>
                <a:spcPts val="2800"/>
              </a:lnSpc>
              <a:buNone/>
            </a:pPr>
            <a:r>
              <a:rPr lang="en-US" sz="1750" dirty="0">
                <a:solidFill>
                  <a:srgbClr val="464646"/>
                </a:solidFill>
                <a:latin typeface="Inter Medium" pitchFamily="34" charset="0"/>
                <a:ea typeface="Inter Medium" pitchFamily="34" charset="-122"/>
                <a:cs typeface="Inter Medium" pitchFamily="34" charset="-120"/>
              </a:rPr>
              <a:t>Engellenme, sosyal kimlik, benlik saygısı</a:t>
            </a:r>
            <a:endParaRPr lang="en-US" sz="1750" dirty="0"/>
          </a:p>
        </p:txBody>
      </p:sp>
      <p:sp>
        <p:nvSpPr>
          <p:cNvPr id="13" name="Shape 9"/>
          <p:cNvSpPr/>
          <p:nvPr/>
        </p:nvSpPr>
        <p:spPr>
          <a:xfrm>
            <a:off x="6261497" y="5045512"/>
            <a:ext cx="7525464" cy="15240"/>
          </a:xfrm>
          <a:prstGeom prst="roundRect">
            <a:avLst>
              <a:gd name="adj" fmla="val 221411"/>
            </a:avLst>
          </a:prstGeom>
          <a:solidFill>
            <a:srgbClr val="D8D4D4"/>
          </a:solidFill>
          <a:ln/>
        </p:spPr>
      </p:sp>
      <p:pic>
        <p:nvPicPr>
          <p:cNvPr id="14" name="Image 2" descr="preencoded.png"/>
          <p:cNvPicPr>
            <a:picLocks noChangeAspect="1"/>
          </p:cNvPicPr>
          <p:nvPr/>
        </p:nvPicPr>
        <p:blipFill>
          <a:blip r:embed="rId5"/>
          <a:stretch>
            <a:fillRect/>
          </a:stretch>
        </p:blipFill>
        <p:spPr>
          <a:xfrm>
            <a:off x="819864" y="5088850"/>
            <a:ext cx="6462593" cy="1295995"/>
          </a:xfrm>
          <a:prstGeom prst="rect">
            <a:avLst/>
          </a:prstGeom>
        </p:spPr>
      </p:pic>
      <p:sp>
        <p:nvSpPr>
          <p:cNvPr id="15" name="Text 10"/>
          <p:cNvSpPr/>
          <p:nvPr/>
        </p:nvSpPr>
        <p:spPr>
          <a:xfrm>
            <a:off x="3966924" y="5511879"/>
            <a:ext cx="168473" cy="449937"/>
          </a:xfrm>
          <a:prstGeom prst="rect">
            <a:avLst/>
          </a:prstGeom>
          <a:noFill/>
          <a:ln/>
        </p:spPr>
        <p:txBody>
          <a:bodyPr wrap="none" lIns="0" tIns="0" rIns="0" bIns="0" rtlCol="0" anchor="t"/>
          <a:lstStyle/>
          <a:p>
            <a:pPr marL="0" indent="0" algn="ctr">
              <a:lnSpc>
                <a:spcPts val="3500"/>
              </a:lnSpc>
              <a:buNone/>
            </a:pPr>
            <a:r>
              <a:rPr lang="en-US" sz="2200" dirty="0">
                <a:solidFill>
                  <a:srgbClr val="464646"/>
                </a:solidFill>
                <a:latin typeface="DM Sans Semi Bold" pitchFamily="34" charset="0"/>
                <a:ea typeface="DM Sans Semi Bold" pitchFamily="34" charset="-122"/>
                <a:cs typeface="DM Sans Semi Bold" pitchFamily="34" charset="-120"/>
              </a:rPr>
              <a:t>3</a:t>
            </a:r>
            <a:endParaRPr lang="en-US" sz="2200" dirty="0"/>
          </a:p>
        </p:txBody>
      </p:sp>
      <p:sp>
        <p:nvSpPr>
          <p:cNvPr id="16" name="Text 11"/>
          <p:cNvSpPr/>
          <p:nvPr/>
        </p:nvSpPr>
        <p:spPr>
          <a:xfrm>
            <a:off x="7507367" y="5313759"/>
            <a:ext cx="2811899" cy="351472"/>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Bilişsel Kaynaklar</a:t>
            </a:r>
            <a:endParaRPr lang="en-US" sz="2200" dirty="0"/>
          </a:p>
        </p:txBody>
      </p:sp>
      <p:sp>
        <p:nvSpPr>
          <p:cNvPr id="17" name="Text 12"/>
          <p:cNvSpPr/>
          <p:nvPr/>
        </p:nvSpPr>
        <p:spPr>
          <a:xfrm>
            <a:off x="7507367" y="5800130"/>
            <a:ext cx="3607475" cy="359807"/>
          </a:xfrm>
          <a:prstGeom prst="rect">
            <a:avLst/>
          </a:prstGeom>
          <a:noFill/>
          <a:ln/>
        </p:spPr>
        <p:txBody>
          <a:bodyPr wrap="none" lIns="0" tIns="0" rIns="0" bIns="0" rtlCol="0" anchor="t"/>
          <a:lstStyle/>
          <a:p>
            <a:pPr marL="0" indent="0" algn="l">
              <a:lnSpc>
                <a:spcPts val="2800"/>
              </a:lnSpc>
              <a:buNone/>
            </a:pPr>
            <a:r>
              <a:rPr lang="en-US" sz="1750" dirty="0">
                <a:solidFill>
                  <a:srgbClr val="464646"/>
                </a:solidFill>
                <a:latin typeface="Inter Medium" pitchFamily="34" charset="0"/>
                <a:ea typeface="Inter Medium" pitchFamily="34" charset="-122"/>
                <a:cs typeface="Inter Medium" pitchFamily="34" charset="-120"/>
              </a:rPr>
              <a:t>Kategorileştirme, temel atıf hatası</a:t>
            </a:r>
            <a:endParaRPr lang="en-US" sz="1750" dirty="0"/>
          </a:p>
        </p:txBody>
      </p:sp>
      <p:sp>
        <p:nvSpPr>
          <p:cNvPr id="18" name="Text 13"/>
          <p:cNvSpPr/>
          <p:nvPr/>
        </p:nvSpPr>
        <p:spPr>
          <a:xfrm>
            <a:off x="787241" y="6637853"/>
            <a:ext cx="13055918" cy="359807"/>
          </a:xfrm>
          <a:prstGeom prst="rect">
            <a:avLst/>
          </a:prstGeom>
          <a:noFill/>
          <a:ln/>
        </p:spPr>
        <p:txBody>
          <a:bodyPr wrap="none" lIns="0" tIns="0" rIns="0" bIns="0" rtlCol="0" anchor="t"/>
          <a:lstStyle/>
          <a:p>
            <a:pPr marL="0" indent="0">
              <a:lnSpc>
                <a:spcPts val="2800"/>
              </a:lnSpc>
              <a:buNone/>
            </a:pPr>
            <a:endParaRPr lang="en-US" sz="1750" dirty="0"/>
          </a:p>
        </p:txBody>
      </p:sp>
      <p:sp>
        <p:nvSpPr>
          <p:cNvPr id="19" name="Text 14"/>
          <p:cNvSpPr/>
          <p:nvPr/>
        </p:nvSpPr>
        <p:spPr>
          <a:xfrm>
            <a:off x="787241" y="7250668"/>
            <a:ext cx="13055918" cy="359807"/>
          </a:xfrm>
          <a:prstGeom prst="rect">
            <a:avLst/>
          </a:prstGeom>
          <a:noFill/>
          <a:ln/>
        </p:spPr>
        <p:txBody>
          <a:bodyPr wrap="none" lIns="0" tIns="0" rIns="0" bIns="0" rtlCol="0" anchor="t"/>
          <a:lstStyle/>
          <a:p>
            <a:pPr marL="0" indent="0">
              <a:lnSpc>
                <a:spcPts val="2800"/>
              </a:lnSpc>
              <a:buNone/>
            </a:pP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8899" y="729853"/>
            <a:ext cx="7038142" cy="641866"/>
          </a:xfrm>
          <a:prstGeom prst="rect">
            <a:avLst/>
          </a:prstGeom>
          <a:noFill/>
          <a:ln/>
        </p:spPr>
        <p:txBody>
          <a:bodyPr wrap="none" lIns="0" tIns="0" rIns="0" bIns="0" rtlCol="0" anchor="t"/>
          <a:lstStyle/>
          <a:p>
            <a:pPr marL="0" indent="0">
              <a:lnSpc>
                <a:spcPts val="5050"/>
              </a:lnSpc>
              <a:buNone/>
            </a:pPr>
            <a:r>
              <a:rPr lang="en-US" sz="4000" dirty="0">
                <a:solidFill>
                  <a:srgbClr val="030303"/>
                </a:solidFill>
                <a:latin typeface="DM Sans Semi Bold" pitchFamily="34" charset="0"/>
                <a:ea typeface="DM Sans Semi Bold" pitchFamily="34" charset="-122"/>
                <a:cs typeface="DM Sans Semi Bold" pitchFamily="34" charset="-120"/>
              </a:rPr>
              <a:t>Önyargının Sosyal Kaynakları</a:t>
            </a:r>
            <a:endParaRPr lang="en-US" sz="4000" dirty="0"/>
          </a:p>
        </p:txBody>
      </p:sp>
      <p:sp>
        <p:nvSpPr>
          <p:cNvPr id="3" name="Text 1"/>
          <p:cNvSpPr/>
          <p:nvPr/>
        </p:nvSpPr>
        <p:spPr>
          <a:xfrm>
            <a:off x="718899" y="1782485"/>
            <a:ext cx="13192601" cy="328613"/>
          </a:xfrm>
          <a:prstGeom prst="rect">
            <a:avLst/>
          </a:prstGeom>
          <a:noFill/>
          <a:ln/>
        </p:spPr>
        <p:txBody>
          <a:bodyPr wrap="none" lIns="0" tIns="0" rIns="0" bIns="0" rtlCol="0" anchor="t"/>
          <a:lstStyle/>
          <a:p>
            <a:pPr marL="0" indent="0">
              <a:lnSpc>
                <a:spcPts val="2550"/>
              </a:lnSpc>
              <a:buNone/>
            </a:pPr>
            <a:r>
              <a:rPr lang="en-US" sz="1600" dirty="0">
                <a:solidFill>
                  <a:srgbClr val="464646"/>
                </a:solidFill>
                <a:latin typeface="Inter Medium" pitchFamily="34" charset="0"/>
                <a:ea typeface="Inter Medium" pitchFamily="34" charset="-122"/>
                <a:cs typeface="Inter Medium" pitchFamily="34" charset="-120"/>
              </a:rPr>
              <a:t>Sosyal statüler arasındaki farklar ve insanların bu farkları sürdürmeye çalışmak istemesi.</a:t>
            </a:r>
            <a:endParaRPr lang="en-US" sz="1600" dirty="0"/>
          </a:p>
        </p:txBody>
      </p:sp>
      <p:sp>
        <p:nvSpPr>
          <p:cNvPr id="4" name="Text 2"/>
          <p:cNvSpPr/>
          <p:nvPr/>
        </p:nvSpPr>
        <p:spPr>
          <a:xfrm>
            <a:off x="718899" y="2342078"/>
            <a:ext cx="13192601" cy="657225"/>
          </a:xfrm>
          <a:prstGeom prst="rect">
            <a:avLst/>
          </a:prstGeom>
          <a:noFill/>
          <a:ln/>
        </p:spPr>
        <p:txBody>
          <a:bodyPr wrap="square" lIns="0" tIns="0" rIns="0" bIns="0" rtlCol="0" anchor="t"/>
          <a:lstStyle/>
          <a:p>
            <a:pPr marL="0" indent="0">
              <a:lnSpc>
                <a:spcPts val="2550"/>
              </a:lnSpc>
              <a:buNone/>
            </a:pPr>
            <a:r>
              <a:rPr lang="en-US" sz="1600" dirty="0">
                <a:solidFill>
                  <a:srgbClr val="464646"/>
                </a:solidFill>
                <a:latin typeface="Inter Medium" pitchFamily="34" charset="0"/>
                <a:ea typeface="Inter Medium" pitchFamily="34" charset="-122"/>
                <a:cs typeface="Inter Medium" pitchFamily="34" charset="-120"/>
              </a:rPr>
              <a:t>Göreceli yoksunluk- birey ve grupların beklentilerinin konusu olan şeylerin mutlak yoksunluğundansa diğerlerine göre kıyaslanması sonucu eksiklik olarak değerlendirilmesi </a:t>
            </a:r>
            <a:endParaRPr lang="en-US" sz="1600" dirty="0"/>
          </a:p>
        </p:txBody>
      </p:sp>
      <p:sp>
        <p:nvSpPr>
          <p:cNvPr id="5" name="Text 3"/>
          <p:cNvSpPr/>
          <p:nvPr/>
        </p:nvSpPr>
        <p:spPr>
          <a:xfrm>
            <a:off x="718899" y="3230285"/>
            <a:ext cx="13192601" cy="657225"/>
          </a:xfrm>
          <a:prstGeom prst="rect">
            <a:avLst/>
          </a:prstGeom>
          <a:noFill/>
          <a:ln/>
        </p:spPr>
        <p:txBody>
          <a:bodyPr wrap="square" lIns="0" tIns="0" rIns="0" bIns="0" rtlCol="0" anchor="t"/>
          <a:lstStyle/>
          <a:p>
            <a:pPr marL="0" indent="0">
              <a:lnSpc>
                <a:spcPts val="2550"/>
              </a:lnSpc>
              <a:buNone/>
            </a:pPr>
            <a:r>
              <a:rPr lang="en-US" sz="1600" dirty="0">
                <a:solidFill>
                  <a:srgbClr val="464646"/>
                </a:solidFill>
                <a:latin typeface="Inter Medium" pitchFamily="34" charset="0"/>
                <a:ea typeface="Inter Medium" pitchFamily="34" charset="-122"/>
                <a:cs typeface="Inter Medium" pitchFamily="34" charset="-120"/>
              </a:rPr>
              <a:t>Sosyalleşme sürecinde kazandığımız değerler ve tutumlar (Anne babaların sahip olduğu örtük önyargılar bile çocuklarda somut önyargılar doğurabilir). </a:t>
            </a:r>
            <a:endParaRPr lang="en-US" sz="1600" dirty="0"/>
          </a:p>
        </p:txBody>
      </p:sp>
      <p:sp>
        <p:nvSpPr>
          <p:cNvPr id="6" name="Shape 4"/>
          <p:cNvSpPr/>
          <p:nvPr/>
        </p:nvSpPr>
        <p:spPr>
          <a:xfrm>
            <a:off x="718899" y="4426506"/>
            <a:ext cx="6442234" cy="205383"/>
          </a:xfrm>
          <a:prstGeom prst="roundRect">
            <a:avLst>
              <a:gd name="adj" fmla="val 15002"/>
            </a:avLst>
          </a:prstGeom>
          <a:solidFill>
            <a:srgbClr val="F2EEEE"/>
          </a:solidFill>
          <a:ln/>
        </p:spPr>
      </p:sp>
      <p:sp>
        <p:nvSpPr>
          <p:cNvPr id="7" name="Text 5"/>
          <p:cNvSpPr/>
          <p:nvPr/>
        </p:nvSpPr>
        <p:spPr>
          <a:xfrm>
            <a:off x="718899" y="4939903"/>
            <a:ext cx="3031450" cy="320992"/>
          </a:xfrm>
          <a:prstGeom prst="rect">
            <a:avLst/>
          </a:prstGeom>
          <a:noFill/>
          <a:ln/>
        </p:spPr>
        <p:txBody>
          <a:bodyPr wrap="none" lIns="0" tIns="0" rIns="0" bIns="0" rtlCol="0" anchor="t"/>
          <a:lstStyle/>
          <a:p>
            <a:pPr marL="0" indent="0" algn="l">
              <a:lnSpc>
                <a:spcPts val="2500"/>
              </a:lnSpc>
              <a:buNone/>
            </a:pPr>
            <a:r>
              <a:rPr lang="en-US" sz="2000" dirty="0">
                <a:solidFill>
                  <a:srgbClr val="464646"/>
                </a:solidFill>
                <a:latin typeface="DM Sans Semi Bold" pitchFamily="34" charset="0"/>
                <a:ea typeface="DM Sans Semi Bold" pitchFamily="34" charset="-122"/>
                <a:cs typeface="DM Sans Semi Bold" pitchFamily="34" charset="-120"/>
              </a:rPr>
              <a:t>Sosyal Baskınlık Yönelimi</a:t>
            </a:r>
            <a:endParaRPr lang="en-US" sz="2000" dirty="0"/>
          </a:p>
        </p:txBody>
      </p:sp>
      <p:sp>
        <p:nvSpPr>
          <p:cNvPr id="8" name="Text 6"/>
          <p:cNvSpPr/>
          <p:nvPr/>
        </p:nvSpPr>
        <p:spPr>
          <a:xfrm>
            <a:off x="718899" y="5384125"/>
            <a:ext cx="6442234" cy="657225"/>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Birinin, ait olduğu grubunun diğer sosyal grupları domine etme motivasyonuna sahip olması (Sidanus ve Pratto, 1999). </a:t>
            </a:r>
            <a:endParaRPr lang="en-US" sz="1600" dirty="0"/>
          </a:p>
        </p:txBody>
      </p:sp>
      <p:sp>
        <p:nvSpPr>
          <p:cNvPr id="9" name="Text 7"/>
          <p:cNvSpPr/>
          <p:nvPr/>
        </p:nvSpPr>
        <p:spPr>
          <a:xfrm>
            <a:off x="718899" y="6164580"/>
            <a:ext cx="6442234" cy="985837"/>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Zirvede olma arzusu, yüksek sosyal baskınlık eğilimine sahip olan insanların önyargılı olmalarına ve önyargıyı meşru kılacak sosyal pozisyonları desteklemelerine yol açabilir.</a:t>
            </a:r>
            <a:endParaRPr lang="en-US" sz="1600" dirty="0"/>
          </a:p>
        </p:txBody>
      </p:sp>
      <p:sp>
        <p:nvSpPr>
          <p:cNvPr id="10" name="Shape 8"/>
          <p:cNvSpPr/>
          <p:nvPr/>
        </p:nvSpPr>
        <p:spPr>
          <a:xfrm>
            <a:off x="7469148" y="4118491"/>
            <a:ext cx="6442353" cy="205383"/>
          </a:xfrm>
          <a:prstGeom prst="roundRect">
            <a:avLst>
              <a:gd name="adj" fmla="val 15002"/>
            </a:avLst>
          </a:prstGeom>
          <a:solidFill>
            <a:srgbClr val="F2EEEE"/>
          </a:solidFill>
          <a:ln/>
        </p:spPr>
      </p:sp>
      <p:sp>
        <p:nvSpPr>
          <p:cNvPr id="11" name="Text 9"/>
          <p:cNvSpPr/>
          <p:nvPr/>
        </p:nvSpPr>
        <p:spPr>
          <a:xfrm>
            <a:off x="7469148" y="4631888"/>
            <a:ext cx="2567583" cy="320992"/>
          </a:xfrm>
          <a:prstGeom prst="rect">
            <a:avLst/>
          </a:prstGeom>
          <a:noFill/>
          <a:ln/>
        </p:spPr>
        <p:txBody>
          <a:bodyPr wrap="none" lIns="0" tIns="0" rIns="0" bIns="0" rtlCol="0" anchor="t"/>
          <a:lstStyle/>
          <a:p>
            <a:pPr marL="0" indent="0" algn="l">
              <a:lnSpc>
                <a:spcPts val="2500"/>
              </a:lnSpc>
              <a:buNone/>
            </a:pPr>
            <a:r>
              <a:rPr lang="en-US" sz="2000" dirty="0">
                <a:solidFill>
                  <a:srgbClr val="464646"/>
                </a:solidFill>
                <a:latin typeface="DM Sans Semi Bold" pitchFamily="34" charset="0"/>
                <a:ea typeface="DM Sans Semi Bold" pitchFamily="34" charset="-122"/>
                <a:cs typeface="DM Sans Semi Bold" pitchFamily="34" charset="-120"/>
              </a:rPr>
              <a:t>Otoriter Kişilik</a:t>
            </a:r>
            <a:endParaRPr lang="en-US" sz="2000" dirty="0"/>
          </a:p>
        </p:txBody>
      </p:sp>
      <p:sp>
        <p:nvSpPr>
          <p:cNvPr id="12" name="Text 10"/>
          <p:cNvSpPr/>
          <p:nvPr/>
        </p:nvSpPr>
        <p:spPr>
          <a:xfrm>
            <a:off x="7469148" y="5076111"/>
            <a:ext cx="6442353" cy="657225"/>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Önyargı ve kalıpyargısallaştırmaya özellikle eğilimli olan otoriter bir kişilik (Adorno, Frenkel-Brunswik, Levinson ve Sanford, 1950). </a:t>
            </a:r>
            <a:endParaRPr lang="en-US" sz="1600" dirty="0"/>
          </a:p>
        </p:txBody>
      </p:sp>
      <p:sp>
        <p:nvSpPr>
          <p:cNvPr id="13" name="Text 11"/>
          <p:cNvSpPr/>
          <p:nvPr/>
        </p:nvSpPr>
        <p:spPr>
          <a:xfrm>
            <a:off x="7469148" y="5856565"/>
            <a:ext cx="6442353" cy="1643063"/>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Bu kişilik yapısındaki bireylerin çocukluk yaşantılarında sıkı disipline maruz kalmış; cinsellik ve saldırganlık dürtüleriyle ilgili çatışmalarını dengeleyebilmek için otoriter bir kişilik geliştiren ve geçmişteki baskılanmışlıklarından kaynaklanan düşmanlıklarını, öfkelerini başkalarına yansıtan kişiler oldukları varsayılır. </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353503"/>
            <a:ext cx="9621560" cy="708779"/>
          </a:xfrm>
          <a:prstGeom prst="rect">
            <a:avLst/>
          </a:prstGeom>
          <a:noFill/>
          <a:ln/>
        </p:spPr>
        <p:txBody>
          <a:bodyPr wrap="non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Önyargının Motivasyonel Kaynakları</a:t>
            </a:r>
            <a:endParaRPr lang="en-US" sz="4450" dirty="0"/>
          </a:p>
        </p:txBody>
      </p:sp>
      <p:sp>
        <p:nvSpPr>
          <p:cNvPr id="3" name="Text 1"/>
          <p:cNvSpPr/>
          <p:nvPr/>
        </p:nvSpPr>
        <p:spPr>
          <a:xfrm>
            <a:off x="793790" y="2629257"/>
            <a:ext cx="6244709" cy="708660"/>
          </a:xfrm>
          <a:prstGeom prst="rect">
            <a:avLst/>
          </a:prstGeom>
          <a:noFill/>
          <a:ln/>
        </p:spPr>
        <p:txBody>
          <a:bodyPr wrap="square" lIns="0" tIns="0" rIns="0" bIns="0" rtlCol="0" anchor="t"/>
          <a:lstStyle/>
          <a:p>
            <a:pPr marL="0" indent="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Engellenme-Saldırganlık Kuramı (Dollard, Doob, Miller, Mowrer ve Sears, 1939)</a:t>
            </a:r>
            <a:endParaRPr lang="en-US" sz="2200" dirty="0"/>
          </a:p>
        </p:txBody>
      </p:sp>
      <p:sp>
        <p:nvSpPr>
          <p:cNvPr id="4" name="Text 2"/>
          <p:cNvSpPr/>
          <p:nvPr/>
        </p:nvSpPr>
        <p:spPr>
          <a:xfrm>
            <a:off x="793790" y="3564731"/>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Bireylerin amaçlarına giden yolda karşılaştıkları bir zorluk/engel durumunda yaşadıkları olumsuz duygular saldırgan davranışlar göstermelerine sebep olabilir.</a:t>
            </a:r>
            <a:endParaRPr lang="en-US" sz="1750" dirty="0"/>
          </a:p>
        </p:txBody>
      </p:sp>
      <p:sp>
        <p:nvSpPr>
          <p:cNvPr id="5" name="Text 3"/>
          <p:cNvSpPr/>
          <p:nvPr/>
        </p:nvSpPr>
        <p:spPr>
          <a:xfrm>
            <a:off x="793790" y="4857512"/>
            <a:ext cx="6244709" cy="1814513"/>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Bu kuramdan yararlanılarak ortaya atılan 'Günah Keçisi Kuramı'na' göre ise bireyler karşılaştıkları zorluklar ve engeller karşısında yaşadıkları olumsuz duyguları bu engellerin kaynağı yerine daha zayıf ve günah keçisi olarak gördükleri başka kaynaklara yöneltir.</a:t>
            </a:r>
            <a:endParaRPr lang="en-US" sz="1750" dirty="0"/>
          </a:p>
        </p:txBody>
      </p:sp>
      <p:sp>
        <p:nvSpPr>
          <p:cNvPr id="6" name="Text 4"/>
          <p:cNvSpPr/>
          <p:nvPr/>
        </p:nvSpPr>
        <p:spPr>
          <a:xfrm>
            <a:off x="7599521" y="2629257"/>
            <a:ext cx="5877639" cy="354330"/>
          </a:xfrm>
          <a:prstGeom prst="rect">
            <a:avLst/>
          </a:prstGeom>
          <a:noFill/>
          <a:ln/>
        </p:spPr>
        <p:txBody>
          <a:bodyPr wrap="none" lIns="0" tIns="0" rIns="0" bIns="0" rtlCol="0" anchor="t"/>
          <a:lstStyle/>
          <a:p>
            <a:pPr marL="0" indent="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Sosyal Kimlik Kuramı (Tajfel ve Turner, 1970)</a:t>
            </a:r>
            <a:endParaRPr lang="en-US" sz="2200" dirty="0"/>
          </a:p>
        </p:txBody>
      </p:sp>
      <p:sp>
        <p:nvSpPr>
          <p:cNvPr id="7" name="Text 5"/>
          <p:cNvSpPr/>
          <p:nvPr/>
        </p:nvSpPr>
        <p:spPr>
          <a:xfrm>
            <a:off x="7599521" y="3210401"/>
            <a:ext cx="6244709" cy="1451610"/>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Bireyin kendini sınıflama yoluyla bir gruba ait hissetmesi ve özdeşim kurması ile benlik saygısını korumak ve yüceltmek için kendi iç grubunu kayırıp, diğer dış grupların üyelerini ötekileştirmesi. </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211699"/>
            <a:ext cx="7898606" cy="708779"/>
          </a:xfrm>
          <a:prstGeom prst="rect">
            <a:avLst/>
          </a:prstGeom>
          <a:noFill/>
          <a:ln/>
        </p:spPr>
        <p:txBody>
          <a:bodyPr wrap="non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Önyargının Bilişsel Kaynakları</a:t>
            </a:r>
            <a:endParaRPr lang="en-US" sz="4450" dirty="0"/>
          </a:p>
        </p:txBody>
      </p:sp>
      <p:sp>
        <p:nvSpPr>
          <p:cNvPr id="3" name="Text 1"/>
          <p:cNvSpPr/>
          <p:nvPr/>
        </p:nvSpPr>
        <p:spPr>
          <a:xfrm>
            <a:off x="793790" y="2487454"/>
            <a:ext cx="5085755" cy="425291"/>
          </a:xfrm>
          <a:prstGeom prst="rect">
            <a:avLst/>
          </a:prstGeom>
          <a:noFill/>
          <a:ln/>
        </p:spPr>
        <p:txBody>
          <a:bodyPr wrap="none" lIns="0" tIns="0" rIns="0" bIns="0" rtlCol="0" anchor="t"/>
          <a:lstStyle/>
          <a:p>
            <a:pPr marL="0" indent="0">
              <a:lnSpc>
                <a:spcPts val="3300"/>
              </a:lnSpc>
              <a:buNone/>
            </a:pPr>
            <a:r>
              <a:rPr lang="en-US" sz="2650" dirty="0">
                <a:solidFill>
                  <a:srgbClr val="030303"/>
                </a:solidFill>
                <a:latin typeface="DM Sans Semi Bold" pitchFamily="34" charset="0"/>
                <a:ea typeface="DM Sans Semi Bold" pitchFamily="34" charset="-122"/>
                <a:cs typeface="DM Sans Semi Bold" pitchFamily="34" charset="-120"/>
              </a:rPr>
              <a:t>Sınıflandırma/Kategorileştirme </a:t>
            </a:r>
            <a:endParaRPr lang="en-US" sz="2650" dirty="0"/>
          </a:p>
        </p:txBody>
      </p:sp>
      <p:sp>
        <p:nvSpPr>
          <p:cNvPr id="4" name="Text 2"/>
          <p:cNvSpPr/>
          <p:nvPr/>
        </p:nvSpPr>
        <p:spPr>
          <a:xfrm>
            <a:off x="793790" y="3139559"/>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Çeşitli grupları ten, göz, saç rengi gibi bedensel özellikleri üzerinden kategorilere ayırıp, onlara bu özellikleri üzerinden çeşitli etiketler yapıştırmak. </a:t>
            </a:r>
            <a:endParaRPr lang="en-US" sz="1750" dirty="0"/>
          </a:p>
        </p:txBody>
      </p:sp>
      <p:sp>
        <p:nvSpPr>
          <p:cNvPr id="5" name="Text 3"/>
          <p:cNvSpPr/>
          <p:nvPr/>
        </p:nvSpPr>
        <p:spPr>
          <a:xfrm>
            <a:off x="793790" y="4432340"/>
            <a:ext cx="6244709" cy="1814513"/>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Sosyal kimlik kuramının öne sürdüğü bireylerin iç grupları daha heterojen, dış grupları ise daha homojen değerlendirme ve grup içindeki benzerliklerin ve dış grupla arasındaki farklılıkların abartılma eğiliminden (Tajfel ve Turner, 2004) kaynaklanabilir. </a:t>
            </a:r>
            <a:endParaRPr lang="en-US" sz="1750" dirty="0"/>
          </a:p>
        </p:txBody>
      </p:sp>
      <p:sp>
        <p:nvSpPr>
          <p:cNvPr id="6" name="Text 4"/>
          <p:cNvSpPr/>
          <p:nvPr/>
        </p:nvSpPr>
        <p:spPr>
          <a:xfrm>
            <a:off x="793790" y="6450925"/>
            <a:ext cx="6244709" cy="362903"/>
          </a:xfrm>
          <a:prstGeom prst="rect">
            <a:avLst/>
          </a:prstGeom>
          <a:noFill/>
          <a:ln/>
        </p:spPr>
        <p:txBody>
          <a:bodyPr wrap="none" lIns="0" tIns="0" rIns="0" bIns="0" rtlCol="0" anchor="t"/>
          <a:lstStyle/>
          <a:p>
            <a:pPr marL="0" indent="0">
              <a:lnSpc>
                <a:spcPts val="2850"/>
              </a:lnSpc>
              <a:buNone/>
            </a:pPr>
            <a:endParaRPr lang="en-US" sz="1750" dirty="0"/>
          </a:p>
        </p:txBody>
      </p:sp>
      <p:sp>
        <p:nvSpPr>
          <p:cNvPr id="7" name="Text 5"/>
          <p:cNvSpPr/>
          <p:nvPr/>
        </p:nvSpPr>
        <p:spPr>
          <a:xfrm>
            <a:off x="7599521" y="2487454"/>
            <a:ext cx="3402330" cy="425291"/>
          </a:xfrm>
          <a:prstGeom prst="rect">
            <a:avLst/>
          </a:prstGeom>
          <a:noFill/>
          <a:ln/>
        </p:spPr>
        <p:txBody>
          <a:bodyPr wrap="none" lIns="0" tIns="0" rIns="0" bIns="0" rtlCol="0" anchor="t"/>
          <a:lstStyle/>
          <a:p>
            <a:pPr marL="0" indent="0">
              <a:lnSpc>
                <a:spcPts val="3300"/>
              </a:lnSpc>
              <a:buNone/>
            </a:pPr>
            <a:r>
              <a:rPr lang="en-US" sz="2650" dirty="0">
                <a:solidFill>
                  <a:srgbClr val="030303"/>
                </a:solidFill>
                <a:latin typeface="DM Sans Semi Bold" pitchFamily="34" charset="0"/>
                <a:ea typeface="DM Sans Semi Bold" pitchFamily="34" charset="-122"/>
                <a:cs typeface="DM Sans Semi Bold" pitchFamily="34" charset="-120"/>
              </a:rPr>
              <a:t>Temel Atıf Hatası</a:t>
            </a:r>
            <a:endParaRPr lang="en-US" sz="2650" dirty="0"/>
          </a:p>
        </p:txBody>
      </p:sp>
      <p:sp>
        <p:nvSpPr>
          <p:cNvPr id="8" name="Text 6"/>
          <p:cNvSpPr/>
          <p:nvPr/>
        </p:nvSpPr>
        <p:spPr>
          <a:xfrm>
            <a:off x="7599521" y="3139559"/>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Diğerlerinin davranışlarını açıklarken durumsal faktörlerin etkisini göz ardı edip, bireylerin doğal özelliklerinin etkisini ön plana çıkarmak (Myers, 2002). </a:t>
            </a:r>
            <a:endParaRPr lang="en-US" sz="1750" dirty="0"/>
          </a:p>
        </p:txBody>
      </p:sp>
      <p:sp>
        <p:nvSpPr>
          <p:cNvPr id="9" name="Text 7"/>
          <p:cNvSpPr/>
          <p:nvPr/>
        </p:nvSpPr>
        <p:spPr>
          <a:xfrm>
            <a:off x="7599521" y="4432340"/>
            <a:ext cx="6244709" cy="362903"/>
          </a:xfrm>
          <a:prstGeom prst="rect">
            <a:avLst/>
          </a:prstGeom>
          <a:noFill/>
          <a:ln/>
        </p:spPr>
        <p:txBody>
          <a:bodyPr wrap="non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Trafiğe takılmak?</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11160" y="628531"/>
            <a:ext cx="8520470" cy="634960"/>
          </a:xfrm>
          <a:prstGeom prst="rect">
            <a:avLst/>
          </a:prstGeom>
          <a:noFill/>
          <a:ln/>
        </p:spPr>
        <p:txBody>
          <a:bodyPr wrap="none" lIns="0" tIns="0" rIns="0" bIns="0" rtlCol="0" anchor="t"/>
          <a:lstStyle/>
          <a:p>
            <a:pPr marL="0" indent="0">
              <a:lnSpc>
                <a:spcPts val="4950"/>
              </a:lnSpc>
              <a:buNone/>
            </a:pPr>
            <a:r>
              <a:rPr lang="en-US" sz="4000" dirty="0">
                <a:solidFill>
                  <a:srgbClr val="030303"/>
                </a:solidFill>
                <a:latin typeface="DM Sans Semi Bold" pitchFamily="34" charset="0"/>
                <a:ea typeface="DM Sans Semi Bold" pitchFamily="34" charset="-122"/>
                <a:cs typeface="DM Sans Semi Bold" pitchFamily="34" charset="-120"/>
              </a:rPr>
              <a:t>Kalıpyargı ve Önyargıların Sonuçları</a:t>
            </a:r>
            <a:endParaRPr lang="en-US" sz="4000" dirty="0"/>
          </a:p>
        </p:txBody>
      </p:sp>
      <p:pic>
        <p:nvPicPr>
          <p:cNvPr id="3" name="Image 0" descr="preencoded.png"/>
          <p:cNvPicPr>
            <a:picLocks noChangeAspect="1"/>
          </p:cNvPicPr>
          <p:nvPr/>
        </p:nvPicPr>
        <p:blipFill>
          <a:blip r:embed="rId3"/>
          <a:stretch>
            <a:fillRect/>
          </a:stretch>
        </p:blipFill>
        <p:spPr>
          <a:xfrm>
            <a:off x="711160" y="1669852"/>
            <a:ext cx="507921" cy="507921"/>
          </a:xfrm>
          <a:prstGeom prst="rect">
            <a:avLst/>
          </a:prstGeom>
        </p:spPr>
      </p:pic>
      <p:sp>
        <p:nvSpPr>
          <p:cNvPr id="4" name="Text 1"/>
          <p:cNvSpPr/>
          <p:nvPr/>
        </p:nvSpPr>
        <p:spPr>
          <a:xfrm>
            <a:off x="711160" y="2380893"/>
            <a:ext cx="2539960" cy="317421"/>
          </a:xfrm>
          <a:prstGeom prst="rect">
            <a:avLst/>
          </a:prstGeom>
          <a:noFill/>
          <a:ln/>
        </p:spPr>
        <p:txBody>
          <a:bodyPr wrap="none" lIns="0" tIns="0" rIns="0" bIns="0" rtlCol="0" anchor="t"/>
          <a:lstStyle/>
          <a:p>
            <a:pPr marL="0" indent="0" algn="l">
              <a:lnSpc>
                <a:spcPts val="2500"/>
              </a:lnSpc>
              <a:buNone/>
            </a:pPr>
            <a:r>
              <a:rPr lang="en-US" sz="1950" dirty="0">
                <a:solidFill>
                  <a:srgbClr val="464646"/>
                </a:solidFill>
                <a:latin typeface="DM Sans Semi Bold" pitchFamily="34" charset="0"/>
                <a:ea typeface="DM Sans Semi Bold" pitchFamily="34" charset="-122"/>
                <a:cs typeface="DM Sans Semi Bold" pitchFamily="34" charset="-120"/>
              </a:rPr>
              <a:t>Kendini Sürdürme</a:t>
            </a:r>
            <a:endParaRPr lang="en-US" sz="1950" dirty="0"/>
          </a:p>
        </p:txBody>
      </p:sp>
      <p:sp>
        <p:nvSpPr>
          <p:cNvPr id="5" name="Text 2"/>
          <p:cNvSpPr/>
          <p:nvPr/>
        </p:nvSpPr>
        <p:spPr>
          <a:xfrm>
            <a:off x="711160" y="2820233"/>
            <a:ext cx="3073360" cy="1950958"/>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Kalıpyargılar bir kez oluştuğunda kendilerini sürdürme ve değişime direnme eğilimindedir ve kendi kendini gerçekleştiren kehanetlerle kendi gerçekliklerini yaratırlar.</a:t>
            </a:r>
            <a:endParaRPr lang="en-US" sz="1600" dirty="0"/>
          </a:p>
        </p:txBody>
      </p:sp>
      <p:pic>
        <p:nvPicPr>
          <p:cNvPr id="6" name="Image 1" descr="preencoded.png"/>
          <p:cNvPicPr>
            <a:picLocks noChangeAspect="1"/>
          </p:cNvPicPr>
          <p:nvPr/>
        </p:nvPicPr>
        <p:blipFill>
          <a:blip r:embed="rId4"/>
          <a:stretch>
            <a:fillRect/>
          </a:stretch>
        </p:blipFill>
        <p:spPr>
          <a:xfrm>
            <a:off x="4089321" y="1669852"/>
            <a:ext cx="507921" cy="507921"/>
          </a:xfrm>
          <a:prstGeom prst="rect">
            <a:avLst/>
          </a:prstGeom>
        </p:spPr>
      </p:pic>
      <p:sp>
        <p:nvSpPr>
          <p:cNvPr id="7" name="Text 3"/>
          <p:cNvSpPr/>
          <p:nvPr/>
        </p:nvSpPr>
        <p:spPr>
          <a:xfrm>
            <a:off x="4089321" y="2380893"/>
            <a:ext cx="2539960" cy="317421"/>
          </a:xfrm>
          <a:prstGeom prst="rect">
            <a:avLst/>
          </a:prstGeom>
          <a:noFill/>
          <a:ln/>
        </p:spPr>
        <p:txBody>
          <a:bodyPr wrap="none" lIns="0" tIns="0" rIns="0" bIns="0" rtlCol="0" anchor="t"/>
          <a:lstStyle/>
          <a:p>
            <a:pPr marL="0" indent="0" algn="l">
              <a:lnSpc>
                <a:spcPts val="2500"/>
              </a:lnSpc>
              <a:buNone/>
            </a:pPr>
            <a:r>
              <a:rPr lang="en-US" sz="1950" dirty="0">
                <a:solidFill>
                  <a:srgbClr val="464646"/>
                </a:solidFill>
                <a:latin typeface="DM Sans Semi Bold" pitchFamily="34" charset="0"/>
                <a:ea typeface="DM Sans Semi Bold" pitchFamily="34" charset="-122"/>
                <a:cs typeface="DM Sans Semi Bold" pitchFamily="34" charset="-120"/>
              </a:rPr>
              <a:t>Kalıpyargı Tehdidi</a:t>
            </a:r>
            <a:endParaRPr lang="en-US" sz="1950" dirty="0"/>
          </a:p>
        </p:txBody>
      </p:sp>
      <p:sp>
        <p:nvSpPr>
          <p:cNvPr id="8" name="Text 4"/>
          <p:cNvSpPr/>
          <p:nvPr/>
        </p:nvSpPr>
        <p:spPr>
          <a:xfrm>
            <a:off x="4089321" y="2820233"/>
            <a:ext cx="3073479" cy="4227076"/>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Kalıpyargılar, 'kalıpyargı tehdidi' (bir kişinin olumsuz bir kalıpyargıya göre değerlendirileceğine dair kendini doğrulayan bir endişeyi içeren durum) ortaya çıkarabilir. Negatif kalıpyargıların olduğu ortamda yargılanma ve kötü davranılma korkusunun kişinin performanslarını etkileyebileceği durumlarda gerçekleşir.</a:t>
            </a:r>
            <a:endParaRPr lang="en-US" sz="1600" dirty="0"/>
          </a:p>
        </p:txBody>
      </p:sp>
      <p:pic>
        <p:nvPicPr>
          <p:cNvPr id="9" name="Image 2" descr="preencoded.png"/>
          <p:cNvPicPr>
            <a:picLocks noChangeAspect="1"/>
          </p:cNvPicPr>
          <p:nvPr/>
        </p:nvPicPr>
        <p:blipFill>
          <a:blip r:embed="rId5"/>
          <a:stretch>
            <a:fillRect/>
          </a:stretch>
        </p:blipFill>
        <p:spPr>
          <a:xfrm>
            <a:off x="7467600" y="1669852"/>
            <a:ext cx="507921" cy="507921"/>
          </a:xfrm>
          <a:prstGeom prst="rect">
            <a:avLst/>
          </a:prstGeom>
        </p:spPr>
      </p:pic>
      <p:sp>
        <p:nvSpPr>
          <p:cNvPr id="10" name="Text 5"/>
          <p:cNvSpPr/>
          <p:nvPr/>
        </p:nvSpPr>
        <p:spPr>
          <a:xfrm>
            <a:off x="7467600" y="2380893"/>
            <a:ext cx="2539960" cy="317421"/>
          </a:xfrm>
          <a:prstGeom prst="rect">
            <a:avLst/>
          </a:prstGeom>
          <a:noFill/>
          <a:ln/>
        </p:spPr>
        <p:txBody>
          <a:bodyPr wrap="none" lIns="0" tIns="0" rIns="0" bIns="0" rtlCol="0" anchor="t"/>
          <a:lstStyle/>
          <a:p>
            <a:pPr marL="0" indent="0" algn="l">
              <a:lnSpc>
                <a:spcPts val="2500"/>
              </a:lnSpc>
              <a:buNone/>
            </a:pPr>
            <a:r>
              <a:rPr lang="en-US" sz="1950" dirty="0">
                <a:solidFill>
                  <a:srgbClr val="464646"/>
                </a:solidFill>
                <a:latin typeface="DM Sans Semi Bold" pitchFamily="34" charset="0"/>
                <a:ea typeface="DM Sans Semi Bold" pitchFamily="34" charset="-122"/>
                <a:cs typeface="DM Sans Semi Bold" pitchFamily="34" charset="-120"/>
              </a:rPr>
              <a:t>Bilişsel Etkiler</a:t>
            </a:r>
            <a:endParaRPr lang="en-US" sz="1950" dirty="0"/>
          </a:p>
        </p:txBody>
      </p:sp>
      <p:sp>
        <p:nvSpPr>
          <p:cNvPr id="11" name="Text 6"/>
          <p:cNvSpPr/>
          <p:nvPr/>
        </p:nvSpPr>
        <p:spPr>
          <a:xfrm>
            <a:off x="7467600" y="2820233"/>
            <a:ext cx="3073360" cy="3251597"/>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Kalıpyargı ve önyargılar dikkatimizi ve anılarımızı da yönlendirir. Örneğin bir kişiyle ilgili edindiğimiz olumsuz bir kalıpyargısal bilgiyi aklımızda daha iyi tutar; o kişiyle etkileşime girdiğimizde diğer bilgileri göz ardı ederek bu kalıpyargı üzerinden ilişki kurarız.</a:t>
            </a:r>
            <a:endParaRPr lang="en-US" sz="1600" dirty="0"/>
          </a:p>
        </p:txBody>
      </p:sp>
      <p:pic>
        <p:nvPicPr>
          <p:cNvPr id="12" name="Image 3" descr="preencoded.png"/>
          <p:cNvPicPr>
            <a:picLocks noChangeAspect="1"/>
          </p:cNvPicPr>
          <p:nvPr/>
        </p:nvPicPr>
        <p:blipFill>
          <a:blip r:embed="rId6"/>
          <a:stretch>
            <a:fillRect/>
          </a:stretch>
        </p:blipFill>
        <p:spPr>
          <a:xfrm>
            <a:off x="10845760" y="1669852"/>
            <a:ext cx="507921" cy="507921"/>
          </a:xfrm>
          <a:prstGeom prst="rect">
            <a:avLst/>
          </a:prstGeom>
        </p:spPr>
      </p:pic>
      <p:sp>
        <p:nvSpPr>
          <p:cNvPr id="13" name="Text 7"/>
          <p:cNvSpPr/>
          <p:nvPr/>
        </p:nvSpPr>
        <p:spPr>
          <a:xfrm>
            <a:off x="10845760" y="2380893"/>
            <a:ext cx="2539960" cy="317421"/>
          </a:xfrm>
          <a:prstGeom prst="rect">
            <a:avLst/>
          </a:prstGeom>
          <a:noFill/>
          <a:ln/>
        </p:spPr>
        <p:txBody>
          <a:bodyPr wrap="none" lIns="0" tIns="0" rIns="0" bIns="0" rtlCol="0" anchor="t"/>
          <a:lstStyle/>
          <a:p>
            <a:pPr marL="0" indent="0" algn="l">
              <a:lnSpc>
                <a:spcPts val="2500"/>
              </a:lnSpc>
              <a:buNone/>
            </a:pPr>
            <a:r>
              <a:rPr lang="en-US" sz="1950" dirty="0">
                <a:solidFill>
                  <a:srgbClr val="464646"/>
                </a:solidFill>
                <a:latin typeface="DM Sans Semi Bold" pitchFamily="34" charset="0"/>
                <a:ea typeface="DM Sans Semi Bold" pitchFamily="34" charset="-122"/>
                <a:cs typeface="DM Sans Semi Bold" pitchFamily="34" charset="-120"/>
              </a:rPr>
              <a:t>Nefret Suçları</a:t>
            </a:r>
            <a:endParaRPr lang="en-US" sz="1950" dirty="0"/>
          </a:p>
        </p:txBody>
      </p:sp>
      <p:sp>
        <p:nvSpPr>
          <p:cNvPr id="14" name="Text 8"/>
          <p:cNvSpPr/>
          <p:nvPr/>
        </p:nvSpPr>
        <p:spPr>
          <a:xfrm>
            <a:off x="10845760" y="2820233"/>
            <a:ext cx="3073479" cy="4227076"/>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Önyargıların sebep olduğu en uç örneklerden biridir. Bireylerin sosyal gruplarına yönelik önyargılardan beslenen; şiddet ve tehdit içeren, yıkıcı, zarar verici ve yasaya aykırı davranışları kapsar. Nefret suçlarına maruz kalan ya da üyesi olduğu grup üyelerinin maruz kaldığını bilen kişiler travma sonrası stres bozukluğu, depresyon, stres ve kaygı yaşayabilir.</a:t>
            </a:r>
            <a:endParaRPr lang="en-US" sz="1600" dirty="0"/>
          </a:p>
        </p:txBody>
      </p:sp>
      <p:sp>
        <p:nvSpPr>
          <p:cNvPr id="15" name="Text 9"/>
          <p:cNvSpPr/>
          <p:nvPr/>
        </p:nvSpPr>
        <p:spPr>
          <a:xfrm>
            <a:off x="711160" y="7275909"/>
            <a:ext cx="13208079" cy="325160"/>
          </a:xfrm>
          <a:prstGeom prst="rect">
            <a:avLst/>
          </a:prstGeom>
          <a:noFill/>
          <a:ln/>
        </p:spPr>
        <p:txBody>
          <a:bodyPr wrap="none" lIns="0" tIns="0" rIns="0" bIns="0" rtlCol="0" anchor="t"/>
          <a:lstStyle/>
          <a:p>
            <a:pPr marL="0" indent="0">
              <a:lnSpc>
                <a:spcPts val="2550"/>
              </a:lnSpc>
              <a:buNone/>
            </a:pP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