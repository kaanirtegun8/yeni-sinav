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4630400" cy="8229600"/>
  <p:notesSz cx="8229600" cy="146304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rimson Pro Semi Bold" pitchFamily="2" charset="0"/>
      <p:regular r:id="rId27"/>
    </p:embeddedFont>
    <p:embeddedFont>
      <p:font typeface="Heebo" pitchFamily="2" charset="-79"/>
      <p:regular r:id="rId28"/>
      <p:bold r:id="rId29"/>
    </p:embeddedFont>
  </p:embeddedFont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4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584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079183" y="784741"/>
            <a:ext cx="8489037" cy="49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Saldırganlık: Kökenleri, Gelişimi ve Medyanın Etkisi</a:t>
            </a:r>
            <a:endParaRPr lang="en-US" sz="3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2064187"/>
            <a:ext cx="12471916" cy="57077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14924" y="2815772"/>
            <a:ext cx="2758927" cy="34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Gelişim ve Medya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10214924" y="3258733"/>
            <a:ext cx="3040951" cy="49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Çocukluk, akranlar, kitle iletişim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410879" y="4815612"/>
            <a:ext cx="2758927" cy="34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Mikro Düzey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1374094" y="5258573"/>
            <a:ext cx="2795713" cy="24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Genetik, fizyoloji, alkol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0214924" y="5784302"/>
            <a:ext cx="2758927" cy="34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Makro Düzey</a:t>
            </a:r>
            <a:endParaRPr lang="en-US" sz="2150" dirty="0"/>
          </a:p>
        </p:txBody>
      </p:sp>
      <p:sp>
        <p:nvSpPr>
          <p:cNvPr id="13" name="Text 9"/>
          <p:cNvSpPr/>
          <p:nvPr/>
        </p:nvSpPr>
        <p:spPr>
          <a:xfrm>
            <a:off x="10214924" y="6227263"/>
            <a:ext cx="3040951" cy="247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Etoloji, sosyobiyoloji, Freud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77208"/>
            <a:ext cx="2071092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1544360"/>
            <a:ext cx="181772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BÖLÜM 1: MAKRO DÜZEY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944886"/>
            <a:ext cx="973133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Etoloji: Saldırganlık Evrimsel Bir Uyum mudur?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041213"/>
            <a:ext cx="69556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Etoloji, hayvan davranışının evrimi ve işlevlerini inceler. Etolojik teoriye göre saldırganlık, bir türün çevresine uyum sağlamasına yardımcı olmak için evrimleşmiş, </a:t>
            </a: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içgüdüsel motivasyonlarla yönetilen</a:t>
            </a: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bir davranıştır.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172426"/>
            <a:ext cx="69556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Saldırgan davranış; bölge savunması, hakimiyet hiyerarşilerinin kurulması ve sosyal örgütlenmenin sürdürülmesinde işlev görür. Örneğin babun sürülerinde baskın erkekler fiziksel saldırganlıkla güç konumlarına yükselir.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303639"/>
            <a:ext cx="695563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Konrad Lorenz'e göre insanlar da bölgesel davranış sergiler. Kentsel çete saldırganlığı, bölge koruma güdüsünün bir yansıması olarak yorumlanmaktadır. Ancak insanlar, hayvanların aksine, </a:t>
            </a: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tek darbeyle öldürme kapasitesine</a:t>
            </a: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sahip teknoloji geliştirmiştir.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098274" y="2862620"/>
            <a:ext cx="5888712" cy="3889772"/>
          </a:xfrm>
          <a:prstGeom prst="roundRect">
            <a:avLst>
              <a:gd name="adj" fmla="val 765"/>
            </a:avLst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8296632" y="3060978"/>
            <a:ext cx="262056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Etolojik Temel Kavramlar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296632" y="3569494"/>
            <a:ext cx="5491996" cy="186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Bölgesel savunma içgüdüsü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Hakimiyet hiyerarşileri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Uzlaştırıcı jestler (teslim olma)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Teknoloji biyolojik evrimi geride bıraktı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Lorenz: "Saldırganlık bölgeyle ilgilidir, cinayetle değil"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5659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Sosyobiyoloji: Saldırganlık Türlerin Dengesinde Doğal Bir Rol Oynar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0265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E. O. Wilson'a (1975) göre saldırganlığın temel işlevi, </a:t>
            </a: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ortak sınırlı kaynaklar üzerindeki anlaşmazlıkları çözmektir.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643432"/>
            <a:ext cx="6422231" cy="1461016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992148" y="38417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Cinsel Rekabet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2148" y="4271010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Erkekler çiftleşme döneminde dişiler için rekabet eder. Daha güçlü erkek rakibini uzaklaştırır; tür böylece güçlenir.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3643432"/>
            <a:ext cx="6422231" cy="1461016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7612737" y="38417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Kaynak Rekabeti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12737" y="4271010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Yiyecek, su ve barınak için rekabet. Daha güçlü hayvanlar saldırganlıkla bu durumları kazanır.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3790" y="5302806"/>
            <a:ext cx="6422231" cy="1461016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92148" y="55011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Doğal Kısıtlama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2148" y="5930384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Teslimiyet davranışları genetik olarak programlıdır. Saldırganlık "optimum seviyede" tutularak türün biyolojik sağlığına katkı sağlar.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14379" y="5302806"/>
            <a:ext cx="6422231" cy="1461016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7612737" y="55011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Evrimsel Miras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612737" y="5930384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Hem etoloji hem sosyobiyoloji saldırganlığı genetik programlı, evrimsel öneme sahip bir davranış olarak görür.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5886"/>
            <a:ext cx="890039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Freud ve İçgüdü Teorileri: Eros ile Thanatos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91978"/>
            <a:ext cx="298442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Freud'un İkili İçgüdü Kuramı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000494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Freud'a göre insan davranışı iki temel güç tarafından yönetilir: </a:t>
            </a: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Eros</a:t>
            </a: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(yaşam içgüdüsü) ve </a:t>
            </a: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Thanatos</a:t>
            </a: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(ölüm içgüdüsü). Bu iki güç arasındaki çatışma, yıkıcı enerjinin kişiden başkalarına yöneltilmesiyle çözülür.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131707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Freud "hidrolik kuram" benzetmesini kullanır: Saldırgan enerji bir şekilde açığa çıkmazsa birikir ve hastalığa yol açar. Toplum bu içgüdülerin yüceltilmesine yardımcı olur; sanatsal yaratı ve kentsel yenilik bu enerjinin dönüştürülmüş biçimleridir.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2491978"/>
            <a:ext cx="417647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Etologlar ve Psikanalistler: Karşılaştırma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564874" y="3025378"/>
            <a:ext cx="3040499" cy="2538651"/>
          </a:xfrm>
          <a:prstGeom prst="roundRect">
            <a:avLst>
              <a:gd name="adj" fmla="val 432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2014" y="3025378"/>
            <a:ext cx="91440" cy="2538651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7854672" y="324659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Etolojik Görüş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854672" y="3755112"/>
            <a:ext cx="252948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Saldırganlık uyum sağlayıcıdır; ketleme de içgüdüseldir. Spor gibi sosyal kanallarla boşaltılmalıdır.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0803731" y="3025378"/>
            <a:ext cx="3040499" cy="2538651"/>
          </a:xfrm>
          <a:prstGeom prst="roundRect">
            <a:avLst>
              <a:gd name="adj" fmla="val 432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0871" y="3025378"/>
            <a:ext cx="91440" cy="2538651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11093529" y="324659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Psikanalitik Görüş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093529" y="3755112"/>
            <a:ext cx="252948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Saldırganlık yıkıcı dürtülerin temsilcisidir. Ketlemeler aile ilişkileri ve süperego aracılığıyla geliştirilir.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6010513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B6D6FC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6298168"/>
            <a:ext cx="248007" cy="19835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38513" y="6258401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Her iki yaklaşım da saldırganlığı insan doğasının kaçınılmaz bir parçası olarak görür; ancak azaltma yöntemlerinde farklılaşır.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25704"/>
            <a:ext cx="2010608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1892856"/>
            <a:ext cx="175724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BÖLÜM 2: MIKRO DÜZEY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29338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Genetik ve Saldırganlık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21111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Mevcut araştırmalar, saldırganlığın </a:t>
            </a: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çevreyle birlikte işleyen genetik bir bileşeni</a:t>
            </a: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olduğunu ortaya koymaktadır.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751898"/>
            <a:ext cx="496133" cy="4961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7930" y="37518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İkiz Çalışmaları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537930" y="4181118"/>
            <a:ext cx="3438049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Hines ve Saudino (2004), monozigotik ve dizigotik ikizleri karşılaştırarak "yakın partner saldırganlığının" genetik bir bileşeni olduğunu bulmuştur. Psikolojik saldırganlıktaki ailevi benzerlik, paylaşılan genlerden kaynaklanmaktadır.</a:t>
            </a:r>
            <a:endParaRPr lang="en-US" sz="1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3986" y="3751898"/>
            <a:ext cx="496133" cy="4961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68127" y="37518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Cinsiyet ve Yaş Farkı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968127" y="4181118"/>
            <a:ext cx="343816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Miles ve Carey (1997) meta-analizine göre genetik faktörler erkekler için kadınlardan biraz daha belirleyicidir ve daha genç bireylerde genetik etkisi daha zayıftır.</a:t>
            </a:r>
            <a:endParaRPr lang="en-US" sz="15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4302" y="3751898"/>
            <a:ext cx="496133" cy="4961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98443" y="37518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Dikkatli Yorumlama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10398443" y="4181118"/>
            <a:ext cx="3438168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Genetiğin saldırganlık üzerinde doğrudan etkisine dair kanıt azdır. Genetik, kişiyi saldırganlığa yatkın hale getiren kişilik özelliklerini etkiler; yatkınlık, saldırgan davranacağı anlamına gelmez.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8450"/>
            <a:ext cx="753165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Beyin Mekanizmaları ve Saldırganlık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2806184"/>
            <a:ext cx="5888712" cy="3534847"/>
          </a:xfrm>
          <a:prstGeom prst="roundRect">
            <a:avLst>
              <a:gd name="adj" fmla="val 842"/>
            </a:avLst>
          </a:prstGeom>
          <a:solidFill>
            <a:srgbClr val="2150FE"/>
          </a:solidFill>
          <a:ln/>
        </p:spPr>
      </p:sp>
      <p:sp>
        <p:nvSpPr>
          <p:cNvPr id="4" name="Text 2"/>
          <p:cNvSpPr/>
          <p:nvPr/>
        </p:nvSpPr>
        <p:spPr>
          <a:xfrm>
            <a:off x="849273" y="30045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Temel Bulgular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49273" y="3513058"/>
            <a:ext cx="5491996" cy="2182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Hipotalamus uyarımı saldırgan davranış üretir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Farklı çekirdeklerin uyarımı farklı saldırganlık biçimleri yaratır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Öfkeli saldırganlık vs. seçici avcı saldırganlığı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Limbik sistem ve korteks de saldırganlığı düzenler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Tek bir "ana denetleyici" beyin yapısı yoktur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88480" y="30045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Sosyal Bağlamın Rolü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888480" y="3513058"/>
            <a:ext cx="69556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Delgado'nun (1969) maymun deneyi kritik bir bulgu ortaya koymuştur: Beyin uyarımı </a:t>
            </a: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her koşulda saldırganlığa yol açmaz.</a:t>
            </a: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Maymunun grup içindeki statüsü belirleyicidir: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888480" y="4644271"/>
            <a:ext cx="6955631" cy="70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Baskın maymun varsa → saldırganlık ortaya çıkmadı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Daha az baskın maymun varsa → saldırganlık tetiklendi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88480" y="5527357"/>
            <a:ext cx="69556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Sonuç: Saldırgan davranış yalnızca "doğru" sosyal koşullar altında gerçekleşir. Biyoloji tek başına yeterli değildir.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8959"/>
            <a:ext cx="937426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Hormonal Etkiler: Testosteron ve Saldırganlık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21587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Testosteronun saldırgan davranış üzerindeki etkisi karmaşıktır ve iki aşamada işler: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56654"/>
            <a:ext cx="4347567" cy="7937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2148" y="374880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Organizasyon İşlevi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92148" y="4178022"/>
            <a:ext cx="395085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Doğum öncesi dönemde testosteron beyin gelişimini etkiler. Erkek beynini daha fazla saldırganlık için "bağlantılı" hale getirir. Bu erken maruz kalma kritiktir.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756654"/>
            <a:ext cx="4347567" cy="7937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9715" y="374880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Aktivasyon İşlevi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339715" y="4178022"/>
            <a:ext cx="395085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Yaşamın ilerleyen dönemlerinde testosteron, saldırganlık gibi davranış kalıplarını aktive eder. Ancak yalnızca erken dönem organizasyon işlevi gerçekleşmişse etkilidir.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756654"/>
            <a:ext cx="4347567" cy="7937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87282" y="374880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Sosyal Etkileşim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687282" y="4178022"/>
            <a:ext cx="395085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Albert ve ark. (1989): Testosteron yalnızca sıçanlar yiyecek için rekabet ettiğinde saldırganlığı artırdı. Rekabet yoksa saldırganlık düşük kaldı.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793790" y="5869781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B3C3FF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48" y="6157436"/>
            <a:ext cx="248007" cy="19835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38513" y="6117669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Kleinsmith ve ark. (2006): Silah tutan erkeklerde testosteron 62 pg/ml artarken, oyuncak tutan grupta yalnızca 0,68 pg/ml artış gözlemlendi. Silah tutan grup suya ortalama 13,61 gram acı sos eklerken, oyuncak tutan grup yalnızca 4,23 gram ekledi.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923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Alkol ve Saldırganlık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95324"/>
            <a:ext cx="291512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Farmakolojik Mekanizmalar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103840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Alkol beyin serotonin düzeyini düşürür; bu da dış uyaranlara karşı saldırganlık olasılığını artırır. Prefrontal korteksin yönetici bilişsel işlevlerini (ECF) bozar: dikkat, planlama ve öz-izleme kapasitesi azalır.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235053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Araştırmalar saldırganlığın tüketilen alkol miktarıyla arttığını doğrulamaktadır. Damıtılmış içecek tüketenlerin bira veya şarap tüketenlere kıyasla daha şiddetli ve uzun süreli saldırganlık gösterdiği bulunmuştur (Gustafson, 1999).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2595324"/>
            <a:ext cx="34184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Beklenti Etkisi ve Bireysel Farklar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3103840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Alkol içtiklerine </a:t>
            </a:r>
            <a:r>
              <a:rPr lang="en-US" sz="15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inanan</a:t>
            </a: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katılımcılar, gerçekte plasebo içseler bile yüksek saldırganlık sergiler. Ancak beklentiler alkolün tüm etkisini açıklayamaz.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4235053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Eğilimsel empati yüksek olan bireyler alkol tüketiminden sonra daha az saldırgan davranır. Dürtüsellik/duyum arayışı yüksek olanlar ise rakip düşmanca davrandığında en saldırgan grubu oluşturur (Cheong &amp; Nagoshi, 1999).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5907048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FCF2B5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6194703"/>
            <a:ext cx="248007" cy="19835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38513" y="6154936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Alkol; otomobil kazaları, boğulmalar, yangınlar, cinayetler, intiharlar, saldırılar ve tecavüzlerde önemli bir risk faktörüdür.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3684"/>
            <a:ext cx="1114615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 err="1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Engellenme</a:t>
            </a: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–Saldırganlık Teorisi ve Sosyal Öğrenme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697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Dollard ve Ark. (1939)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478292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"Saldırgan davranışın ortaya çıkması her zaman hayal kırıklığının varlığını varsayar." Hayal kırıklığı, beklenen bir hedefe ulaşmanın engellenmesiyle ortaya çıkar. Berkowitz bu teoriyi genişleterek tüm tatsız olayların saldırganlığı tetikleyebileceğini öne sürdü.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927044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Göreceli yoksunluk:</a:t>
            </a: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Kendimizi başkalarıyla karşılaştırdığımızda hayal kırıklığı artar. Gelir eşitsizliğinin yüksek olduğu toplumlarda suç oranları daha yüksektir. Televizyonun yaygınlaştığı şehirlerde hırsızlık oranlarında belirgin artış gözlemlenmiştir (Hennigan vd., 1982).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2969776"/>
            <a:ext cx="373713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Bandura'nın Sosyal Öğrenme Teorisi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3478292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Bandura, insanların başkalarını </a:t>
            </a: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gözlemleyerek ve taklit ederek</a:t>
            </a: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saldırganca davranmayı öğrendiklerini teorileştirdi. Çocuklar yalnızca davranışı taklit etmez; gözlemlenen davranışı nasıl yorumladıkları ve ne kadar yetkin hissettikleri de belirleyicidir.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4927044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1990'larda keşfedilen </a:t>
            </a: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ayna nöronları</a:t>
            </a: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bir eylem gözlemlendiğinde veya gerçekleştirildiğinde ateşlenerek taklit için nörolojik bir temel sağlar. Öfkeli ifadeleri gözlemlemek izleyicilerde öfkeli duyguları otomatik olarak harekete geçirebilir.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9677" y="427196"/>
            <a:ext cx="6004679" cy="406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Genel Saldırganlık Modeli ve Bilişsel Teoriler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677" y="1005007"/>
            <a:ext cx="10271046" cy="573262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9677" y="1005007"/>
            <a:ext cx="10271046" cy="5732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79677" y="6919079"/>
            <a:ext cx="1993821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Huesmann'ın Senaryo Modeli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2179677" y="7207806"/>
            <a:ext cx="4976693" cy="517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Çocuklar kitle iletişim araçlarında şiddet gördüklerinde saldırgan davranışlar için senaryolar öğrenir. Belirli bir durumda hangi senaryonun geri çağrılacağı, kodlama ve geri alma sırasındaki ipuçlarının benzerliğine bağlıdır.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7481649" y="6919079"/>
            <a:ext cx="2193131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Dodge'un Düşmanca Atıf Modeli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7481649" y="7207806"/>
            <a:ext cx="4976693" cy="517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Saldırgan insanlar </a:t>
            </a:r>
            <a:r>
              <a:rPr lang="en-US" sz="1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düşmanca atıf önyargısına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sahiptir: Başkalarının belirsiz eylemlerini düşmanca olarak algılarlar. 6.000'den fazla katılımcıyla yapılan meta-analiz bu bağlantıyı doğrulamıştır (Orobio de Castro vd., 2002).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642" y="530543"/>
            <a:ext cx="1524476" cy="364927"/>
          </a:xfrm>
          <a:prstGeom prst="roundRect">
            <a:avLst>
              <a:gd name="adj" fmla="val 6221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7729" y="594836"/>
            <a:ext cx="1282303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BÖLÜM 3: GELIŞIM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56642" y="967502"/>
            <a:ext cx="9104114" cy="59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Çocukluk ve Ergenlikte Saldırganlığın Gelişimi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56642" y="1829038"/>
            <a:ext cx="13117116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Saldırganlık, çocukluk ve ergenlikte belirli bir ölçüde yaşa göre normatif bir davranıştır (Loeber ve Hay, 1997).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56642" y="4374118"/>
            <a:ext cx="13117116" cy="22860"/>
          </a:xfrm>
          <a:prstGeom prst="roundRect">
            <a:avLst>
              <a:gd name="adj" fmla="val 124128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3301008" y="3806666"/>
            <a:ext cx="22860" cy="567452"/>
          </a:xfrm>
          <a:prstGeom prst="roundRect">
            <a:avLst>
              <a:gd name="adj" fmla="val 124128"/>
            </a:avLst>
          </a:prstGeom>
          <a:solidFill>
            <a:srgbClr val="D8D4D4"/>
          </a:solidFill>
          <a:ln/>
        </p:spPr>
      </p:sp>
      <p:sp>
        <p:nvSpPr>
          <p:cNvPr id="8" name="Shape 6"/>
          <p:cNvSpPr/>
          <p:nvPr/>
        </p:nvSpPr>
        <p:spPr>
          <a:xfrm>
            <a:off x="3099673" y="4161353"/>
            <a:ext cx="425529" cy="425529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3170575" y="4196775"/>
            <a:ext cx="283726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30147" y="2327315"/>
            <a:ext cx="2364581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Erken Bebeklik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45713" y="2730937"/>
            <a:ext cx="4733449" cy="59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~3 aylıkken öfke ifadesi tanınır. İlk yılın ikinci yarısında hayal kırıklığına tepki olarak öfke ifadesi başlar.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69437" y="4374118"/>
            <a:ext cx="22860" cy="567452"/>
          </a:xfrm>
          <a:prstGeom prst="roundRect">
            <a:avLst>
              <a:gd name="adj" fmla="val 124128"/>
            </a:avLst>
          </a:prstGeom>
          <a:solidFill>
            <a:srgbClr val="D8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5768102" y="4161353"/>
            <a:ext cx="425529" cy="425529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5839004" y="4196775"/>
            <a:ext cx="283726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98576" y="5130760"/>
            <a:ext cx="2364581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2–3 Yaş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3614142" y="5534382"/>
            <a:ext cx="4733568" cy="59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Öfke nöbetleri ve kasıtlı fiziksel güç kullanımı artar. ~30 aylıktan sonra açık fiziksel saldırganlık azalmaya başlar.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637865" y="3806666"/>
            <a:ext cx="22860" cy="567452"/>
          </a:xfrm>
          <a:prstGeom prst="roundRect">
            <a:avLst>
              <a:gd name="adj" fmla="val 124128"/>
            </a:avLst>
          </a:prstGeom>
          <a:solidFill>
            <a:srgbClr val="D8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8436531" y="4161353"/>
            <a:ext cx="425529" cy="425529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8507432" y="4196775"/>
            <a:ext cx="283726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67005" y="2327315"/>
            <a:ext cx="2364581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Okul Öncesi–İlkokul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6282571" y="2730937"/>
            <a:ext cx="4733568" cy="88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Dolaylı ve ilişkisel saldırganlık biçimleri ortaya çıkar. Cinsiyet farklılıkları belirginleşir: Erkekler fiziksel, kızlar ilişkisel saldırganlığa yönelir.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1306413" y="4374118"/>
            <a:ext cx="22860" cy="567452"/>
          </a:xfrm>
          <a:prstGeom prst="roundRect">
            <a:avLst>
              <a:gd name="adj" fmla="val 124128"/>
            </a:avLst>
          </a:prstGeom>
          <a:solidFill>
            <a:srgbClr val="D8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105078" y="4161353"/>
            <a:ext cx="425529" cy="425529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11175980" y="4196775"/>
            <a:ext cx="283726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135553" y="5130760"/>
            <a:ext cx="2364581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Ergenlik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8951119" y="5534382"/>
            <a:ext cx="4733568" cy="88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Saldırganlık daha sosyal olarak organize olur. Akran grupları ve çeteler belirleyici hale gelir. Şiddet yeniden artar.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56642" y="6623685"/>
            <a:ext cx="13117116" cy="1075253"/>
          </a:xfrm>
          <a:prstGeom prst="roundRect">
            <a:avLst>
              <a:gd name="adj" fmla="val 2639"/>
            </a:avLst>
          </a:prstGeom>
          <a:solidFill>
            <a:srgbClr val="B6D6FC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713" y="6900267"/>
            <a:ext cx="236458" cy="189071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371243" y="6851213"/>
            <a:ext cx="12313444" cy="59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Rivenbark vd. (2018): Yaşam boyu kalıcı davranış sorunları olan çocuklar orantısız biçimde daha fazla cezai suçtan hüküm giyme, acil servis ziyareti ve sosyal yardım kullanımıyla ilişkilidir.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9758"/>
            <a:ext cx="1130355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Saldırganlığın İstikrarı: Erken Dönem Belirleyici midir?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66085"/>
            <a:ext cx="69556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Uzunlamasına çalışmalar saldırgan davranışın zaman içinde </a:t>
            </a: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nispeten istikrarlı</a:t>
            </a: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olduğunu göstermektedir. Olweus (1979): 1 yıllık istikrar r=.76, 5 yıllık r=.69, 10 yıllık r=.60 — zeka kadar istikrarlı.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4097298"/>
            <a:ext cx="69556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Huesmann vd. (2009) tarafından yapılan 40 yıllık Columbia County çalışması: 8 yaşında düşük saldırganlık gösterenlerin %37'si sonraki üç dalgada düşük kaldı; 8 yaşında yüksek olanların %35'i çalışma boyunca yüksek grupta kaldı.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5228511"/>
            <a:ext cx="69556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İki süreç istikrarı açıklar: </a:t>
            </a: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Kümülatif süreklilik</a:t>
            </a: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(saldırganlığın kendi sonuçları nedeniyle sürmesi) ve </a:t>
            </a: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etkileşimsel süreklilik</a:t>
            </a: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(başkalarından alınan tepkiler aracılığıyla sürmesi).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098274" y="2787491"/>
            <a:ext cx="5888712" cy="3572232"/>
          </a:xfrm>
          <a:prstGeom prst="roundRect">
            <a:avLst>
              <a:gd name="adj" fmla="val 833"/>
            </a:avLst>
          </a:prstGeom>
          <a:solidFill>
            <a:srgbClr val="2150FE"/>
          </a:solidFill>
          <a:ln/>
        </p:spPr>
      </p:sp>
      <p:sp>
        <p:nvSpPr>
          <p:cNvPr id="7" name="Text 5"/>
          <p:cNvSpPr/>
          <p:nvPr/>
        </p:nvSpPr>
        <p:spPr>
          <a:xfrm>
            <a:off x="8296632" y="29858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Moffitt'in İki Yörüngesi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296632" y="3494365"/>
            <a:ext cx="5491996" cy="1339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Yaşam boyu kalıcı:</a:t>
            </a: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Erken çocuklukta başlar, nöropsikolojik eksiklikler + olumsuz aile koşulları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Ergenlikle sınırlı:</a:t>
            </a: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Olgunluk boşluğu kaynaklı, sosyal taklide dayalı, yetişkinlikte genellikle azalır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96632" y="5012531"/>
            <a:ext cx="549199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Dunedin Çalışması (1972–günümüz, 1.000+ çocuk) bu ayrımı destekleyen en kapsamlı kanıtı sunmaktadır.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18768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Duygusal ve Bilişsel Süreçler: Öfke Düzenlemesi ve Yönetici İşlev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255758"/>
            <a:ext cx="6422231" cy="2737128"/>
          </a:xfrm>
          <a:prstGeom prst="roundRect">
            <a:avLst>
              <a:gd name="adj" fmla="val 108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650" y="2278618"/>
            <a:ext cx="6376511" cy="595313"/>
          </a:xfrm>
          <a:prstGeom prst="roundRect">
            <a:avLst>
              <a:gd name="adj" fmla="val 393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1015008" y="307228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Öfke Düzenlemesi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15008" y="3501509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Uyumsuz öfke düzenlemesi (öfkeyi dışa vurma, sinir bozucu uyarana odaklanma) öğretmen derecelendirmeli saldırganlığı 3 yıl sonra bile anlamlı biçimde öngörmektedir (Kirsch vd., 2019).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2255758"/>
            <a:ext cx="6422231" cy="2737128"/>
          </a:xfrm>
          <a:prstGeom prst="roundRect">
            <a:avLst>
              <a:gd name="adj" fmla="val 108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37239" y="2278618"/>
            <a:ext cx="6376511" cy="595313"/>
          </a:xfrm>
          <a:prstGeom prst="roundRect">
            <a:avLst>
              <a:gd name="adj" fmla="val 393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7635597" y="307228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Yönetici İşlev (YÖ)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635597" y="3501509"/>
            <a:ext cx="597979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Engelleme, çalışma belleği, kaydırma ve planlama bileşenlerinden oluşur. Düşük YÖ, reaktif saldırganlığı öngörür; proaktif saldırganlığı değil. İyi bilişsel kontrol, kronik öfkenin olumsuz sonuçlarını tamponlar.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5191244"/>
            <a:ext cx="6422231" cy="2419588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6650" y="5214104"/>
            <a:ext cx="6376511" cy="595313"/>
          </a:xfrm>
          <a:prstGeom prst="roundRect">
            <a:avLst>
              <a:gd name="adj" fmla="val 393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1015008" y="600777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Zihin Kuramı (ZK)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15008" y="6436995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Başkalarının inanç, niyet ve duygularını çıkarsama yeteneği. Düşük ZK, hem fiziksel hem ilişkisel saldırganlığı ileriye dönük olarak öngörmektedir (Holl vd., 2018).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379" y="5191244"/>
            <a:ext cx="6422231" cy="2419588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37239" y="5214104"/>
            <a:ext cx="6376511" cy="595313"/>
          </a:xfrm>
          <a:prstGeom prst="roundRect">
            <a:avLst>
              <a:gd name="adj" fmla="val 393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7635597" y="6007775"/>
            <a:ext cx="255782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Düşmanca Atıf Önyargısı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635597" y="6436995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41 çalışma, 6.000+ katılımcı: Düşmanca atıf stili ile saldırganlık arasında güçlü bağlantı. Adalet duyarlılığı (mağdur duyarlılığı) saldırganlıkla pozitif, fail duyarlılığı negatif ilişkilidir.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2513"/>
            <a:ext cx="798957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Sosyal Çevrenin Etkisi: Aile ve Akranlar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286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Aile Risk Faktörleri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637121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Sert ebeveyn disiplini</a:t>
            </a: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iyi bilinen bir risk faktörüdür. Zorlayıcı döngü: Ebeveyn cezası → çocukta karşıt davranış → daha fazla zorlayıcı ebeveynlik → saldırganlığın pekişmesi.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768334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Krahé vd. (2015) üç dalgalı çalışması: Çocuğun saldırganlığı → ebeveynlik stresi → çocuğun daha fazla saldırganlığı. Ailede şiddete tanıklık ve ekonomik baskı da bağımsız risk faktörleridir.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3128605"/>
            <a:ext cx="433601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Akran Etkisi: "Bulaşıcı Hastalık" Metaforu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3637121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Saldırgan çocuklar erken yaşlardan itibaren akranları tarafından reddedilir ve diğer saldırgan akranlarla ilişki kurar. Sınıf içi saldırganlık düzeyi ne kadar yüksekse, bireyler 10 ay sonra o kadar saldırgan olur (Rohlf vd., 2016).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5085874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Çapraz düzey etkileşimi: </a:t>
            </a: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Başlangıçta düşük saldırganlığa sahip bireyler</a:t>
            </a: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saldırgan ortamdan en çok etkilenir; halihazırda yüksek saldırganlığa sahip olanlar ise ortamdan nispeten daha az etkilenir.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40237"/>
            <a:ext cx="1515904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1007388"/>
            <a:ext cx="126253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BÖLÜM 4: MEDYA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407914"/>
            <a:ext cx="752344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Kitle İletişim Araçları ve Saldırganlık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325648"/>
            <a:ext cx="13042821" cy="1711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700"/>
              </a:lnSpc>
              <a:buNone/>
            </a:pPr>
            <a:r>
              <a:rPr lang="en-US" sz="5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Medya şiddeti ile saldırganlık arasındaki korelasyon: </a:t>
            </a:r>
            <a:r>
              <a:rPr lang="en-US" sz="53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.20 – .40</a:t>
            </a:r>
            <a:endParaRPr lang="en-US" sz="5350" dirty="0"/>
          </a:p>
        </p:txBody>
      </p:sp>
      <p:sp>
        <p:nvSpPr>
          <p:cNvPr id="6" name="Text 4"/>
          <p:cNvSpPr/>
          <p:nvPr/>
        </p:nvSpPr>
        <p:spPr>
          <a:xfrm>
            <a:off x="793790" y="433494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 değer, pasif içicilik ve kurşuna maruz kalma gibi kabul görmüş halk sağlığı tehditleriyle aynı büyüklüktedir.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4875728"/>
            <a:ext cx="13042821" cy="2413635"/>
          </a:xfrm>
          <a:prstGeom prst="roundRect">
            <a:avLst>
              <a:gd name="adj" fmla="val 1233"/>
            </a:avLst>
          </a:prstGeom>
          <a:solidFill>
            <a:srgbClr val="F2EEEE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4875728"/>
            <a:ext cx="4347567" cy="2413635"/>
          </a:xfrm>
          <a:prstGeom prst="roundRect">
            <a:avLst>
              <a:gd name="adj" fmla="val 1233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992148" y="50740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Kısa Vadeli Etkiler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92148" y="5503307"/>
            <a:ext cx="395085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Saldırgan senaryoları hazırlar, taklit davranışını tetikler. Josephson (1987): Şiddet içeren film izleyen çocuklar hokey oyununda daha fazla fiziksel saldırganlık gösterdi.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141357" y="4875728"/>
            <a:ext cx="4347567" cy="2413635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2" name="Shape 10"/>
          <p:cNvSpPr/>
          <p:nvPr/>
        </p:nvSpPr>
        <p:spPr>
          <a:xfrm>
            <a:off x="5141357" y="4875728"/>
            <a:ext cx="22860" cy="2413635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3" name="Text 11"/>
          <p:cNvSpPr/>
          <p:nvPr/>
        </p:nvSpPr>
        <p:spPr>
          <a:xfrm>
            <a:off x="5339715" y="50740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Uzun Vadeli Etkiler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339715" y="5503307"/>
            <a:ext cx="395085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Saldırganlık şemalarını ve inançlarını değiştirir, şiddete karşı duyarsızlaştırır. Eron vd. (1972): 8 yaşında şiddet izleme, 10 yıl sonraki saldırganlıkla pozitif ilişkili.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488924" y="4875728"/>
            <a:ext cx="4347567" cy="2413635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9488924" y="4875728"/>
            <a:ext cx="22860" cy="2413635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9687282" y="50740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Video Oyunları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687282" y="5503307"/>
            <a:ext cx="395085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Aktif katılım, karakterle özdeşleşme ve şiddetin doğrudan ödüllendirilmesi nedeniyle TV izlemekten daha güçlü etkiler üretebilir (Polman vd., 2008).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3684"/>
            <a:ext cx="92173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Duyarsızlaşma: Şiddet Artık Etkilemiyor mu?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697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Fizyolojik Kanıtlar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478292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Mrug vd. (2015): Yüksek medya şiddeti maruziyeti olan ergenler, beş şiddet klibini izlerken kan basıncında anlamlı düşüş gösterdi; düşük/orta maruziyetliler ise stabil kaldı. Bu etki şiddet içermeyen kliplerde gözlemlenmedi.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927044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Bartholow vd. (2006): Şiddetli oyun oynayan katılımcılar şiddet görüntülerine daha az beyin potansiyeli (ERP) aktivitesi gösterdi ve sonraki görevde daha saldırgan davrandı.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29697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Davranışsal Kanıtlar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3478292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Bushman ve Anderson (2009): Şiddet içeren oyun oynayanların sahnelenen acil durumda mağdura yardım etmesi </a:t>
            </a: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%450 daha uzun sürdü.</a:t>
            </a: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Acil durumu fark etme olasılıkları daha düşük, ciddiyetini daha az değerlendirdiler.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4927044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Krahé vd. (2011): Şiddet içeren medyaya alışkın olanlar grafik şiddet sahnelerinde daha az fizyolojik uyarılma ve daha fazla hoş uyarılma bildirdi; bu da saldırganlıkla ilgili kelimeleri daha hızlı tanımalarıyla ilişkiliydi.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1095"/>
            <a:ext cx="1208067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Uzunlamasına Kanıtlar: Medya Şiddetinin Kümülatif Etkisi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108008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68204" y="314521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438632" y="3176230"/>
            <a:ext cx="3537347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Columbia County Çalışması (1960–1982)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38632" y="3915608"/>
            <a:ext cx="3537347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856 çocuk, 22 yıl takip: 8 yaşında şiddet izleme, 30 yaşındaki yetişkin suç davranışıyla bağımsız olarak ilişkiliydi (Huesmann, 1986).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23986" y="3108008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298400" y="314521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868829" y="3176230"/>
            <a:ext cx="353746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Beş Ülke Çalışması (Huesmann &amp; Eron, 1986)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868829" y="3915608"/>
            <a:ext cx="3537466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Avustralya, Finlandiya, Polonya, İsrail, ABD: 6 yaşındaki TV alışkanlıkları, başlangıçtaki saldırganlık kontrol edilse bile sonraki saldırganlığı öngördü. 15 yıllık takipte yüksek şiddet izleyicileri 20'li yaşlarında anlamlı biçimde daha saldırgandı.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54302" y="3108008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9728716" y="314521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299144" y="3176230"/>
            <a:ext cx="353746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"Aşağı Doğru Sarmal" (Slater vd., 2003)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99144" y="3915608"/>
            <a:ext cx="353746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2.500+ ortaokul öğrencisi, 2 yıl: Şiddet izleme saldırganlığı artırır; saldırgan gençler daha fazla şiddet izlemeye yönelir. Döngüsel ve kümülatif bir etki.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3804"/>
            <a:ext cx="837378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Cinsel Şiddet İçeren Medya ve Pornografi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7989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Deneysel Kanıtlar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488412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Donnerstein ve Berkowitz (1981): Tecavüz sahnesi izleyen erkekler, özellikle kadın kışkırtıcıya karşı daha saldırgan davrandı. Kadının tecavüzden zevk aldığını gösteren klip en yüksek saldırganlık seviyesini üretirken, şiddet içermeyen seks izlemek saldırganlığı artırmadı.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937165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Uzun vadeli duyarsızlaşma: Şiddet içeren seks sahnelerini izledikten günler sonra bile erkekler kadınlara yönelik saldırganlığa karşı artan tolerans gösterdi (Malamuth &amp; Check, 1981).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2979896"/>
            <a:ext cx="335030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Pornografi ve Cinsel Saldırganlık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3488412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Saha çalışmaları pornografi kullanımı ile cinsel saldırganlık arasında pozitif ilişki bulmuştur. Duyarsızlaşma etkisi yalnızca erkeklerle sınırlı değildir; kadınlarda da gözlemlenmiştir (Krafka &amp; Penrod, 1997).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564874" y="4664273"/>
            <a:ext cx="6279356" cy="1478280"/>
          </a:xfrm>
          <a:prstGeom prst="roundRect">
            <a:avLst>
              <a:gd name="adj" fmla="val 2014"/>
            </a:avLst>
          </a:prstGeom>
          <a:solidFill>
            <a:srgbClr val="FCF2B5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232" y="4951928"/>
            <a:ext cx="248007" cy="1983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09598" y="4912162"/>
            <a:ext cx="54362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Pornografi okuryazarlığı müdahalelerine yönelik sistematik çalışmalar neredeyse hiç yoktur. Özellikle ergenler için teori temelli müdahalelerin geliştirilmesi acil bir ihtiyaçtır.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0258"/>
            <a:ext cx="997267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Medya Şiddetini Azaltmaya Yönelik Müdahaleler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424827"/>
            <a:ext cx="6422231" cy="2099191"/>
          </a:xfrm>
          <a:prstGeom prst="roundRect">
            <a:avLst>
              <a:gd name="adj" fmla="val 522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401967"/>
            <a:ext cx="6422231" cy="91440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5" name="Shape 3"/>
          <p:cNvSpPr/>
          <p:nvPr/>
        </p:nvSpPr>
        <p:spPr>
          <a:xfrm>
            <a:off x="3707249" y="2127171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3885843" y="2275999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015008" y="292096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Kısıtlayıcı Tüketim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15008" y="3350181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Robinson vd. (2001): 10 günlük tam medya yasağı + haftada 7 saat sınırı. Akran derecelendirmeli saldırganlık ve sözel saldırganlıkta anlamlı azalma.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2424827"/>
            <a:ext cx="6422231" cy="2099191"/>
          </a:xfrm>
          <a:prstGeom prst="roundRect">
            <a:avLst>
              <a:gd name="adj" fmla="val 522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14379" y="2401967"/>
            <a:ext cx="6422231" cy="91440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11" name="Shape 9"/>
          <p:cNvSpPr/>
          <p:nvPr/>
        </p:nvSpPr>
        <p:spPr>
          <a:xfrm>
            <a:off x="10327838" y="2127171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150FE"/>
          </a:solidFill>
          <a:ln/>
        </p:spPr>
      </p:sp>
      <p:sp>
        <p:nvSpPr>
          <p:cNvPr id="12" name="Text 10"/>
          <p:cNvSpPr/>
          <p:nvPr/>
        </p:nvSpPr>
        <p:spPr>
          <a:xfrm>
            <a:off x="10506432" y="2275999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635597" y="292096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Eleştirel Tüketim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35597" y="3350181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Byrne (2009): Yalnızca bilgi verme koşulunda saldırganlığa isteklilik arttı (bumerang etkisi). Eleştirel tüketim tek başına yeterli değildir.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5020032"/>
            <a:ext cx="6422231" cy="2099191"/>
          </a:xfrm>
          <a:prstGeom prst="roundRect">
            <a:avLst>
              <a:gd name="adj" fmla="val 522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4997172"/>
            <a:ext cx="6422231" cy="91440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17" name="Shape 15"/>
          <p:cNvSpPr/>
          <p:nvPr/>
        </p:nvSpPr>
        <p:spPr>
          <a:xfrm>
            <a:off x="3707249" y="4722376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3885843" y="4871204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1015008" y="551616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Kombine Yaklaşım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15008" y="5945386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Möller vd. (2012) / Krahé &amp; Busching (2015): 5 haftalık müdahale, 627 öğrenci. 7 ay sonra şiddetli medya kullanımı ve 18 ay sonra saldırgan davranış anlamlı biçimde azaldı.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414379" y="5020032"/>
            <a:ext cx="6422231" cy="2099191"/>
          </a:xfrm>
          <a:prstGeom prst="roundRect">
            <a:avLst>
              <a:gd name="adj" fmla="val 5227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14379" y="4997172"/>
            <a:ext cx="6422231" cy="91440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27838" y="4722376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150FE"/>
          </a:solidFill>
          <a:ln/>
        </p:spPr>
      </p:sp>
      <p:sp>
        <p:nvSpPr>
          <p:cNvPr id="24" name="Text 22"/>
          <p:cNvSpPr/>
          <p:nvPr/>
        </p:nvSpPr>
        <p:spPr>
          <a:xfrm>
            <a:off x="10506432" y="4871204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7635597" y="5516166"/>
            <a:ext cx="28950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Yaş Sınıflandırma Sistemleri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635597" y="5945386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Sorunlar: Ebeveynlerin sistemlere aşinalığı düşük; "yasak meyve" etkisi — uyarı etiketleri oyunları çocuklar için daha çekici hale getiriyor (Bijvank vd., 2009).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582216"/>
            <a:ext cx="9912191" cy="59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Temel Çıkarımlar: Saldırganlığı Bütüncül Anlamak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56642" y="1533882"/>
            <a:ext cx="13117116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Saldırganlık, tek bir faktörle açıklanamayacak kadar karmaşık bir olgudur. Biyoloji, psikoloji, sosyal çevre ve medya iç içe geçmiş biçimde işler.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642" y="2032159"/>
            <a:ext cx="472916" cy="4729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6642" y="2730341"/>
            <a:ext cx="2364581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Biyoloji Zemin Hazırlar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56642" y="3133963"/>
            <a:ext cx="6445925" cy="88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Genetik yatkınlık, hormonal etkiler ve beyin mekanizmaları saldırganlık için bir zemin oluşturur; ancak doğrudan belirleyici değildir. Yatkınlık, kader değildir.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7833" y="2032159"/>
            <a:ext cx="472916" cy="4729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7833" y="2730341"/>
            <a:ext cx="2364581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Erken Dönem Kritiktir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7427833" y="3133963"/>
            <a:ext cx="6445925" cy="59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Öfke düzenlemesi, yönetici işlev ve zihin kuramındaki eksiklikler erken çocuklukta şekillenir. Erken müdahale en etkili stratejidir.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642" y="4381024"/>
            <a:ext cx="472916" cy="4729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6642" y="5079206"/>
            <a:ext cx="2485787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Sosyal Çevre Şekillendirir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756642" y="5482828"/>
            <a:ext cx="6445925" cy="59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Aile, akranlar ve sınıf ortamı saldırganlığı pekiştirebilir ya da azaltabilir. Saldırganlık akranlar arasında "bulaşıcı" biçimde yayılabilir.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7833" y="4381024"/>
            <a:ext cx="472916" cy="47291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27833" y="5079206"/>
            <a:ext cx="2755344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Medya Kümülatif Etki Yapar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7427833" y="5482828"/>
            <a:ext cx="6445925" cy="88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Şiddet içeren medyaya maruz kalmanın uzun vadeli etkileri kanıtlanmıştır. Eleştirel medya okuryazarlığı ve erken müdahale programları koruyucu faktörlerdir.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756642" y="6572131"/>
            <a:ext cx="13117116" cy="1075253"/>
          </a:xfrm>
          <a:prstGeom prst="roundRect">
            <a:avLst>
              <a:gd name="adj" fmla="val 2639"/>
            </a:avLst>
          </a:prstGeom>
          <a:solidFill>
            <a:srgbClr val="B6FCB8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5713" y="6848713"/>
            <a:ext cx="236458" cy="18907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243" y="6799659"/>
            <a:ext cx="12313444" cy="59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Saldırganlık kaçınılmaz değildir. Biyolojik miras, sosyal öğrenme ve çevresel koşulların anlaşılması; etkili önleme ve müdahale programlarının temelini oluşturur.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2545</Words>
  <Application>Microsoft Macintosh PowerPoint</Application>
  <PresentationFormat>Özel</PresentationFormat>
  <Paragraphs>206</Paragraphs>
  <Slides>20</Slides>
  <Notes>20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5" baseType="lpstr">
      <vt:lpstr>Arial</vt:lpstr>
      <vt:lpstr>Calibri</vt:lpstr>
      <vt:lpstr>Heebo</vt:lpstr>
      <vt:lpstr>Crimson Pro Semi Bold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lastModifiedBy>Microsoft Office User</cp:lastModifiedBy>
  <cp:revision>2</cp:revision>
  <dcterms:created xsi:type="dcterms:W3CDTF">2026-04-15T19:20:57Z</dcterms:created>
  <dcterms:modified xsi:type="dcterms:W3CDTF">2026-04-15T19:38:15Z</dcterms:modified>
</cp:coreProperties>
</file>